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7" r:id="rId3"/>
    <p:sldId id="259" r:id="rId5"/>
    <p:sldId id="258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u Shu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E53C15F-68AD-4F57-903A-9EBFCE429A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66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1T03:50:05.180" idx="1">
    <p:pos x="518" y="1440"/>
    <p:text>Create manuscripts and practice, do not use uhmm
don't go back and force, make the explanation simple.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01T02:49:29.949" idx="2">
    <p:pos x="345" y="489"/>
    <p:text>add "why need LLM for annotation." ML approach---&gt; training data to train--&gt; human expert create data and guidelines --&gt; time consuming and costly, no enough experts --&gt; directly use LLM replace human annotator --&gt; no longer need ML approach --&gt; current improvement marginal --&gt;  optimization.
What is marginal? compared with ?</p:text>
  </p:cm>
  <p:cm authorId="1" dt="2026-09-01T03:09:07.099" idx="3">
    <p:pos x="345" y="288"/>
    <p:text>modify this one to explain BG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 panose="020B0604020202020204"/>
              <a:buNone/>
            </a:pPr>
            <a:r>
              <a:rPr lang="en-US" sz="3400" b="1" i="0" u="none" strike="noStrike" cap="none">
                <a:solidFill>
                  <a:srgbClr val="1A1A1A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Optimizing Annotation Guideline Refinements</a:t>
            </a:r>
            <a:endParaRPr sz="3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 panose="020B0604020202020204"/>
              <a:buNone/>
            </a:pPr>
            <a:r>
              <a:rPr lang="en-US" sz="3400" b="1" i="0" u="none" strike="noStrike" cap="none">
                <a:solidFill>
                  <a:srgbClr val="1A1A1A"/>
                </a:solidFill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for LLM-Based Annotation</a:t>
            </a:r>
            <a:endParaRPr sz="3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43611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rgbClr val="1A1A1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Hengyu Zhou</a:t>
            </a:r>
            <a:endParaRPr lang="en-US" sz="2400" b="0" i="0" u="none" strike="noStrike" cap="none">
              <a:solidFill>
                <a:srgbClr val="1A1A1A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907415" y="39954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Arial" panose="020B0604020202020204"/>
              <a:buNone/>
            </a:pPr>
            <a:r>
              <a:rPr lang="en-US" sz="2400" b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[Supervisor: Prof. Susumu Goto]</a:t>
            </a:r>
            <a:endParaRPr lang="en-US" sz="2400" b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· INTRODUCTION</a:t>
            </a:r>
            <a:endParaRPr 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 panose="020B0604020202020204"/>
              <a:buNone/>
            </a:pPr>
            <a:r>
              <a:rPr lang="en-US" sz="3200" b="1">
                <a:solidFill>
                  <a:srgbClr val="1A1A1A"/>
                </a:solidFill>
              </a:rPr>
              <a:t>Why we need LLM for biomedical </a:t>
            </a:r>
            <a:r>
              <a:rPr lang="en-US" sz="3200" b="1">
                <a:solidFill>
                  <a:srgbClr val="1A1A1A"/>
                </a:solidFill>
                <a:sym typeface="+mn-ea"/>
              </a:rPr>
              <a:t>annotation</a:t>
            </a:r>
            <a:r>
              <a:rPr lang="en-US" sz="3200" b="1">
                <a:solidFill>
                  <a:srgbClr val="1A1A1A"/>
                </a:solidFill>
              </a:rPr>
              <a:t>?</a:t>
            </a:r>
            <a:endParaRPr lang="en-US" sz="3200" b="1" i="0" u="none" strike="noStrike" cap="non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Traditional ML annotation(i.e. BioBERT): supervised fine-tuning is needed to learn dataset conventions to adapt to the annotation objective.</a:t>
            </a: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NCBI Disease: </a:t>
            </a:r>
            <a:r>
              <a:rPr lang="en-US" altLang="en-US" sz="24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593</a:t>
            </a: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gold-annotated documents required</a:t>
            </a: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An LLM has another path: learn dataset conventions through dataset’s </a:t>
            </a:r>
            <a:r>
              <a:rPr lang="en-US" altLang="en-US" sz="24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in-context guidelines</a:t>
            </a: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.</a:t>
            </a: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This bypasses the need to produce large-scale gold data first.</a:t>
            </a: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→ But is the guidelines alone enough to capture enough convention?</a:t>
            </a: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342900" marR="0" lvl="0" indent="-34290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→ The answer is no, many conventions live only in the gold-labeled data.</a:t>
            </a:r>
            <a:endParaRPr lang="en-US" altLang="en-US" sz="240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 panose="020B0604020202020204" pitchFamily="34" charset="0"/>
              <a:buNone/>
            </a:pPr>
            <a:endParaRPr lang="en-US" altLang="en-US" sz="2400" b="0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· INTRODUCTION</a:t>
            </a:r>
            <a:endParaRPr 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 panose="020B0604020202020204"/>
              <a:buNone/>
            </a:pPr>
            <a:r>
              <a:rPr lang="en-US" sz="3200" b="1">
                <a:solidFill>
                  <a:srgbClr val="1A1A1A"/>
                </a:solidFill>
              </a:rPr>
              <a:t>Prior work: </a:t>
            </a:r>
            <a:r>
              <a:rPr lang="en-US" altLang="en-US" sz="3200" b="1">
                <a:solidFill>
                  <a:srgbClr val="1A1A1A"/>
                </a:solidFill>
              </a:rPr>
              <a:t>iterative guideline refinement</a:t>
            </a:r>
            <a:endParaRPr lang="en-US" altLang="en-US" sz="3200" b="1">
              <a:solidFill>
                <a:srgbClr val="1A1A1A"/>
              </a:solidFill>
            </a:endParaRPr>
          </a:p>
        </p:txBody>
      </p:sp>
      <p:pic>
        <p:nvPicPr>
          <p:cNvPr id="3" name="Picture 2" descr="framework_figur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6815" y="1430655"/>
            <a:ext cx="8291830" cy="46837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70205" y="1600200"/>
            <a:ext cx="3795395" cy="4478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ym typeface="+mn-ea"/>
              </a:rPr>
              <a:t>iteratively extract conventions from gold data, then enrich the guidelines.</a:t>
            </a:r>
            <a:endParaRPr lang="en-US" sz="240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sym typeface="+mn-ea"/>
            </a:endParaRPr>
          </a:p>
          <a:p>
            <a:pPr marL="285750" indent="-28575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LLM annotates with guidelines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   check discrepancies</a:t>
            </a:r>
            <a:endParaRPr lang="en-US" sz="2400"/>
          </a:p>
          <a:p>
            <a:pPr indent="0" fontAlgn="auto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/>
              <a:t>   with gold annotation.</a:t>
            </a:r>
            <a:endParaRPr lang="en-US" sz="2400"/>
          </a:p>
          <a:p>
            <a:pPr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400"/>
              <a:t>   discrepancy cause</a:t>
            </a:r>
            <a:endParaRPr lang="en-US" sz="2400"/>
          </a:p>
          <a:p>
            <a:pPr indent="0" fontAlgn="auto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/>
              <a:t>   inferred.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   guideline refined</a:t>
            </a:r>
            <a:endParaRPr lang="en-US"/>
          </a:p>
          <a:p>
            <a:pPr indent="0">
              <a:buFont typeface="Arial" panose="020B0604020202020204" pitchFamily="34" charset="0"/>
              <a:buNone/>
            </a:pPr>
            <a:endParaRPr lang="en-US"/>
          </a:p>
          <a:p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55905" y="4556760"/>
            <a:ext cx="288290" cy="1416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55905" y="5296535"/>
            <a:ext cx="288290" cy="1416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60350" y="5936615"/>
            <a:ext cx="288290" cy="1416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 Box 16"/>
          <p:cNvSpPr txBox="1"/>
          <p:nvPr/>
        </p:nvSpPr>
        <p:spPr>
          <a:xfrm>
            <a:off x="548640" y="1489075"/>
            <a:ext cx="1021016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No guideline</a:t>
            </a:r>
            <a:r>
              <a:rPr lang="en-US" sz="2400"/>
              <a:t>: </a:t>
            </a:r>
            <a:r>
              <a:rPr sz="2400"/>
              <a:t>0.46</a:t>
            </a:r>
            <a:r>
              <a:rPr lang="en-US" sz="2400"/>
              <a:t>      initial </a:t>
            </a:r>
            <a:r>
              <a:rPr sz="2400"/>
              <a:t>guideline</a:t>
            </a:r>
            <a:r>
              <a:rPr lang="en-US" sz="2400"/>
              <a:t>:</a:t>
            </a:r>
            <a:r>
              <a:rPr sz="2400"/>
              <a:t> 0.73</a:t>
            </a:r>
            <a:r>
              <a:rPr lang="en-US" sz="2400"/>
              <a:t>      </a:t>
            </a:r>
            <a:r>
              <a:rPr sz="2400"/>
              <a:t>refin</a:t>
            </a:r>
            <a:r>
              <a:rPr lang="en-US" sz="2400"/>
              <a:t>ed guideline: </a:t>
            </a:r>
            <a:r>
              <a:rPr sz="2400"/>
              <a:t>0.76</a:t>
            </a:r>
            <a:endParaRPr sz="2400"/>
          </a:p>
        </p:txBody>
      </p:sp>
      <p:sp>
        <p:nvSpPr>
          <p:cNvPr id="18" name="Right Arrow 17"/>
          <p:cNvSpPr/>
          <p:nvPr/>
        </p:nvSpPr>
        <p:spPr>
          <a:xfrm>
            <a:off x="3192145" y="1642745"/>
            <a:ext cx="288290" cy="1416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6519545" y="1659890"/>
            <a:ext cx="288290" cy="1416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2835910" y="1860550"/>
            <a:ext cx="3204210" cy="256540"/>
          </a:xfrm>
          <a:custGeom>
            <a:avLst/>
            <a:gdLst>
              <a:gd name="connisteX0" fmla="*/ 0 w 2748280"/>
              <a:gd name="connsiteY0" fmla="*/ 0 h 256546"/>
              <a:gd name="connisteX1" fmla="*/ 1365885 w 2748280"/>
              <a:gd name="connsiteY1" fmla="*/ 256540 h 256546"/>
              <a:gd name="connisteX2" fmla="*/ 2748280 w 2748280"/>
              <a:gd name="connsiteY2" fmla="*/ 5715 h 2565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748280" h="256546">
                <a:moveTo>
                  <a:pt x="0" y="0"/>
                </a:moveTo>
                <a:cubicBezTo>
                  <a:pt x="245745" y="56515"/>
                  <a:pt x="815975" y="255270"/>
                  <a:pt x="1365885" y="256540"/>
                </a:cubicBezTo>
                <a:cubicBezTo>
                  <a:pt x="1915795" y="257810"/>
                  <a:pt x="2499360" y="60960"/>
                  <a:pt x="2748280" y="571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6140450" y="1860550"/>
            <a:ext cx="3355975" cy="287655"/>
          </a:xfrm>
          <a:custGeom>
            <a:avLst/>
            <a:gdLst>
              <a:gd name="connisteX0" fmla="*/ 0 w 2748280"/>
              <a:gd name="connsiteY0" fmla="*/ 0 h 256546"/>
              <a:gd name="connisteX1" fmla="*/ 1365885 w 2748280"/>
              <a:gd name="connsiteY1" fmla="*/ 256540 h 256546"/>
              <a:gd name="connisteX2" fmla="*/ 2748280 w 2748280"/>
              <a:gd name="connsiteY2" fmla="*/ 5715 h 2565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748280" h="256546">
                <a:moveTo>
                  <a:pt x="0" y="0"/>
                </a:moveTo>
                <a:cubicBezTo>
                  <a:pt x="245745" y="56515"/>
                  <a:pt x="815975" y="255270"/>
                  <a:pt x="1365885" y="256540"/>
                </a:cubicBezTo>
                <a:cubicBezTo>
                  <a:pt x="1915795" y="257810"/>
                  <a:pt x="2499360" y="60960"/>
                  <a:pt x="2748280" y="571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3916680" y="2117090"/>
            <a:ext cx="104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+0.27</a:t>
            </a:r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7297420" y="2207260"/>
            <a:ext cx="104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+0.03</a:t>
            </a:r>
            <a:endParaRPr lang="en-US"/>
          </a:p>
        </p:txBody>
      </p:sp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·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OBSERVATIONS</a:t>
            </a:r>
            <a:endParaRPr lang="en-US" alt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 panose="020B0604020202020204"/>
              <a:buNone/>
            </a:pPr>
            <a:r>
              <a:rPr lang="en-US" altLang="en-US" sz="3200" b="1">
                <a:solidFill>
                  <a:srgbClr val="1A1A1A"/>
                </a:solidFill>
              </a:rPr>
              <a:t>Why does refinement contribute so little?</a:t>
            </a:r>
            <a:endParaRPr lang="en-US" altLang="en-US" sz="3200" b="1">
              <a:solidFill>
                <a:srgbClr val="1A1A1A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9275" y="2634615"/>
            <a:ext cx="11447145" cy="384429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sz="2400"/>
              <a:t>We examined the implementation stage by stage</a:t>
            </a:r>
            <a:endParaRPr sz="24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sz="2400"/>
              <a:t>Found </a:t>
            </a:r>
            <a:r>
              <a:rPr lang="en-US" sz="2400"/>
              <a:t>6 </a:t>
            </a:r>
            <a:r>
              <a:rPr sz="2400"/>
              <a:t>points limiting the gain</a:t>
            </a:r>
            <a:endParaRPr sz="24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Grouped into three axes:</a:t>
            </a:r>
            <a:endParaRPr lang="en-US" altLang="en-US" sz="24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1"/>
                </a:solidFill>
              </a:rPr>
              <a:t>Extraction: </a:t>
            </a:r>
            <a:r>
              <a:rPr lang="en-US" altLang="en-US" sz="2400"/>
              <a:t>Is the LLM making full use of the data in the dev set?</a:t>
            </a:r>
            <a:endParaRPr lang="en-US" altLang="en-US" sz="24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1"/>
                </a:solidFill>
              </a:rPr>
              <a:t>Generalization: </a:t>
            </a:r>
            <a:r>
              <a:rPr lang="en-US" altLang="en-US" sz="2400"/>
              <a:t>Does the LLM performance gain on dev set generalize to validation? </a:t>
            </a:r>
            <a:endParaRPr lang="en-US" altLang="en-US" sz="24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accent1"/>
                </a:solidFill>
              </a:rPr>
              <a:t>Reliability: </a:t>
            </a:r>
            <a:r>
              <a:rPr lang="en-US" altLang="en-US" sz="2400"/>
              <a:t>How stable is one annotation?</a:t>
            </a:r>
            <a:endParaRPr lang="en-US" altLang="en-US" sz="2400"/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We selected 1 point from each axis </a:t>
            </a:r>
            <a:r>
              <a:rPr lang="en-US" altLang="en-US" sz="2400"/>
              <a:t>to explore.</a:t>
            </a: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 · METHODOLOGY &amp;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lang="en-US" alt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8640" y="988060"/>
            <a:ext cx="1119695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chemeClr val="accent1"/>
                </a:solidFill>
                <a:sym typeface="+mn-ea"/>
              </a:rPr>
              <a:t>Extraction: </a:t>
            </a:r>
            <a:r>
              <a:rPr lang="en-US" altLang="en-US" sz="2800">
                <a:sym typeface="+mn-ea"/>
              </a:rPr>
              <a:t>Is the LLM making full use of the data in the dev set?</a:t>
            </a:r>
            <a:endParaRPr lang="en-US" altLang="en-US" sz="2800">
              <a:sym typeface="+mn-ea"/>
            </a:endParaRPr>
          </a:p>
        </p:txBody>
      </p:sp>
      <p:pic>
        <p:nvPicPr>
          <p:cNvPr id="3" name="Picture 2" descr="discrepancy_matrice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385" y="1650365"/>
            <a:ext cx="10075545" cy="19202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94385" y="3735705"/>
            <a:ext cx="100761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 2. </a:t>
            </a:r>
            <a:r>
              <a:rPr lang="en-US" alt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Confusion matrices over moderation iterations. C = CompositeMention, D = DiseaseClass, M = Modifier, S = SpecificDisease, O = No Entity</a:t>
            </a: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1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8640" y="4398010"/>
            <a:ext cx="11063605" cy="19183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/>
              <a:t>Problem:</a:t>
            </a:r>
            <a:r>
              <a:rPr lang="en-US" altLang="en-US" sz="1800"/>
              <a:t> One group is moderated per round, so each repair causes errors elsewhere </a:t>
            </a:r>
            <a:r>
              <a:rPr lang="en-US" altLang="en-US" sz="1800">
                <a:solidFill>
                  <a:srgbClr val="FF0000"/>
                </a:solidFill>
              </a:rPr>
              <a:t>(Side Effects)</a:t>
            </a:r>
            <a:r>
              <a:rPr lang="en-US" altLang="en-US" sz="1800"/>
              <a:t>.</a:t>
            </a:r>
            <a:endParaRPr lang="en-US" altLang="en-US" sz="1800"/>
          </a:p>
          <a:p>
            <a:pPr marL="342900" indent="-34290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/>
              <a:t>Example:</a:t>
            </a:r>
            <a:r>
              <a:rPr lang="en-US" altLang="en-US" sz="1800"/>
              <a:t> Round 1 fixes 'gold SpecificDisease → DiseaseClass' (6 → 2), but adds new 'missed </a:t>
            </a:r>
            <a:r>
              <a:rPr lang="en-US" altLang="en-US">
                <a:sym typeface="+mn-ea"/>
              </a:rPr>
              <a:t>DiseaseClass' </a:t>
            </a:r>
            <a:r>
              <a:rPr lang="en-US" altLang="en-US" sz="1800"/>
              <a:t>and 'SpecificDisease boundary' errors; Round 2 halves those, but pushes the original target back up to 3.</a:t>
            </a:r>
            <a:endParaRPr lang="en-US" altLang="en-US" sz="1800"/>
          </a:p>
          <a:p>
            <a:pPr marL="342900" indent="-34290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/>
              <a:t>How to solve it:</a:t>
            </a:r>
            <a:r>
              <a:rPr lang="en-US" altLang="en-US" sz="1800"/>
              <a:t> Target several groups within one round instead of one at a time, checking each round against more than one error cluster, then integrate them into guideline with conflict check.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3.1 · METHODOLOGY &amp;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lang="en-US" alt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8640" y="988060"/>
            <a:ext cx="1119695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chemeClr val="accent1"/>
                </a:solidFill>
                <a:sym typeface="+mn-ea"/>
              </a:rPr>
              <a:t>Extraction: </a:t>
            </a:r>
            <a:r>
              <a:rPr lang="en-US" altLang="en-US" sz="2800">
                <a:sym typeface="+mn-ea"/>
              </a:rPr>
              <a:t>Is the LLM making full use of the data in the dev set?</a:t>
            </a:r>
            <a:endParaRPr lang="en-US" altLang="en-US" sz="28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94385" y="4835525"/>
            <a:ext cx="100761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Figure 3. </a:t>
            </a:r>
            <a:r>
              <a:rPr lang="en-US" alt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Confusion matrices over </a:t>
            </a:r>
            <a:r>
              <a:rPr lang="en-US" alt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top-4 moderation iterations. C = CompositeMention, D = DiseaseClass, M = Modifier, S = SpecificDisease, O = No Entity</a:t>
            </a:r>
            <a:r>
              <a:rPr lang="en-US" sz="16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1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8640" y="1765300"/>
            <a:ext cx="1106487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/>
              <a:t>Current improvements:</a:t>
            </a:r>
            <a:r>
              <a:rPr sz="2000"/>
              <a:t> </a:t>
            </a:r>
            <a:r>
              <a:rPr lang="en-US" altLang="en-US" sz="2000">
                <a:sym typeface="+mn-ea"/>
              </a:rPr>
              <a:t>Targeting 4 largest clusters within one round is</a:t>
            </a:r>
            <a:r>
              <a:rPr sz="2000"/>
              <a:t> tested</a:t>
            </a:r>
            <a:r>
              <a:rPr lang="en-US" sz="2000"/>
              <a:t> </a:t>
            </a:r>
            <a:r>
              <a:rPr lang="en-US" sz="2000" b="1"/>
              <a:t>(top-4)</a:t>
            </a:r>
            <a:r>
              <a:rPr lang="en-US" sz="2000"/>
              <a:t>, this didn’t prevent </a:t>
            </a:r>
            <a:r>
              <a:rPr lang="en-US" sz="2000">
                <a:solidFill>
                  <a:srgbClr val="FF0000"/>
                </a:solidFill>
              </a:rPr>
              <a:t>Side Effects</a:t>
            </a:r>
            <a:r>
              <a:rPr lang="en-US" sz="2000"/>
              <a:t> else where</a:t>
            </a:r>
            <a:r>
              <a:rPr sz="2000"/>
              <a:t> (e.g. S→D confusion: 4→6) while the total fell; </a:t>
            </a:r>
            <a:r>
              <a:rPr lang="en-US" sz="2000"/>
              <a:t>but reached the threshold faster: </a:t>
            </a:r>
            <a:r>
              <a:rPr sz="2000"/>
              <a:t>converged in 2 rounds vs. 4 for the baseline</a:t>
            </a:r>
            <a:endParaRPr sz="20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15052"/>
          <a:stretch>
            <a:fillRect/>
          </a:stretch>
        </p:blipFill>
        <p:spPr>
          <a:xfrm>
            <a:off x="2300605" y="2780030"/>
            <a:ext cx="7063740" cy="19335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48640" y="5640705"/>
            <a:ext cx="8142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i="1"/>
              <a:t>Need to explore another way to control Side Effects. </a:t>
            </a:r>
            <a:endParaRPr lang="en-US" sz="20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3.2 · METHODOLOGY &amp;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lang="en-US" alt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8640" y="950595"/>
            <a:ext cx="11209655" cy="1038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chemeClr val="accent1"/>
                </a:solidFill>
                <a:sym typeface="+mn-ea"/>
              </a:rPr>
              <a:t>Generalization: </a:t>
            </a:r>
            <a:r>
              <a:rPr lang="en-US" altLang="en-US" sz="2800">
                <a:sym typeface="+mn-ea"/>
              </a:rPr>
              <a:t>Does the LLM performance gain on dev set generalize to val set? </a:t>
            </a:r>
            <a:endParaRPr lang="en-US" altLang="en-US" sz="28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8640" y="2162810"/>
            <a:ext cx="9316085" cy="19183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b="1"/>
              <a:t>Problem:</a:t>
            </a:r>
            <a:r>
              <a:t> Verified examples, meant only to prevent regression, are copied verbatim into the guideline instead (hard coding)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b="1"/>
              <a:t>Example:</a:t>
            </a:r>
            <a:r>
              <a:rPr lang="en-US" altLang="en-US"/>
              <a:t> 38 of 52 (Copied Share) new lines in round 1 trace directly back to the five verified example documents</a:t>
            </a:r>
            <a:endParaRPr lang="en-US" altLang="en-US"/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b="1"/>
              <a:t>How to solve it:</a:t>
            </a:r>
            <a:r>
              <a:rPr lang="en-US" altLang="en-US"/>
              <a:t> Tested two interventions: remove the verified examples; or keep them but require every rule to be stated in abstract terms</a:t>
            </a:r>
            <a:endParaRPr lang="en-US" altLang="en-US"/>
          </a:p>
        </p:txBody>
      </p:sp>
      <p:graphicFrame>
        <p:nvGraphicFramePr>
          <p:cNvPr id="80" name="Google Shape;80;p8"/>
          <p:cNvGraphicFramePr/>
          <p:nvPr/>
        </p:nvGraphicFramePr>
        <p:xfrm>
          <a:off x="1033780" y="4189095"/>
          <a:ext cx="9842500" cy="1346865"/>
        </p:xfrm>
        <a:graphic>
          <a:graphicData uri="http://schemas.openxmlformats.org/drawingml/2006/table">
            <a:tbl>
              <a:tblPr>
                <a:noFill/>
                <a:tableStyleId>{3E53C15F-68AD-4F57-903A-9EBFCE429A39}</a:tableStyleId>
              </a:tblPr>
              <a:tblGrid>
                <a:gridCol w="3456940"/>
                <a:gridCol w="2330435"/>
                <a:gridCol w="1647190"/>
                <a:gridCol w="1193800"/>
                <a:gridCol w="1214120"/>
              </a:tblGrid>
              <a:tr h="262890"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Condition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Development F1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Threshold reached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Validation F1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Copied Share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Verified examples supplied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0.797 ± 0.015 → 0.909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Yes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0.779→0.789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38/52 = 73%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Verified examples removed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0.797 ± 0.015 → 0.837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0.779→0.771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0/32 = 0%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3. Verified examples supplied, </a:t>
                      </a:r>
                      <a:r>
                        <a:rPr lang="en-US" alt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forbidding copying</a:t>
                      </a:r>
                      <a:endParaRPr lang="en-US" altLang="en-US"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0.823 ± 0.015 → 0.833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0.779→0.784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0/25 = 0%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548640" y="5728335"/>
            <a:ext cx="11304905" cy="70040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1"/>
              <a:t>Current improvements: </a:t>
            </a:r>
            <a:r>
              <a:rPr lang="en-US" altLang="en-US" sz="1800"/>
              <a:t>Both 2 and 3 stop the hard coding, but neither reaches the F1 ≥ 0.9 threshold; </a:t>
            </a:r>
            <a:endParaRPr lang="en-US" altLang="en-US" sz="1800"/>
          </a:p>
          <a:p>
            <a:pPr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en-US" sz="1800"/>
              <a:t>development gain (+0.112) does not transfer to validation (+0.010)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3.3 · METHODOLOGY &amp;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</a:t>
            </a:r>
            <a:r>
              <a:rPr lang="en-US" alt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RESULTS</a:t>
            </a:r>
            <a:endParaRPr lang="en-US" alt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8640" y="1704340"/>
            <a:ext cx="10998835" cy="466217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sz="1800" b="1"/>
              <a:t>Problem:</a:t>
            </a:r>
            <a:r>
              <a:rPr sz="1800"/>
              <a:t> Annotating the same documents twice does not give the same result</a:t>
            </a:r>
            <a:r>
              <a:rPr lang="en-US" sz="1800"/>
              <a:t>.</a:t>
            </a:r>
            <a:endParaRPr sz="1800"/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sz="1800" b="1"/>
              <a:t>Example:</a:t>
            </a:r>
            <a:r>
              <a:rPr sz="1800"/>
              <a:t> 20 repeated annotations of the same 10 documents range from F1 0.739 to 0.859 — noise larger than the refinement gain itself (+</a:t>
            </a:r>
            <a:r>
              <a:rPr lang="en-US" sz="1800"/>
              <a:t> 0.01</a:t>
            </a:r>
            <a:r>
              <a:rPr sz="1800"/>
              <a:t>)</a:t>
            </a:r>
            <a:r>
              <a:rPr lang="en-US" sz="1800"/>
              <a:t>.</a:t>
            </a:r>
            <a:endParaRPr sz="1800"/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sz="1800" b="1"/>
              <a:t>How to solve it:</a:t>
            </a:r>
            <a:r>
              <a:rPr sz="1800"/>
              <a:t> Average the noise down by enlarging the development set</a:t>
            </a:r>
            <a:r>
              <a:rPr lang="en-US" sz="1800"/>
              <a:t>.</a:t>
            </a:r>
            <a:endParaRPr sz="1800"/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sz="1800" b="1"/>
              <a:t>Current improvements:</a:t>
            </a:r>
            <a:r>
              <a:rPr sz="1800"/>
              <a:t> </a:t>
            </a:r>
            <a:r>
              <a:rPr lang="en-US" sz="1800"/>
              <a:t>Annotation d</a:t>
            </a:r>
            <a:r>
              <a:rPr sz="1800"/>
              <a:t>eviation falls from 0.0150 (10 docs) to 0.0092 (30 docs); running the loop on a larger, coverage-balanced set is under way</a:t>
            </a:r>
            <a:r>
              <a:rPr lang="en-US" sz="1800"/>
              <a:t>.</a:t>
            </a:r>
            <a:endParaRPr lang="en-US" sz="1800"/>
          </a:p>
        </p:txBody>
      </p:sp>
      <p:sp>
        <p:nvSpPr>
          <p:cNvPr id="3" name="Text Box 2"/>
          <p:cNvSpPr txBox="1"/>
          <p:nvPr/>
        </p:nvSpPr>
        <p:spPr>
          <a:xfrm>
            <a:off x="548640" y="981075"/>
            <a:ext cx="8289290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en-US" sz="2800">
                <a:solidFill>
                  <a:schemeClr val="accent1"/>
                </a:solidFill>
                <a:sym typeface="+mn-ea"/>
              </a:rPr>
              <a:t>Reliability: </a:t>
            </a:r>
            <a:r>
              <a:rPr lang="en-US" altLang="en-US" sz="2800">
                <a:sym typeface="+mn-ea"/>
              </a:rPr>
              <a:t>How stable is one annotation?</a:t>
            </a:r>
            <a:endParaRPr lang="en-US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Google Shape;23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 panose="020B0604020202020204"/>
              <a:buNone/>
            </a:pPr>
            <a:r>
              <a:rPr lang="en-US" sz="1600" b="1" i="0" u="none" strike="noStrike" cap="none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 · </a:t>
            </a:r>
            <a:r>
              <a:rPr lang="en-US" sz="1600" b="1">
                <a:solidFill>
                  <a:srgbClr val="6B6B6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DISCUSSION &amp; FUTURE WORK</a:t>
            </a:r>
            <a:endParaRPr lang="en-US" sz="1600" b="1" i="0" u="none" strike="noStrike" cap="none">
              <a:solidFill>
                <a:srgbClr val="6B6B6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8640" y="1206500"/>
            <a:ext cx="11064240" cy="92011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sz="2000"/>
              <a:t>Hard coding and reaching threshold share the same cause: the verified examples</a:t>
            </a:r>
            <a:r>
              <a:rPr lang="en-US" sz="2000"/>
              <a:t>, if they’re removed</a:t>
            </a:r>
            <a:r>
              <a:rPr sz="2000"/>
              <a:t>, </a:t>
            </a:r>
            <a:r>
              <a:rPr lang="en-US" altLang="en-US" sz="2000"/>
              <a:t>hard coding goes away, but so does the ability to reach threshold</a:t>
            </a:r>
            <a:r>
              <a:rPr lang="en-US" sz="2000"/>
              <a:t>.</a:t>
            </a:r>
            <a:endParaRPr lang="en-US" sz="200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sz="2000"/>
              <a:t>What's needed: a way to reach threshold reliably without hard coding</a:t>
            </a:r>
            <a:r>
              <a:rPr lang="en-US" sz="2000"/>
              <a:t>.</a:t>
            </a:r>
            <a:endParaRPr lang="en-US" sz="2000"/>
          </a:p>
          <a:p>
            <a:pPr indent="0">
              <a:buFont typeface="Arial" panose="020B0604020202020204" pitchFamily="34" charset="0"/>
              <a:buNone/>
            </a:pPr>
            <a:endParaRPr sz="1600"/>
          </a:p>
          <a:p>
            <a:endParaRPr lang="en-US" sz="1600"/>
          </a:p>
        </p:txBody>
      </p:sp>
      <p:graphicFrame>
        <p:nvGraphicFramePr>
          <p:cNvPr id="80" name="Google Shape;80;p8"/>
          <p:cNvGraphicFramePr/>
          <p:nvPr/>
        </p:nvGraphicFramePr>
        <p:xfrm>
          <a:off x="1174750" y="2635250"/>
          <a:ext cx="9842500" cy="1372900"/>
        </p:xfrm>
        <a:graphic>
          <a:graphicData uri="http://schemas.openxmlformats.org/drawingml/2006/table">
            <a:tbl>
              <a:tblPr>
                <a:noFill/>
                <a:tableStyleId>{3E53C15F-68AD-4F57-903A-9EBFCE429A39}</a:tableStyleId>
              </a:tblPr>
              <a:tblGrid>
                <a:gridCol w="3456940"/>
                <a:gridCol w="2330435"/>
                <a:gridCol w="1647190"/>
                <a:gridCol w="1193800"/>
                <a:gridCol w="1214120"/>
              </a:tblGrid>
              <a:tr h="288925"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Condition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Development F1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Threshold reached</a:t>
                      </a:r>
                      <a:endParaRPr lang="en-US" sz="1200" b="1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Validation F1</a:t>
                      </a:r>
                      <a:endParaRPr sz="12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Copied Share</a:t>
                      </a:r>
                      <a:endParaRPr lang="en-US" sz="1200" b="1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Verified examples supplied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0.797 ± 0.015 → 0.909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Yes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0.779→0.789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38/52 = 73%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Verified examples removed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0.797 ± 0.015 → 0.837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0.779→0.771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0/32 = 0%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325">
                <a:tc>
                  <a:txBody>
                    <a:bodyPr/>
                    <a:lstStyle/>
                    <a:p>
                      <a:pPr marL="8763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3. Verified examples supplied, </a:t>
                      </a:r>
                      <a:r>
                        <a:rPr lang="en-US" alt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forbidding copying</a:t>
                      </a:r>
                      <a:endParaRPr lang="en-US" altLang="en-US"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0.823 ± 0.015 → 0.833 ± 0.015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0.779→0.784</a:t>
                      </a:r>
                      <a:endParaRPr sz="1200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763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0/25 = 0%</a:t>
                      </a:r>
                      <a:endParaRPr lang="en-US" sz="1200" u="none" strike="noStrike" cap="none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548640" y="4288155"/>
            <a:ext cx="103244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 i="1">
                <a:sym typeface="+mn-ea"/>
              </a:rPr>
              <a:t>Next:</a:t>
            </a:r>
            <a:r>
              <a:rPr lang="en-US" altLang="en-US" sz="2000" i="1">
                <a:sym typeface="+mn-ea"/>
              </a:rPr>
              <a:t> finish scaling up the dev set (already under way), and look for that method</a:t>
            </a:r>
            <a:r>
              <a:rPr lang="en-US" sz="2000" i="1">
                <a:sym typeface="+mn-ea"/>
              </a:rPr>
              <a:t>.</a:t>
            </a:r>
            <a:endParaRPr lang="en-US" sz="2000" i="1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4881</Words>
  <Application>WPS 演示</Application>
  <PresentationFormat>Widescreen</PresentationFormat>
  <Paragraphs>184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Arial</vt:lpstr>
      <vt:lpstr>Calibri</vt:lpstr>
      <vt:lpstr>Times New Roman</vt:lpstr>
      <vt:lpstr>微软雅黑</vt:lpstr>
      <vt:lpstr>Arial Unicode MS</vt:lpstr>
      <vt:lpstr>等线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DBCLSguest</dc:creator>
  <cp:lastModifiedBy>zhyu</cp:lastModifiedBy>
  <cp:revision>23</cp:revision>
  <dcterms:created xsi:type="dcterms:W3CDTF">2026-09-02T08:03:00Z</dcterms:created>
  <dcterms:modified xsi:type="dcterms:W3CDTF">2026-09-02T23:09:20Z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4F7034DDC83644E69F5662174243A743_11</vt:lpwstr>
  </property>
</Properties>
</file>