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notesSlides/notesSlide23.xml" ContentType="application/vnd.openxmlformats-officedocument.presentationml.notes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3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 /><Relationship Id="rId32" Type="http://schemas.openxmlformats.org/officeDocument/2006/relationships/tableStyles" Target="tableStyles.xml" /><Relationship Id="rId33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Group / Cases</c:v>
                </c:pt>
              </c:strCache>
            </c:strRef>
          </c:tx>
          <c:spPr bwMode="auto">
            <a:prstGeom prst="rect">
              <a:avLst/>
            </a:prstGeom>
            <a:solidFill>
              <a:srgbClr val="005BAC"/>
            </a:solidFill>
            <a:effectLst/>
          </c:spPr>
          <c:invertIfNegative val="0"/>
          <c:dPt>
            <c:idx val="0"/>
            <c:invertIfNegative val="0"/>
            <c:bubble3D val="0"/>
            <c:spPr bwMode="auto">
              <a:prstGeom prst="rect">
                <a:avLst/>
              </a:prstGeom>
              <a:solidFill>
                <a:srgbClr val="005BAC"/>
              </a:solidFill>
              <a:effectLst/>
            </c:spPr>
          </c:dPt>
          <c:dPt>
            <c:idx val="1"/>
            <c:invertIfNegative val="0"/>
            <c:bubble3D val="0"/>
            <c:spPr bwMode="auto">
              <a:prstGeom prst="rect">
                <a:avLst/>
              </a:prstGeom>
              <a:solidFill>
                <a:srgbClr val="006FE3"/>
              </a:solidFill>
              <a:effectLst/>
            </c:spPr>
          </c:dPt>
          <c:dPt>
            <c:idx val="2"/>
            <c:invertIfNegative val="0"/>
            <c:bubble3D val="0"/>
            <c:spPr bwMode="auto">
              <a:prstGeom prst="rect">
                <a:avLst/>
              </a:prstGeom>
              <a:solidFill>
                <a:srgbClr val="2A90F5"/>
              </a:solidFill>
              <a:effectLst/>
            </c:spPr>
          </c:dPt>
          <c:dPt>
            <c:idx val="3"/>
            <c:invertIfNegative val="0"/>
            <c:bubble3D val="0"/>
            <c:spPr bwMode="auto">
              <a:prstGeom prst="rect">
                <a:avLst/>
              </a:prstGeom>
              <a:solidFill>
                <a:srgbClr val="47A3FF"/>
              </a:solidFill>
              <a:effectLst/>
            </c:spPr>
          </c:dPt>
          <c:dPt>
            <c:idx val="4"/>
            <c:invertIfNegative val="0"/>
            <c:bubble3D val="0"/>
            <c:spPr bwMode="auto">
              <a:prstGeom prst="rect">
                <a:avLst/>
              </a:prstGeom>
              <a:solidFill>
                <a:srgbClr val="75B7FF"/>
              </a:solidFill>
              <a:effectLst/>
            </c:spPr>
          </c:dPt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1100" b="0" i="0" u="none" strike="noStrike">
                    <a:solidFill>
                      <a:srgbClr val="2E3542"/>
                    </a:solidFill>
                    <a:latin typeface="Yu Gothic"/>
                  </a:defRPr>
                </a:pPr>
                <a:endParaRPr/>
              </a:p>
            </c:txPr>
          </c:dLbls>
          <c:cat>
            <c:multiLvlStrRef>
              <c:f>Sheet1!$A$2:$A$6</c:f>
              <c:multiLvlStrCache>
                <c:ptCount val="5"/>
                <c:lvl>
                  <c:pt idx="0">
                    <c:v>#1  Gold: DiseaseClass vs model:
No Entity (missed)</c:v>
                  </c:pt>
                  <c:pt idx="1">
                    <c:v>#2  Gold: SpecificDisease vs model:
DiseaseClass (label mismatch)</c:v>
                  </c:pt>
                  <c:pt idx="2">
                    <c:v>#3  Gold: SpecificDisease vs model:
No Entity (missed)</c:v>
                  </c:pt>
                  <c:pt idx="3">
                    <c:v>#4  Gold: SpecificDisease vs model:
Modifier (label mismatch)</c:v>
                  </c:pt>
                  <c:pt idx="4">
                    <c:v>#5  Gold: SpecificDisease vs model:
SpecificDisease (boundary error)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1100" b="0" i="0" u="none" strike="noStrike">
                  <a:solidFill>
                    <a:srgbClr val="2E3542"/>
                  </a:solidFill>
                  <a:latin typeface="Yu Gothic"/>
                </a:defRPr>
              </a:pPr>
              <a:endParaRPr/>
            </a:p>
          </c:txPr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E3542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 bwMode="auto">
          <a:prstGeom prst="rect">
            <a:avLst/>
          </a:prstGeom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E3542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731520" y="1188720"/>
      <a:ext cx="7680960" cy="3108960"/>
    </a:xfrm>
    <a:prstGeom prst="rect">
      <a:avLst/>
    </a:prstGeom>
    <a:noFill/>
    <a:ln>
      <a:noFill/>
    </a:ln>
    <a:effectLst/>
  </c:sp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Type / Count</c:v>
                </c:pt>
              </c:strCache>
            </c:strRef>
          </c:tx>
          <c:spPr bwMode="auto">
            <a:prstGeom prst="rect">
              <a:avLst/>
            </a:prstGeom>
            <a:solidFill>
              <a:srgbClr val="005BAC"/>
            </a:solidFill>
            <a:effectLst/>
          </c:spPr>
          <c:invertIfNegative val="0"/>
          <c:dPt>
            <c:idx val="0"/>
            <c:invertIfNegative val="0"/>
            <c:bubble3D val="0"/>
            <c:spPr bwMode="auto">
              <a:prstGeom prst="rect">
                <a:avLst/>
              </a:prstGeom>
              <a:solidFill>
                <a:srgbClr val="005BAC"/>
              </a:solidFill>
              <a:effectLst/>
            </c:spPr>
          </c:dPt>
          <c:dPt>
            <c:idx val="1"/>
            <c:invertIfNegative val="0"/>
            <c:bubble3D val="0"/>
            <c:spPr bwMode="auto">
              <a:prstGeom prst="rect">
                <a:avLst/>
              </a:prstGeom>
              <a:solidFill>
                <a:srgbClr val="006FE3"/>
              </a:solidFill>
              <a:effectLst/>
            </c:spPr>
          </c:dPt>
          <c:dPt>
            <c:idx val="2"/>
            <c:invertIfNegative val="0"/>
            <c:bubble3D val="0"/>
            <c:spPr bwMode="auto">
              <a:prstGeom prst="rect">
                <a:avLst/>
              </a:prstGeom>
              <a:solidFill>
                <a:srgbClr val="2A90F5"/>
              </a:solidFill>
              <a:effectLst/>
            </c:spPr>
          </c:dPt>
          <c:dPt>
            <c:idx val="3"/>
            <c:invertIfNegative val="0"/>
            <c:bubble3D val="0"/>
            <c:spPr bwMode="auto">
              <a:prstGeom prst="rect">
                <a:avLst/>
              </a:prstGeom>
              <a:solidFill>
                <a:srgbClr val="47A3FF"/>
              </a:solidFill>
              <a:effectLst/>
            </c:spPr>
          </c:dPt>
          <c:dPt>
            <c:idx val="4"/>
            <c:invertIfNegative val="0"/>
            <c:bubble3D val="0"/>
            <c:spPr bwMode="auto">
              <a:prstGeom prst="rect">
                <a:avLst/>
              </a:prstGeom>
              <a:solidFill>
                <a:srgbClr val="75B7FF"/>
              </a:solidFill>
              <a:effectLst/>
            </c:spPr>
          </c:dPt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1100" b="0" i="0" u="none" strike="noStrike">
                    <a:solidFill>
                      <a:srgbClr val="2E3542"/>
                    </a:solidFill>
                    <a:latin typeface="Yu Gothic"/>
                  </a:defRPr>
                </a:pPr>
                <a:endParaRPr/>
              </a:p>
            </c:txPr>
          </c:dLbls>
          <c:cat>
            <c:multiLvlStrRef>
              <c:f>Sheet1!$A$2:$A$6</c:f>
              <c:multiLvlStrCache>
                <c:ptCount val="5"/>
                <c:lvl>
                  <c:pt idx="0">
                    <c:v>#1  Gold: SpecificDisease vs model:
No Entity (missed)</c:v>
                  </c:pt>
                  <c:pt idx="1">
                    <c:v>#2  Gold: DiseaseClass vs model:
No Entity (missed)</c:v>
                  </c:pt>
                  <c:pt idx="2">
                    <c:v>#3  Gold: SpecificDisease vs model:
DiseaseClass (label mismatch)</c:v>
                  </c:pt>
                  <c:pt idx="3">
                    <c:v>#4  Gold: SpecificDisease vs model:
Modifier (label mismatch)</c:v>
                  </c:pt>
                  <c:pt idx="4">
                    <c:v>#5  Gold: SpecificDisease vs model:
SpecificDisease (boundary error)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1100" b="0" i="0" u="none" strike="noStrike">
                  <a:solidFill>
                    <a:srgbClr val="2E3542"/>
                  </a:solidFill>
                  <a:latin typeface="Yu Gothic"/>
                </a:defRPr>
              </a:pPr>
              <a:endParaRPr/>
            </a:p>
          </c:txPr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E3542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 bwMode="auto">
          <a:prstGeom prst="rect">
            <a:avLst/>
          </a:prstGeom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E3542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731520" y="1188720"/>
      <a:ext cx="7680960" cy="3108960"/>
    </a:xfrm>
    <a:prstGeom prst="rect">
      <a:avLst/>
    </a:prstGeom>
    <a:noFill/>
    <a:ln>
      <a:noFill/>
    </a:ln>
    <a:effectLst/>
  </c:spPr>
  <c:externalData r:id="rId1">
    <c:autoUpdate val="1"/>
  </c:externalData>
</c:chartSpace>
</file>

<file path=ppt/embeddings/_rels/Microsoft_Excel_Worksheet1.xlsx.rels><?xml version="1.0" encoding="UTF-8" standalone="yes"?><Relationships xmlns="http://schemas.openxmlformats.org/package/2006/relationships"></Relationships>
</file>

<file path=ppt/embeddings/_rels/Microsoft_Excel_Worksheet2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65036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6805658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25156832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2711612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5740713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444281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788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13260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21971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5740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2887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2013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2373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3254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38856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2102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54663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2229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407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90813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91136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2394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3565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92859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093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1894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3366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0533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7394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3479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2897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47791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77236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900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3745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0865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5706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27990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9311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845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81698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9299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9471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6668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43767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2147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99627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73515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54459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55910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8200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153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6965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80338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40181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56759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0776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892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30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45729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7416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6591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7184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92963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51723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62490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6842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8937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89802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96048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5011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9968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857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4460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2227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4677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3262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842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3682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6896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79094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21143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525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41256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78976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5360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414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2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094365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809517852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1 / 29</a:t>
            </a:r>
            <a:endParaRPr lang="en-US" sz="950"/>
          </a:p>
        </p:txBody>
      </p:sp>
      <p:sp>
        <p:nvSpPr>
          <p:cNvPr id="1460271668" name="Shape 2"/>
          <p:cNvSpPr/>
          <p:nvPr/>
        </p:nvSpPr>
        <p:spPr bwMode="auto">
          <a:xfrm>
            <a:off x="731520" y="630936"/>
            <a:ext cx="493776" cy="77724"/>
          </a:xfrm>
          <a:prstGeom prst="rect">
            <a:avLst/>
          </a:prstGeom>
          <a:solidFill>
            <a:srgbClr val="00529B"/>
          </a:solidFill>
          <a:ln w="12700">
            <a:solidFill>
              <a:srgbClr val="00529B"/>
            </a:solidFill>
            <a:prstDash val="solid"/>
          </a:ln>
        </p:spPr>
      </p:sp>
      <p:sp>
        <p:nvSpPr>
          <p:cNvPr id="707766672" name="Shape 3"/>
          <p:cNvSpPr/>
          <p:nvPr/>
        </p:nvSpPr>
        <p:spPr bwMode="auto">
          <a:xfrm>
            <a:off x="1307592" y="630936"/>
            <a:ext cx="228600" cy="77724"/>
          </a:xfrm>
          <a:prstGeom prst="rect">
            <a:avLst/>
          </a:prstGeom>
          <a:solidFill>
            <a:srgbClr val="D8AD27"/>
          </a:solidFill>
          <a:ln w="12700">
            <a:solidFill>
              <a:srgbClr val="D8AD27"/>
            </a:solidFill>
            <a:prstDash val="solid"/>
          </a:ln>
        </p:spPr>
      </p:sp>
      <p:pic>
        <p:nvPicPr>
          <p:cNvPr id="2051637038" name="Image 0" descr="Case study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46136" y="722376"/>
            <a:ext cx="384048" cy="384048"/>
          </a:xfrm>
          <a:prstGeom prst="rect">
            <a:avLst/>
          </a:prstGeom>
        </p:spPr>
      </p:pic>
      <p:sp>
        <p:nvSpPr>
          <p:cNvPr id="1809534810" name="Text 4"/>
          <p:cNvSpPr/>
          <p:nvPr/>
        </p:nvSpPr>
        <p:spPr bwMode="auto">
          <a:xfrm>
            <a:off x="731520" y="1005840"/>
            <a:ext cx="7680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200" b="1" spc="140">
                <a:solidFill>
                  <a:srgbClr val="647386"/>
                </a:solidFill>
                <a:latin typeface="Arial"/>
                <a:ea typeface="Arial"/>
                <a:cs typeface="Arial"/>
              </a:rPr>
              <a:t>A FAILURE ANALYSIS OF ITERATIVE GUIDELINE REFINEMENT</a:t>
            </a:r>
            <a:endParaRPr lang="en-US" sz="1200"/>
          </a:p>
        </p:txBody>
      </p:sp>
      <p:sp>
        <p:nvSpPr>
          <p:cNvPr id="188471945" name="Text 5"/>
          <p:cNvSpPr/>
          <p:nvPr/>
        </p:nvSpPr>
        <p:spPr bwMode="auto">
          <a:xfrm>
            <a:off x="731520" y="16459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400"/>
              </a:lnSpc>
              <a:buNone/>
              <a:defRPr/>
            </a:pPr>
            <a:r>
              <a:rPr lang="en-US" sz="38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3800"/>
          </a:p>
        </p:txBody>
      </p:sp>
      <p:sp>
        <p:nvSpPr>
          <p:cNvPr id="1551111822" name="Text 6"/>
          <p:cNvSpPr/>
          <p:nvPr/>
        </p:nvSpPr>
        <p:spPr bwMode="auto">
          <a:xfrm>
            <a:off x="731520" y="317296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800">
                <a:solidFill>
                  <a:srgbClr val="647386"/>
                </a:solidFill>
                <a:latin typeface="Arial"/>
                <a:ea typeface="Arial"/>
                <a:cs typeface="Arial"/>
              </a:rPr>
              <a:t>Two moderation rounds on NCBI Disease · GPT-5.4</a:t>
            </a:r>
            <a:endParaRPr lang="en-US" sz="1800"/>
          </a:p>
        </p:txBody>
      </p:sp>
      <p:sp>
        <p:nvSpPr>
          <p:cNvPr id="1045982755" name="Text 7"/>
          <p:cNvSpPr/>
          <p:nvPr/>
        </p:nvSpPr>
        <p:spPr bwMode="auto">
          <a:xfrm>
            <a:off x="731520" y="418795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00529B"/>
                </a:solidFill>
                <a:latin typeface="Arial"/>
                <a:ea typeface="Arial"/>
                <a:cs typeface="Arial"/>
              </a:rPr>
              <a:t>Hengyu Zhou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61224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930763789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2 / 29</a:t>
            </a:r>
            <a:endParaRPr lang="en-US" sz="950"/>
          </a:p>
        </p:txBody>
      </p:sp>
      <p:sp>
        <p:nvSpPr>
          <p:cNvPr id="1501401368" name="Text 2"/>
          <p:cNvSpPr/>
          <p:nvPr/>
        </p:nvSpPr>
        <p:spPr bwMode="auto">
          <a:xfrm>
            <a:off x="731520" y="8229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8000" b="1" spc="-200">
                <a:solidFill>
                  <a:srgbClr val="00529B"/>
                </a:solidFill>
                <a:latin typeface="Arial"/>
                <a:ea typeface="Arial"/>
                <a:cs typeface="Arial"/>
              </a:rPr>
              <a:t>01</a:t>
            </a:r>
            <a:endParaRPr lang="en-US" sz="8000"/>
          </a:p>
        </p:txBody>
      </p:sp>
      <p:sp>
        <p:nvSpPr>
          <p:cNvPr id="1462080238" name="Shape 3"/>
          <p:cNvSpPr/>
          <p:nvPr/>
        </p:nvSpPr>
        <p:spPr bwMode="auto">
          <a:xfrm>
            <a:off x="731520" y="2423160"/>
            <a:ext cx="640080" cy="22860"/>
          </a:xfrm>
          <a:prstGeom prst="rect">
            <a:avLst/>
          </a:prstGeom>
          <a:solidFill>
            <a:srgbClr val="D8AD27"/>
          </a:solidFill>
          <a:ln w="12700">
            <a:solidFill>
              <a:srgbClr val="D8AD27"/>
            </a:solidFill>
            <a:prstDash val="solid"/>
          </a:ln>
        </p:spPr>
      </p:sp>
      <p:sp>
        <p:nvSpPr>
          <p:cNvPr id="220349676" name="Text 4"/>
          <p:cNvSpPr/>
          <p:nvPr/>
        </p:nvSpPr>
        <p:spPr bwMode="auto">
          <a:xfrm>
            <a:off x="731520" y="26060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36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ROUND 3</a:t>
            </a:r>
            <a:endParaRPr lang="en-US" sz="3600"/>
          </a:p>
        </p:txBody>
      </p:sp>
      <p:sp>
        <p:nvSpPr>
          <p:cNvPr id="1545217877" name="Text 5"/>
          <p:cNvSpPr/>
          <p:nvPr/>
        </p:nvSpPr>
        <p:spPr bwMode="auto">
          <a:xfrm>
            <a:off x="731520" y="3611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647386"/>
                </a:solidFill>
                <a:latin typeface="Arial"/>
                <a:ea typeface="Arial"/>
                <a:cs typeface="Arial"/>
              </a:rPr>
              <a:t>The loop moderates only the largest group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476225" name="Text 0"/>
          <p:cNvSpPr/>
          <p:nvPr/>
        </p:nvSpPr>
        <p:spPr bwMode="auto">
          <a:xfrm>
            <a:off x="731520" y="466344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1250">
                <a:solidFill>
                  <a:srgbClr val="24364A"/>
                </a:solidFill>
                <a:latin typeface="Arial"/>
                <a:ea typeface="Arial"/>
                <a:cs typeface="Arial"/>
              </a:rPr>
              <a:t>Selected this round: </a:t>
            </a:r>
            <a:r>
              <a:rPr lang="en-US" sz="12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group 1</a:t>
            </a:r>
            <a:r>
              <a:rPr lang="en-US" sz="1250">
                <a:solidFill>
                  <a:srgbClr val="24364A"/>
                </a:solidFill>
                <a:latin typeface="Arial"/>
                <a:ea typeface="Arial"/>
                <a:cs typeface="Arial"/>
              </a:rPr>
              <a:t>. Everything else waits.</a:t>
            </a:r>
            <a:endParaRPr lang="en-US" sz="1250"/>
          </a:p>
        </p:txBody>
      </p:sp>
      <p:sp>
        <p:nvSpPr>
          <p:cNvPr id="1926676944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3 / 29</a:t>
            </a:r>
            <a:endParaRPr lang="en-US" sz="950"/>
          </a:p>
        </p:txBody>
      </p:sp>
      <p:sp>
        <p:nvSpPr>
          <p:cNvPr id="1388179413" name="Text 2"/>
          <p:cNvSpPr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spc="400">
                <a:solidFill>
                  <a:srgbClr val="647386"/>
                </a:solidFill>
                <a:latin typeface="Arial"/>
                <a:ea typeface="Arial"/>
                <a:cs typeface="Arial"/>
              </a:rPr>
              <a:t>01 — ROUND 3 / ERROR GROUPS RANKED BY SIZE</a:t>
            </a:r>
            <a:endParaRPr lang="en-US" sz="900"/>
          </a:p>
        </p:txBody>
      </p:sp>
      <p:sp>
        <p:nvSpPr>
          <p:cNvPr id="99009332" name="Text 3"/>
          <p:cNvSpPr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4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The loop moderates only the largest group</a:t>
            </a:r>
            <a:endParaRPr lang="en-US" sz="2400"/>
          </a:p>
        </p:txBody>
      </p:sp>
      <p:graphicFrame>
        <p:nvGraphicFramePr>
          <p:cNvPr id="498648126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731520" y="1188720"/>
          <a:ext cx="76809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230014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733771120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4 / 29</a:t>
            </a:r>
            <a:endParaRPr lang="en-US" sz="950"/>
          </a:p>
        </p:txBody>
      </p:sp>
      <p:sp>
        <p:nvSpPr>
          <p:cNvPr id="281405796" name="Text 2"/>
          <p:cNvSpPr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spc="400">
                <a:solidFill>
                  <a:srgbClr val="647386"/>
                </a:solidFill>
                <a:latin typeface="Arial"/>
                <a:ea typeface="Arial"/>
                <a:cs typeface="Arial"/>
              </a:rPr>
              <a:t>01 — ROUND 3 / TARGET GROUP 1</a:t>
            </a:r>
            <a:endParaRPr lang="en-US" sz="900"/>
          </a:p>
        </p:txBody>
      </p:sp>
      <p:sp>
        <p:nvSpPr>
          <p:cNvPr id="897938038" name="Text 3"/>
          <p:cNvSpPr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4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Three target cases, one fixed</a:t>
            </a:r>
            <a:endParaRPr lang="en-US" sz="2400"/>
          </a:p>
        </p:txBody>
      </p:sp>
      <p:sp>
        <p:nvSpPr>
          <p:cNvPr id="954896154" name="Text 4"/>
          <p:cNvSpPr/>
          <p:nvPr/>
        </p:nvSpPr>
        <p:spPr bwMode="auto">
          <a:xfrm>
            <a:off x="731520" y="1399032"/>
            <a:ext cx="7680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  <a:defRPr/>
            </a:pPr>
            <a:r>
              <a:rPr lang="en-US" sz="18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Case 1: abnormal retinal vascular development</a:t>
            </a:r>
            <a:endParaRPr lang="en-US" sz="1800"/>
          </a:p>
        </p:txBody>
      </p:sp>
      <p:sp>
        <p:nvSpPr>
          <p:cNvPr id="890278467" name="Shape 5"/>
          <p:cNvSpPr/>
          <p:nvPr/>
        </p:nvSpPr>
        <p:spPr bwMode="auto">
          <a:xfrm>
            <a:off x="731520" y="1984248"/>
            <a:ext cx="7680960" cy="566928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1338793806" name="Text 6"/>
          <p:cNvSpPr/>
          <p:nvPr/>
        </p:nvSpPr>
        <p:spPr bwMode="auto">
          <a:xfrm>
            <a:off x="941832" y="2157984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doc: </a:t>
            </a:r>
            <a:r>
              <a:rPr lang="en-US" sz="1450">
                <a:solidFill>
                  <a:srgbClr val="24364A"/>
                </a:solidFill>
                <a:latin typeface="Arial"/>
                <a:ea typeface="Arial"/>
                <a:cs typeface="Arial"/>
              </a:rPr>
              <a:t>10484772</a:t>
            </a:r>
            <a:endParaRPr lang="en-US" sz="1450"/>
          </a:p>
        </p:txBody>
      </p:sp>
      <p:sp>
        <p:nvSpPr>
          <p:cNvPr id="796605293" name="Text 7"/>
          <p:cNvSpPr/>
          <p:nvPr/>
        </p:nvSpPr>
        <p:spPr bwMode="auto">
          <a:xfrm>
            <a:off x="3099816" y="2157984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gold: </a:t>
            </a:r>
            <a:r>
              <a:rPr lang="en-US" sz="1450">
                <a:solidFill>
                  <a:srgbClr val="24364A"/>
                </a:solidFill>
                <a:latin typeface="Arial"/>
                <a:ea typeface="Arial"/>
                <a:cs typeface="Arial"/>
              </a:rPr>
              <a:t>DiseaseClass</a:t>
            </a:r>
            <a:endParaRPr lang="en-US" sz="1450"/>
          </a:p>
        </p:txBody>
      </p:sp>
      <p:sp>
        <p:nvSpPr>
          <p:cNvPr id="1525945293" name="Text 8"/>
          <p:cNvSpPr/>
          <p:nvPr/>
        </p:nvSpPr>
        <p:spPr bwMode="auto">
          <a:xfrm>
            <a:off x="6163056" y="21579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model: </a:t>
            </a:r>
            <a:r>
              <a:rPr lang="en-US" sz="1450">
                <a:solidFill>
                  <a:srgbClr val="24364A"/>
                </a:solidFill>
                <a:latin typeface="Arial"/>
                <a:ea typeface="Arial"/>
                <a:cs typeface="Arial"/>
              </a:rPr>
              <a:t>no entity</a:t>
            </a:r>
            <a:endParaRPr lang="en-US" sz="1450"/>
          </a:p>
        </p:txBody>
      </p:sp>
      <p:sp>
        <p:nvSpPr>
          <p:cNvPr id="781015418" name="Shape 9"/>
          <p:cNvSpPr/>
          <p:nvPr/>
        </p:nvSpPr>
        <p:spPr bwMode="auto">
          <a:xfrm>
            <a:off x="731520" y="2825496"/>
            <a:ext cx="7680960" cy="1536192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pic>
        <p:nvPicPr>
          <p:cNvPr id="701273617" name="Image 0" descr="Source quotation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32688" y="3026664"/>
            <a:ext cx="219456" cy="219456"/>
          </a:xfrm>
          <a:prstGeom prst="rect">
            <a:avLst/>
          </a:prstGeom>
        </p:spPr>
      </p:pic>
      <p:sp>
        <p:nvSpPr>
          <p:cNvPr id="2020804172" name="Text 10"/>
          <p:cNvSpPr/>
          <p:nvPr/>
        </p:nvSpPr>
        <p:spPr bwMode="auto">
          <a:xfrm>
            <a:off x="1325880" y="3008376"/>
            <a:ext cx="6839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650">
                <a:solidFill>
                  <a:srgbClr val="24364A"/>
                </a:solidFill>
                <a:latin typeface="Arial"/>
                <a:ea typeface="Arial"/>
                <a:cs typeface="Arial"/>
              </a:rPr>
              <a:t>Coats disease is characterized by </a:t>
            </a:r>
            <a:r>
              <a:rPr lang="en-US" sz="16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abnormal retinal vascular development</a:t>
            </a:r>
            <a:r>
              <a:rPr lang="en-US" sz="1650">
                <a:solidFill>
                  <a:srgbClr val="24364A"/>
                </a:solidFill>
                <a:latin typeface="Arial"/>
                <a:ea typeface="Arial"/>
                <a:cs typeface="Arial"/>
              </a:rPr>
              <a:t> (so-called retinal telangiectasis) which results in massive intraretinal and subretinal lipid accumulation (exudative retinal detachment).</a:t>
            </a:r>
            <a:endParaRPr lang="en-US" sz="16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671615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1203377279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5 / 29</a:t>
            </a:r>
            <a:endParaRPr lang="en-US" sz="950"/>
          </a:p>
        </p:txBody>
      </p:sp>
      <p:sp>
        <p:nvSpPr>
          <p:cNvPr id="723375717" name="Text 2"/>
          <p:cNvSpPr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spc="400">
                <a:solidFill>
                  <a:srgbClr val="647386"/>
                </a:solidFill>
                <a:latin typeface="Arial"/>
                <a:ea typeface="Arial"/>
                <a:cs typeface="Arial"/>
              </a:rPr>
              <a:t>01 — ROUND 3 / TARGET GROUP 1</a:t>
            </a:r>
            <a:endParaRPr lang="en-US" sz="900"/>
          </a:p>
        </p:txBody>
      </p:sp>
      <p:sp>
        <p:nvSpPr>
          <p:cNvPr id="1460195827" name="Text 3"/>
          <p:cNvSpPr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4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Three target cases, one fixed</a:t>
            </a:r>
            <a:endParaRPr lang="en-US" sz="2400"/>
          </a:p>
        </p:txBody>
      </p:sp>
      <p:sp>
        <p:nvSpPr>
          <p:cNvPr id="898245232" name="Text 4"/>
          <p:cNvSpPr/>
          <p:nvPr/>
        </p:nvSpPr>
        <p:spPr bwMode="auto">
          <a:xfrm>
            <a:off x="731520" y="1399032"/>
            <a:ext cx="7680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  <a:defRPr/>
            </a:pPr>
            <a:r>
              <a:rPr lang="en-US" sz="18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Case 2: deficiency of norrin</a:t>
            </a:r>
            <a:endParaRPr lang="en-US" sz="1800"/>
          </a:p>
        </p:txBody>
      </p:sp>
      <p:sp>
        <p:nvSpPr>
          <p:cNvPr id="10059535" name="Shape 5"/>
          <p:cNvSpPr/>
          <p:nvPr/>
        </p:nvSpPr>
        <p:spPr bwMode="auto">
          <a:xfrm>
            <a:off x="731520" y="1984248"/>
            <a:ext cx="7680960" cy="566928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1186519564" name="Text 6"/>
          <p:cNvSpPr/>
          <p:nvPr/>
        </p:nvSpPr>
        <p:spPr bwMode="auto">
          <a:xfrm>
            <a:off x="941832" y="2157984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doc: </a:t>
            </a:r>
            <a:r>
              <a:rPr lang="en-US" sz="1450">
                <a:solidFill>
                  <a:srgbClr val="24364A"/>
                </a:solidFill>
                <a:latin typeface="Arial"/>
                <a:ea typeface="Arial"/>
                <a:cs typeface="Arial"/>
              </a:rPr>
              <a:t>10484772</a:t>
            </a:r>
            <a:endParaRPr lang="en-US" sz="1450"/>
          </a:p>
        </p:txBody>
      </p:sp>
      <p:sp>
        <p:nvSpPr>
          <p:cNvPr id="698659299" name="Text 7"/>
          <p:cNvSpPr/>
          <p:nvPr/>
        </p:nvSpPr>
        <p:spPr bwMode="auto">
          <a:xfrm>
            <a:off x="3099816" y="2157984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gold: </a:t>
            </a:r>
            <a:r>
              <a:rPr lang="en-US" sz="1450">
                <a:solidFill>
                  <a:srgbClr val="24364A"/>
                </a:solidFill>
                <a:latin typeface="Arial"/>
                <a:ea typeface="Arial"/>
                <a:cs typeface="Arial"/>
              </a:rPr>
              <a:t>DiseaseClass</a:t>
            </a:r>
            <a:endParaRPr lang="en-US" sz="1450"/>
          </a:p>
        </p:txBody>
      </p:sp>
      <p:sp>
        <p:nvSpPr>
          <p:cNvPr id="1171854832" name="Text 8"/>
          <p:cNvSpPr/>
          <p:nvPr/>
        </p:nvSpPr>
        <p:spPr bwMode="auto">
          <a:xfrm>
            <a:off x="6163056" y="21579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model: </a:t>
            </a:r>
            <a:r>
              <a:rPr lang="en-US" sz="1450">
                <a:solidFill>
                  <a:srgbClr val="24364A"/>
                </a:solidFill>
                <a:latin typeface="Arial"/>
                <a:ea typeface="Arial"/>
                <a:cs typeface="Arial"/>
              </a:rPr>
              <a:t>no entity</a:t>
            </a:r>
            <a:endParaRPr lang="en-US" sz="1450"/>
          </a:p>
        </p:txBody>
      </p:sp>
      <p:sp>
        <p:nvSpPr>
          <p:cNvPr id="1159869355" name="Shape 9"/>
          <p:cNvSpPr/>
          <p:nvPr/>
        </p:nvSpPr>
        <p:spPr bwMode="auto">
          <a:xfrm>
            <a:off x="731520" y="2825496"/>
            <a:ext cx="7680960" cy="1536192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pic>
        <p:nvPicPr>
          <p:cNvPr id="868893845" name="Image 0" descr="Source quotation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32688" y="3026664"/>
            <a:ext cx="219456" cy="219456"/>
          </a:xfrm>
          <a:prstGeom prst="rect">
            <a:avLst/>
          </a:prstGeom>
        </p:spPr>
      </p:pic>
      <p:sp>
        <p:nvSpPr>
          <p:cNvPr id="71224275" name="Text 10"/>
          <p:cNvSpPr/>
          <p:nvPr/>
        </p:nvSpPr>
        <p:spPr bwMode="auto">
          <a:xfrm>
            <a:off x="1325880" y="3008376"/>
            <a:ext cx="6839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650">
                <a:solidFill>
                  <a:srgbClr val="24364A"/>
                </a:solidFill>
                <a:latin typeface="Arial"/>
                <a:ea typeface="Arial"/>
                <a:cs typeface="Arial"/>
              </a:rPr>
              <a:t>We suggest that Coats telangiectasis is secondary to somatic mutation in the NDP gene which results in a </a:t>
            </a:r>
            <a:r>
              <a:rPr lang="en-US" sz="16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deficiency of norrin</a:t>
            </a:r>
            <a:r>
              <a:rPr lang="en-US" sz="1650">
                <a:solidFill>
                  <a:srgbClr val="24364A"/>
                </a:solidFill>
                <a:latin typeface="Arial"/>
                <a:ea typeface="Arial"/>
                <a:cs typeface="Arial"/>
              </a:rPr>
              <a:t> (the protein product of the NDP gene) within the developing retina.</a:t>
            </a:r>
            <a:endParaRPr lang="en-US" sz="16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060218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1331875110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6 / 29</a:t>
            </a:r>
            <a:endParaRPr lang="en-US" sz="950"/>
          </a:p>
        </p:txBody>
      </p:sp>
      <p:sp>
        <p:nvSpPr>
          <p:cNvPr id="229654845" name="Text 2"/>
          <p:cNvSpPr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spc="400">
                <a:solidFill>
                  <a:srgbClr val="647386"/>
                </a:solidFill>
                <a:latin typeface="Arial"/>
                <a:ea typeface="Arial"/>
                <a:cs typeface="Arial"/>
              </a:rPr>
              <a:t>01 — ROUND 3 / TARGET GROUP 1</a:t>
            </a:r>
            <a:endParaRPr lang="en-US" sz="900"/>
          </a:p>
        </p:txBody>
      </p:sp>
      <p:sp>
        <p:nvSpPr>
          <p:cNvPr id="879715296" name="Text 3"/>
          <p:cNvSpPr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4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Three target cases, one fixed</a:t>
            </a:r>
            <a:endParaRPr lang="en-US" sz="2400"/>
          </a:p>
        </p:txBody>
      </p:sp>
      <p:sp>
        <p:nvSpPr>
          <p:cNvPr id="1895675767" name="Text 4"/>
          <p:cNvSpPr/>
          <p:nvPr/>
        </p:nvSpPr>
        <p:spPr bwMode="auto">
          <a:xfrm>
            <a:off x="731520" y="1399032"/>
            <a:ext cx="7680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  <a:defRPr/>
            </a:pPr>
            <a:r>
              <a:rPr lang="en-US" sz="18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Case 3: spasticity</a:t>
            </a:r>
            <a:endParaRPr lang="en-US" sz="1800"/>
          </a:p>
        </p:txBody>
      </p:sp>
      <p:sp>
        <p:nvSpPr>
          <p:cNvPr id="1099961607" name="Shape 5"/>
          <p:cNvSpPr/>
          <p:nvPr/>
        </p:nvSpPr>
        <p:spPr bwMode="auto">
          <a:xfrm>
            <a:off x="731520" y="1984248"/>
            <a:ext cx="7680960" cy="566928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1862897616" name="Text 6"/>
          <p:cNvSpPr/>
          <p:nvPr/>
        </p:nvSpPr>
        <p:spPr bwMode="auto">
          <a:xfrm>
            <a:off x="941832" y="2157984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doc: </a:t>
            </a:r>
            <a:r>
              <a:rPr lang="en-US" sz="1450">
                <a:solidFill>
                  <a:srgbClr val="24364A"/>
                </a:solidFill>
                <a:latin typeface="Arial"/>
                <a:ea typeface="Arial"/>
                <a:cs typeface="Arial"/>
              </a:rPr>
              <a:t>10577908</a:t>
            </a:r>
            <a:endParaRPr lang="en-US" sz="1450"/>
          </a:p>
        </p:txBody>
      </p:sp>
      <p:sp>
        <p:nvSpPr>
          <p:cNvPr id="2141820578" name="Text 7"/>
          <p:cNvSpPr/>
          <p:nvPr/>
        </p:nvSpPr>
        <p:spPr bwMode="auto">
          <a:xfrm>
            <a:off x="3099816" y="2157984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gold: </a:t>
            </a:r>
            <a:r>
              <a:rPr lang="en-US" sz="1450">
                <a:solidFill>
                  <a:srgbClr val="24364A"/>
                </a:solidFill>
                <a:latin typeface="Arial"/>
                <a:ea typeface="Arial"/>
                <a:cs typeface="Arial"/>
              </a:rPr>
              <a:t>DiseaseClass</a:t>
            </a:r>
            <a:endParaRPr lang="en-US" sz="1450"/>
          </a:p>
        </p:txBody>
      </p:sp>
      <p:sp>
        <p:nvSpPr>
          <p:cNvPr id="1817989880" name="Text 8"/>
          <p:cNvSpPr/>
          <p:nvPr/>
        </p:nvSpPr>
        <p:spPr bwMode="auto">
          <a:xfrm>
            <a:off x="6163056" y="21579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model: </a:t>
            </a:r>
            <a:r>
              <a:rPr lang="en-US" sz="1450">
                <a:solidFill>
                  <a:srgbClr val="24364A"/>
                </a:solidFill>
                <a:latin typeface="Arial"/>
                <a:ea typeface="Arial"/>
                <a:cs typeface="Arial"/>
              </a:rPr>
              <a:t>no entity</a:t>
            </a:r>
            <a:endParaRPr lang="en-US" sz="1450"/>
          </a:p>
        </p:txBody>
      </p:sp>
      <p:sp>
        <p:nvSpPr>
          <p:cNvPr id="1439394638" name="Shape 9"/>
          <p:cNvSpPr/>
          <p:nvPr/>
        </p:nvSpPr>
        <p:spPr bwMode="auto">
          <a:xfrm>
            <a:off x="731520" y="2825496"/>
            <a:ext cx="7680960" cy="1536192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pic>
        <p:nvPicPr>
          <p:cNvPr id="1648636719" name="Image 0" descr="Source quotation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32688" y="3026664"/>
            <a:ext cx="219456" cy="219456"/>
          </a:xfrm>
          <a:prstGeom prst="rect">
            <a:avLst/>
          </a:prstGeom>
        </p:spPr>
      </p:pic>
      <p:sp>
        <p:nvSpPr>
          <p:cNvPr id="2021971654" name="Text 10"/>
          <p:cNvSpPr/>
          <p:nvPr/>
        </p:nvSpPr>
        <p:spPr bwMode="auto">
          <a:xfrm>
            <a:off x="1325880" y="3008376"/>
            <a:ext cx="6839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650">
                <a:solidFill>
                  <a:srgbClr val="24364A"/>
                </a:solidFill>
                <a:latin typeface="Arial"/>
                <a:ea typeface="Arial"/>
                <a:cs typeface="Arial"/>
              </a:rPr>
              <a:t>Sjogren-Larsson syndrome (SLS) is an autosomal recessive disorder characterized by ichthyosis, mental retardation, </a:t>
            </a:r>
            <a:r>
              <a:rPr lang="en-US" sz="16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spasticity</a:t>
            </a:r>
            <a:r>
              <a:rPr lang="en-US" sz="1650">
                <a:solidFill>
                  <a:srgbClr val="24364A"/>
                </a:solidFill>
                <a:latin typeface="Arial"/>
                <a:ea typeface="Arial"/>
                <a:cs typeface="Arial"/>
              </a:rPr>
              <a:t>, and deficient activity of fatty aldehyde dehydrogenase (FALDH).</a:t>
            </a:r>
            <a:endParaRPr lang="en-US" sz="16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793427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1757488657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8 / 29</a:t>
            </a:r>
            <a:endParaRPr lang="en-US" sz="950"/>
          </a:p>
        </p:txBody>
      </p:sp>
      <p:sp>
        <p:nvSpPr>
          <p:cNvPr id="153473922" name="Text 2"/>
          <p:cNvSpPr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spc="400">
                <a:solidFill>
                  <a:srgbClr val="647386"/>
                </a:solidFill>
                <a:latin typeface="Arial"/>
                <a:ea typeface="Arial"/>
                <a:cs typeface="Arial"/>
              </a:rPr>
              <a:t>01 — ROUND 3 / PIPELINE STAGE 1</a:t>
            </a:r>
            <a:endParaRPr lang="en-US" sz="900"/>
          </a:p>
        </p:txBody>
      </p:sp>
      <p:sp>
        <p:nvSpPr>
          <p:cNvPr id="9692905" name="Text 3"/>
          <p:cNvSpPr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4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What the analyzer concluded from the three misses</a:t>
            </a:r>
            <a:endParaRPr lang="en-US" sz="2400"/>
          </a:p>
        </p:txBody>
      </p:sp>
      <p:sp>
        <p:nvSpPr>
          <p:cNvPr id="539919648" name="Shape 4"/>
          <p:cNvSpPr/>
          <p:nvPr/>
        </p:nvSpPr>
        <p:spPr bwMode="auto">
          <a:xfrm>
            <a:off x="731520" y="1444752"/>
            <a:ext cx="7680960" cy="1051560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pic>
        <p:nvPicPr>
          <p:cNvPr id="2097291403" name="Image 0" descr="Discrepancy analysis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50976" y="1682496"/>
            <a:ext cx="347472" cy="347472"/>
          </a:xfrm>
          <a:prstGeom prst="rect">
            <a:avLst/>
          </a:prstGeom>
        </p:spPr>
      </p:pic>
      <p:sp>
        <p:nvSpPr>
          <p:cNvPr id="2112658709" name="Text 5"/>
          <p:cNvSpPr/>
          <p:nvPr/>
        </p:nvSpPr>
        <p:spPr bwMode="auto">
          <a:xfrm>
            <a:off x="1545336" y="1600200"/>
            <a:ext cx="6519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100" b="1" spc="160">
                <a:solidFill>
                  <a:srgbClr val="00529B"/>
                </a:solidFill>
                <a:latin typeface="Arial"/>
                <a:ea typeface="Arial"/>
                <a:cs typeface="Arial"/>
              </a:rPr>
              <a:t>PATTERN NAME</a:t>
            </a:r>
            <a:endParaRPr lang="en-US" sz="1100"/>
          </a:p>
        </p:txBody>
      </p:sp>
      <p:sp>
        <p:nvSpPr>
          <p:cNvPr id="585821829" name="Text 6"/>
          <p:cNvSpPr/>
          <p:nvPr/>
        </p:nvSpPr>
        <p:spPr bwMode="auto">
          <a:xfrm>
            <a:off x="1545336" y="1911096"/>
            <a:ext cx="6556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80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Compositional pathological-state phrases without explicit disease-name lexemes</a:t>
            </a:r>
            <a:endParaRPr lang="en-US" sz="1800"/>
          </a:p>
        </p:txBody>
      </p:sp>
      <p:sp>
        <p:nvSpPr>
          <p:cNvPr id="1309443021" name="Text 7"/>
          <p:cNvSpPr/>
          <p:nvPr/>
        </p:nvSpPr>
        <p:spPr bwMode="auto">
          <a:xfrm>
            <a:off x="731520" y="27706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100" b="1" spc="160">
                <a:solidFill>
                  <a:srgbClr val="00529B"/>
                </a:solidFill>
                <a:latin typeface="Arial"/>
                <a:ea typeface="Arial"/>
                <a:cs typeface="Arial"/>
              </a:rPr>
              <a:t>DISCREPANCY ANALYSIS</a:t>
            </a:r>
            <a:endParaRPr lang="en-US" sz="1100"/>
          </a:p>
        </p:txBody>
      </p:sp>
      <p:sp>
        <p:nvSpPr>
          <p:cNvPr id="1462490399" name="Text 8"/>
          <p:cNvSpPr/>
          <p:nvPr/>
        </p:nvSpPr>
        <p:spPr bwMode="auto">
          <a:xfrm>
            <a:off x="731520" y="3127248"/>
            <a:ext cx="76809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600">
                <a:solidFill>
                  <a:srgbClr val="24364A"/>
                </a:solidFill>
                <a:latin typeface="Arial"/>
                <a:ea typeface="Arial"/>
                <a:cs typeface="Arial"/>
              </a:rPr>
              <a:t>The missed mentions are descriptive phenotype/pathophysiology NPs, headed by generic state/process words or symptom terms like "</a:t>
            </a:r>
            <a:r>
              <a:rPr lang="en-US" sz="16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development</a:t>
            </a:r>
            <a:r>
              <a:rPr lang="en-US" sz="1600">
                <a:solidFill>
                  <a:srgbClr val="24364A"/>
                </a:solidFill>
                <a:latin typeface="Arial"/>
                <a:ea typeface="Arial"/>
                <a:cs typeface="Arial"/>
              </a:rPr>
              <a:t>," "</a:t>
            </a:r>
            <a:r>
              <a:rPr lang="en-US" sz="16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deficiency</a:t>
            </a:r>
            <a:r>
              <a:rPr lang="en-US" sz="1600">
                <a:solidFill>
                  <a:srgbClr val="24364A"/>
                </a:solidFill>
                <a:latin typeface="Arial"/>
                <a:ea typeface="Arial"/>
                <a:cs typeface="Arial"/>
              </a:rPr>
              <a:t>," "</a:t>
            </a:r>
            <a:r>
              <a:rPr lang="en-US" sz="16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spasticity</a:t>
            </a:r>
            <a:r>
              <a:rPr lang="en-US" sz="1600">
                <a:solidFill>
                  <a:srgbClr val="24364A"/>
                </a:solidFill>
                <a:latin typeface="Arial"/>
                <a:ea typeface="Arial"/>
                <a:cs typeface="Arial"/>
              </a:rPr>
              <a:t>," often inside definitional frames such as "is characterized by" or "results in". Because they lack overt disease cues like disease/syndrome/cancer/disorder, the model </a:t>
            </a:r>
            <a:r>
              <a:rPr lang="en-US" sz="16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defaults to O</a:t>
            </a:r>
            <a:r>
              <a:rPr lang="en-US" sz="1600">
                <a:solidFill>
                  <a:srgbClr val="24364A"/>
                </a:solidFill>
                <a:latin typeface="Arial"/>
                <a:ea typeface="Arial"/>
                <a:cs typeface="Arial"/>
              </a:rPr>
              <a:t>.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677167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460088466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9 / 29</a:t>
            </a:r>
            <a:endParaRPr lang="en-US" sz="950"/>
          </a:p>
        </p:txBody>
      </p:sp>
      <p:sp>
        <p:nvSpPr>
          <p:cNvPr id="98743094" name="Text 2"/>
          <p:cNvSpPr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spc="400">
                <a:solidFill>
                  <a:srgbClr val="647386"/>
                </a:solidFill>
                <a:latin typeface="Arial"/>
                <a:ea typeface="Arial"/>
                <a:cs typeface="Arial"/>
              </a:rPr>
              <a:t>01 — ROUND 3 / PIPELINE STAGE 2</a:t>
            </a:r>
            <a:endParaRPr lang="en-US" sz="900"/>
          </a:p>
        </p:txBody>
      </p:sp>
      <p:sp>
        <p:nvSpPr>
          <p:cNvPr id="1003614681" name="Text 3"/>
          <p:cNvSpPr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4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The principle has two halves</a:t>
            </a:r>
            <a:endParaRPr lang="en-US" sz="2400"/>
          </a:p>
        </p:txBody>
      </p:sp>
      <p:sp>
        <p:nvSpPr>
          <p:cNvPr id="31972404" name="Text 4"/>
          <p:cNvSpPr/>
          <p:nvPr/>
        </p:nvSpPr>
        <p:spPr bwMode="auto">
          <a:xfrm>
            <a:off x="731520" y="13167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100" b="1" spc="160">
                <a:solidFill>
                  <a:srgbClr val="00529B"/>
                </a:solidFill>
                <a:latin typeface="Arial"/>
                <a:ea typeface="Arial"/>
                <a:cs typeface="Arial"/>
              </a:rPr>
              <a:t>GENERATE MODERATION PRINCIPLE</a:t>
            </a:r>
            <a:endParaRPr lang="en-US" sz="1100"/>
          </a:p>
        </p:txBody>
      </p:sp>
      <p:sp>
        <p:nvSpPr>
          <p:cNvPr id="2038158791" name="Text 5"/>
          <p:cNvSpPr/>
          <p:nvPr/>
        </p:nvSpPr>
        <p:spPr bwMode="auto">
          <a:xfrm>
            <a:off x="731520" y="161848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100" b="1" spc="160">
                <a:solidFill>
                  <a:srgbClr val="647386"/>
                </a:solidFill>
                <a:latin typeface="Arial"/>
                <a:ea typeface="Arial"/>
                <a:cs typeface="Arial"/>
              </a:rPr>
              <a:t>PROPOSED PRINCIPLE</a:t>
            </a:r>
            <a:endParaRPr lang="en-US" sz="1100"/>
          </a:p>
        </p:txBody>
      </p:sp>
      <p:sp>
        <p:nvSpPr>
          <p:cNvPr id="1574021666" name="Shape 6"/>
          <p:cNvSpPr/>
          <p:nvPr/>
        </p:nvSpPr>
        <p:spPr bwMode="auto">
          <a:xfrm>
            <a:off x="731520" y="1956816"/>
            <a:ext cx="3730752" cy="1801367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1872742192" name="Shape 7"/>
          <p:cNvSpPr/>
          <p:nvPr/>
        </p:nvSpPr>
        <p:spPr bwMode="auto">
          <a:xfrm>
            <a:off x="4636008" y="1956816"/>
            <a:ext cx="3776472" cy="1801367"/>
          </a:xfrm>
          <a:prstGeom prst="rect">
            <a:avLst/>
          </a:prstGeom>
          <a:solidFill>
            <a:srgbClr val="FFF9E9"/>
          </a:solidFill>
          <a:ln w="12700">
            <a:solidFill>
              <a:srgbClr val="FFF9E9"/>
            </a:solidFill>
            <a:prstDash val="solid"/>
          </a:ln>
        </p:spPr>
      </p:sp>
      <p:sp>
        <p:nvSpPr>
          <p:cNvPr id="1581219203" name="Text 8"/>
          <p:cNvSpPr/>
          <p:nvPr/>
        </p:nvSpPr>
        <p:spPr bwMode="auto">
          <a:xfrm>
            <a:off x="923544" y="2112264"/>
            <a:ext cx="334670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30"/>
              </a:lnSpc>
              <a:buNone/>
              <a:defRPr/>
            </a:pPr>
            <a:r>
              <a:rPr lang="en-US" sz="14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IF</a:t>
            </a:r>
            <a:r>
              <a:rPr lang="en-US" sz="1400">
                <a:solidFill>
                  <a:srgbClr val="24364A"/>
                </a:solidFill>
                <a:latin typeface="Arial"/>
                <a:ea typeface="Arial"/>
                <a:cs typeface="Arial"/>
              </a:rPr>
              <a:t> a noun phrase in a definitional, characterization, or causal/etiologic context denotes an abnormal clinical or pathological state, even when its head is a generic state/process/symptom noun rather than a canonical disease label, </a:t>
            </a:r>
            <a:r>
              <a:rPr lang="en-US" sz="14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THEN</a:t>
            </a:r>
            <a:r>
              <a:rPr lang="en-US" sz="1400">
                <a:solidFill>
                  <a:srgbClr val="24364A"/>
                </a:solidFill>
                <a:latin typeface="Arial"/>
                <a:ea typeface="Arial"/>
                <a:cs typeface="Arial"/>
              </a:rPr>
              <a:t> annotate it as </a:t>
            </a:r>
            <a:r>
              <a:rPr lang="en-US" sz="14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DiseaseClass</a:t>
            </a:r>
            <a:r>
              <a:rPr lang="en-US" sz="1400">
                <a:solidFill>
                  <a:srgbClr val="24364A"/>
                </a:solidFill>
                <a:latin typeface="Arial"/>
                <a:ea typeface="Arial"/>
                <a:cs typeface="Arial"/>
              </a:rPr>
              <a:t>;</a:t>
            </a:r>
            <a:endParaRPr lang="en-US" sz="1400"/>
          </a:p>
        </p:txBody>
      </p:sp>
      <p:sp>
        <p:nvSpPr>
          <p:cNvPr id="1942024650" name="Text 9"/>
          <p:cNvSpPr/>
          <p:nvPr/>
        </p:nvSpPr>
        <p:spPr bwMode="auto">
          <a:xfrm>
            <a:off x="4828032" y="2112264"/>
            <a:ext cx="338328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30"/>
              </a:lnSpc>
              <a:buNone/>
              <a:defRPr/>
            </a:pPr>
            <a:r>
              <a:rPr lang="en-US" sz="14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do not apply this rule</a:t>
            </a:r>
            <a:r>
              <a:rPr lang="en-US" sz="1400">
                <a:solidFill>
                  <a:srgbClr val="24364A"/>
                </a:solidFill>
                <a:latin typeface="Arial"/>
                <a:ea typeface="Arial"/>
                <a:cs typeface="Arial"/>
              </a:rPr>
              <a:t> when the phrase refers only to a normal biological process, a </a:t>
            </a:r>
            <a:r>
              <a:rPr lang="en-US" sz="14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molecular/substance entity or level</a:t>
            </a:r>
            <a:r>
              <a:rPr lang="en-US" sz="1400">
                <a:solidFill>
                  <a:srgbClr val="24364A"/>
                </a:solidFill>
                <a:latin typeface="Arial"/>
                <a:ea typeface="Arial"/>
                <a:cs typeface="Arial"/>
              </a:rPr>
              <a:t>, or an isolated descriptive finding that is not presented as a pathological condition of the patient/disorder.</a:t>
            </a:r>
            <a:endParaRPr lang="en-US" sz="1400"/>
          </a:p>
        </p:txBody>
      </p:sp>
      <p:sp>
        <p:nvSpPr>
          <p:cNvPr id="1566079537" name="Text 10"/>
          <p:cNvSpPr/>
          <p:nvPr/>
        </p:nvSpPr>
        <p:spPr bwMode="auto">
          <a:xfrm>
            <a:off x="731520" y="3931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500">
                <a:solidFill>
                  <a:srgbClr val="24364A"/>
                </a:solidFill>
                <a:latin typeface="Arial"/>
                <a:ea typeface="Arial"/>
                <a:cs typeface="Arial"/>
              </a:rPr>
              <a:t>The first half expands recall. The second half is a safety clause.</a:t>
            </a:r>
            <a:endParaRPr lang="en-US" sz="1500"/>
          </a:p>
        </p:txBody>
      </p:sp>
      <p:sp>
        <p:nvSpPr>
          <p:cNvPr id="457962206" name="Text 11"/>
          <p:cNvSpPr/>
          <p:nvPr/>
        </p:nvSpPr>
        <p:spPr bwMode="auto">
          <a:xfrm>
            <a:off x="731520" y="4288536"/>
            <a:ext cx="7680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647386"/>
                </a:solidFill>
                <a:latin typeface="Arial"/>
                <a:ea typeface="Arial"/>
                <a:cs typeface="Arial"/>
              </a:rPr>
              <a:t>The next slide shows what the refiner did with the second half.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470648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1288505288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10 / 29</a:t>
            </a:r>
            <a:endParaRPr lang="en-US" sz="950"/>
          </a:p>
        </p:txBody>
      </p:sp>
      <p:sp>
        <p:nvSpPr>
          <p:cNvPr id="2072517614" name="Text 2"/>
          <p:cNvSpPr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spc="400">
                <a:solidFill>
                  <a:srgbClr val="647386"/>
                </a:solidFill>
                <a:latin typeface="Arial"/>
                <a:ea typeface="Arial"/>
                <a:cs typeface="Arial"/>
              </a:rPr>
              <a:t>01 — ROUND 3 / GUIDELINE REFINEMENT / LINE 12</a:t>
            </a:r>
            <a:endParaRPr lang="en-US" sz="900"/>
          </a:p>
        </p:txBody>
      </p:sp>
      <p:sp>
        <p:nvSpPr>
          <p:cNvPr id="1600131812" name="Text 3"/>
          <p:cNvSpPr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4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A rule that sweeps away every "deficiency of X"</a:t>
            </a:r>
            <a:endParaRPr lang="en-US" sz="2400"/>
          </a:p>
        </p:txBody>
      </p:sp>
      <p:sp>
        <p:nvSpPr>
          <p:cNvPr id="1491176602" name="Shape 4"/>
          <p:cNvSpPr/>
          <p:nvPr/>
        </p:nvSpPr>
        <p:spPr bwMode="auto">
          <a:xfrm>
            <a:off x="731520" y="1408176"/>
            <a:ext cx="7680960" cy="1408176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1379411234" name="Text 5"/>
          <p:cNvSpPr/>
          <p:nvPr/>
        </p:nvSpPr>
        <p:spPr bwMode="auto">
          <a:xfrm>
            <a:off x="932688" y="1554480"/>
            <a:ext cx="7278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1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Previous bullet: iteration_03/guidelines_after.txt, line 11</a:t>
            </a:r>
            <a:endParaRPr lang="en-US" sz="1100"/>
          </a:p>
        </p:txBody>
      </p:sp>
      <p:sp>
        <p:nvSpPr>
          <p:cNvPr id="1772637766" name="Text 6"/>
          <p:cNvSpPr/>
          <p:nvPr/>
        </p:nvSpPr>
        <p:spPr bwMode="auto">
          <a:xfrm>
            <a:off x="932688" y="1865376"/>
            <a:ext cx="72786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450">
                <a:solidFill>
                  <a:srgbClr val="24364A"/>
                </a:solidFill>
                <a:latin typeface="Arial"/>
                <a:ea typeface="Arial"/>
                <a:cs typeface="Arial"/>
              </a:rPr>
              <a:t>In particular, in definitional, characterization, or causal/etiologic context, if a noun phrase denotes an abnormal clinical or pathological state of the disorder/patient but is not used referentially as one particular diagnosed condition, </a:t>
            </a:r>
            <a:r>
              <a:rPr lang="en-US" sz="14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annotate it as Disease Class</a:t>
            </a:r>
            <a:r>
              <a:rPr lang="en-US" sz="1450">
                <a:solidFill>
                  <a:srgbClr val="24364A"/>
                </a:solidFill>
                <a:latin typeface="Arial"/>
                <a:ea typeface="Arial"/>
                <a:cs typeface="Arial"/>
              </a:rPr>
              <a:t> even when its head is a generic state/process/symptom noun rather than a canonical disease label.</a:t>
            </a:r>
            <a:endParaRPr lang="en-US" sz="1450"/>
          </a:p>
        </p:txBody>
      </p:sp>
      <p:sp>
        <p:nvSpPr>
          <p:cNvPr id="361928204" name="Shape 7"/>
          <p:cNvSpPr/>
          <p:nvPr/>
        </p:nvSpPr>
        <p:spPr bwMode="auto">
          <a:xfrm>
            <a:off x="731520" y="2990088"/>
            <a:ext cx="7680960" cy="1472184"/>
          </a:xfrm>
          <a:prstGeom prst="rect">
            <a:avLst/>
          </a:prstGeom>
          <a:solidFill>
            <a:srgbClr val="FFF9E9"/>
          </a:solidFill>
          <a:ln w="12700">
            <a:solidFill>
              <a:srgbClr val="FFF9E9"/>
            </a:solidFill>
            <a:prstDash val="solid"/>
          </a:ln>
        </p:spPr>
      </p:sp>
      <p:sp>
        <p:nvSpPr>
          <p:cNvPr id="776736211" name="Text 8"/>
          <p:cNvSpPr/>
          <p:nvPr/>
        </p:nvSpPr>
        <p:spPr bwMode="auto">
          <a:xfrm>
            <a:off x="932688" y="3145536"/>
            <a:ext cx="7278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1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iteration_03/guidelines_after.txt, line 12</a:t>
            </a:r>
            <a:endParaRPr lang="en-US" sz="1100"/>
          </a:p>
        </p:txBody>
      </p:sp>
      <p:sp>
        <p:nvSpPr>
          <p:cNvPr id="1462126497" name="Text 9"/>
          <p:cNvSpPr/>
          <p:nvPr/>
        </p:nvSpPr>
        <p:spPr bwMode="auto">
          <a:xfrm>
            <a:off x="932688" y="3465576"/>
            <a:ext cx="727862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4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Do not apply the previous bullet</a:t>
            </a:r>
            <a:r>
              <a:rPr lang="en-US" sz="1450">
                <a:solidFill>
                  <a:srgbClr val="24364A"/>
                </a:solidFill>
                <a:latin typeface="Arial"/>
                <a:ea typeface="Arial"/>
                <a:cs typeface="Arial"/>
              </a:rPr>
              <a:t> when the phrase refers only to a normal biological process, a mechanistic biological process, </a:t>
            </a:r>
            <a:r>
              <a:rPr lang="en-US" sz="14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a molecular/substance entity or its level/activity</a:t>
            </a:r>
            <a:r>
              <a:rPr lang="en-US" sz="1450">
                <a:solidFill>
                  <a:srgbClr val="24364A"/>
                </a:solidFill>
                <a:latin typeface="Arial"/>
                <a:ea typeface="Arial"/>
                <a:cs typeface="Arial"/>
              </a:rPr>
              <a:t>, or an isolated descriptive finding that is not presented as a pathological condition of the patient/disorder. Such phrases are </a:t>
            </a:r>
            <a:r>
              <a:rPr lang="en-US" sz="14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not disease mentions</a:t>
            </a:r>
            <a:r>
              <a:rPr lang="en-US" sz="1450">
                <a:solidFill>
                  <a:srgbClr val="24364A"/>
                </a:solidFill>
                <a:latin typeface="Arial"/>
                <a:ea typeface="Arial"/>
                <a:cs typeface="Arial"/>
              </a:rPr>
              <a:t>.</a:t>
            </a:r>
            <a:endParaRPr lang="en-US" sz="14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701104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823180218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11 / 29</a:t>
            </a:r>
            <a:endParaRPr lang="en-US" sz="950"/>
          </a:p>
        </p:txBody>
      </p:sp>
      <p:sp>
        <p:nvSpPr>
          <p:cNvPr id="387856038" name="Text 2"/>
          <p:cNvSpPr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spc="400">
                <a:solidFill>
                  <a:srgbClr val="647386"/>
                </a:solidFill>
                <a:latin typeface="Arial"/>
                <a:ea typeface="Arial"/>
                <a:cs typeface="Arial"/>
              </a:rPr>
              <a:t>01 — ROUND 3 / GUIDELINE REFINEMENT / LINE 12</a:t>
            </a:r>
            <a:endParaRPr lang="en-US" sz="900"/>
          </a:p>
        </p:txBody>
      </p:sp>
      <p:sp>
        <p:nvSpPr>
          <p:cNvPr id="94493088" name="Text 3"/>
          <p:cNvSpPr/>
          <p:nvPr/>
        </p:nvSpPr>
        <p:spPr bwMode="auto">
          <a:xfrm>
            <a:off x="731520" y="6858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4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WHY DOES A RECALL ROUND PRODUCE AN EXCLUSION?</a:t>
            </a:r>
            <a:endParaRPr lang="en-US" sz="2400"/>
          </a:p>
        </p:txBody>
      </p:sp>
      <p:sp>
        <p:nvSpPr>
          <p:cNvPr id="1840770524" name="Text 4"/>
          <p:cNvSpPr/>
          <p:nvPr/>
        </p:nvSpPr>
        <p:spPr bwMode="auto">
          <a:xfrm>
            <a:off x="731520" y="172821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7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WHAT'S the effect?</a:t>
            </a:r>
            <a:endParaRPr lang="en-US" sz="1700"/>
          </a:p>
        </p:txBody>
      </p:sp>
      <p:sp>
        <p:nvSpPr>
          <p:cNvPr id="832609596" name="Shape 5"/>
          <p:cNvSpPr/>
          <p:nvPr/>
        </p:nvSpPr>
        <p:spPr bwMode="auto">
          <a:xfrm>
            <a:off x="731520" y="2221992"/>
            <a:ext cx="3118104" cy="822960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1777062127" name="Shape 6"/>
          <p:cNvSpPr/>
          <p:nvPr/>
        </p:nvSpPr>
        <p:spPr bwMode="auto">
          <a:xfrm>
            <a:off x="4041648" y="2221992"/>
            <a:ext cx="4370832" cy="822960"/>
          </a:xfrm>
          <a:prstGeom prst="rect">
            <a:avLst/>
          </a:prstGeom>
          <a:solidFill>
            <a:srgbClr val="FFF9E9"/>
          </a:solidFill>
          <a:ln w="12700">
            <a:solidFill>
              <a:srgbClr val="FFF9E9"/>
            </a:solidFill>
            <a:prstDash val="solid"/>
          </a:ln>
        </p:spPr>
      </p:sp>
      <p:pic>
        <p:nvPicPr>
          <p:cNvPr id="1497643205" name="Image 0" descr="Fixed cas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32688" y="2459735"/>
            <a:ext cx="310896" cy="310896"/>
          </a:xfrm>
          <a:prstGeom prst="rect">
            <a:avLst/>
          </a:prstGeom>
        </p:spPr>
      </p:pic>
      <p:sp>
        <p:nvSpPr>
          <p:cNvPr id="1238151925" name="Text 7"/>
          <p:cNvSpPr/>
          <p:nvPr/>
        </p:nvSpPr>
        <p:spPr bwMode="auto">
          <a:xfrm>
            <a:off x="1444752" y="2441448"/>
            <a:ext cx="2185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21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'spasticity'</a:t>
            </a:r>
            <a:endParaRPr lang="en-US" sz="2100"/>
          </a:p>
        </p:txBody>
      </p:sp>
      <p:pic>
        <p:nvPicPr>
          <p:cNvPr id="783524053" name="Image 1" descr="Excluded case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251960" y="2459735"/>
            <a:ext cx="310896" cy="310896"/>
          </a:xfrm>
          <a:prstGeom prst="rect">
            <a:avLst/>
          </a:prstGeom>
        </p:spPr>
      </p:pic>
      <p:sp>
        <p:nvSpPr>
          <p:cNvPr id="1893375826" name="Text 8"/>
          <p:cNvSpPr/>
          <p:nvPr/>
        </p:nvSpPr>
        <p:spPr bwMode="auto">
          <a:xfrm>
            <a:off x="4782312" y="2450592"/>
            <a:ext cx="33741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20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'deficiency of norrin'</a:t>
            </a:r>
            <a:endParaRPr lang="en-US" sz="2000"/>
          </a:p>
        </p:txBody>
      </p:sp>
      <p:sp>
        <p:nvSpPr>
          <p:cNvPr id="1535004996" name="Text 9"/>
          <p:cNvSpPr/>
          <p:nvPr/>
        </p:nvSpPr>
        <p:spPr bwMode="auto">
          <a:xfrm>
            <a:off x="731520" y="3374136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600">
                <a:solidFill>
                  <a:srgbClr val="24364A"/>
                </a:solidFill>
                <a:latin typeface="Arial"/>
                <a:ea typeface="Arial"/>
                <a:cs typeface="Arial"/>
              </a:rPr>
              <a:t>The positive first half fixed </a:t>
            </a:r>
            <a:r>
              <a:rPr lang="en-US" sz="16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'spasticity'</a:t>
            </a:r>
            <a:r>
              <a:rPr lang="en-US" sz="1600">
                <a:solidFill>
                  <a:srgbClr val="24364A"/>
                </a:solidFill>
                <a:latin typeface="Arial"/>
                <a:ea typeface="Arial"/>
                <a:cs typeface="Arial"/>
              </a:rPr>
              <a:t>. But "a molecular/substance entity or its level/activity" literally describes every "deficiency of X" phrase, so the safety clause also blocks: </a:t>
            </a:r>
            <a:r>
              <a:rPr lang="en-US" sz="16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'deficiency of norrin'</a:t>
            </a:r>
            <a:r>
              <a:rPr lang="en-US" sz="1600">
                <a:solidFill>
                  <a:srgbClr val="24364A"/>
                </a:solidFill>
                <a:latin typeface="Arial"/>
                <a:ea typeface="Arial"/>
                <a:cs typeface="Arial"/>
              </a:rPr>
              <a:t>, which with a gold label </a:t>
            </a:r>
            <a:r>
              <a:rPr lang="en-US" sz="16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"DiseaseClass"</a:t>
            </a:r>
            <a:r>
              <a:rPr lang="en-US" sz="1600">
                <a:solidFill>
                  <a:srgbClr val="24364A"/>
                </a:solidFill>
                <a:latin typeface="Arial"/>
                <a:ea typeface="Arial"/>
                <a:cs typeface="Arial"/>
              </a:rPr>
              <a:t> and belongs to the discrepancy cluster of this round.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677701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1927649200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12 / 29</a:t>
            </a:r>
            <a:endParaRPr lang="en-US" sz="950"/>
          </a:p>
        </p:txBody>
      </p:sp>
      <p:sp>
        <p:nvSpPr>
          <p:cNvPr id="1018556982" name="Text 2"/>
          <p:cNvSpPr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spc="400">
                <a:solidFill>
                  <a:srgbClr val="647386"/>
                </a:solidFill>
                <a:latin typeface="Arial"/>
                <a:ea typeface="Arial"/>
                <a:cs typeface="Arial"/>
              </a:rPr>
              <a:t>01 — ROUND 3 / LINES 41 TO 44</a:t>
            </a:r>
            <a:endParaRPr lang="en-US" sz="900"/>
          </a:p>
        </p:txBody>
      </p:sp>
      <p:sp>
        <p:nvSpPr>
          <p:cNvPr id="1978857636" name="Text 3"/>
          <p:cNvSpPr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4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WRITTEN INTO THE GUIDELINE</a:t>
            </a:r>
            <a:endParaRPr lang="en-US" sz="2400"/>
          </a:p>
        </p:txBody>
      </p:sp>
      <p:sp>
        <p:nvSpPr>
          <p:cNvPr id="910726045" name="Text 4"/>
          <p:cNvSpPr/>
          <p:nvPr/>
        </p:nvSpPr>
        <p:spPr bwMode="auto">
          <a:xfrm>
            <a:off x="731520" y="1426464"/>
            <a:ext cx="7680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More importantly, </a:t>
            </a:r>
            <a:r>
              <a:rPr lang="en-US" sz="18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gold SpecificDisease</a:t>
            </a:r>
            <a:r>
              <a:rPr lang="en-US" sz="180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 entity is evidently asked </a:t>
            </a:r>
            <a:r>
              <a:rPr lang="en-US" sz="18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not to annotate</a:t>
            </a:r>
            <a:r>
              <a:rPr lang="en-US" sz="180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 due to the new guideline.</a:t>
            </a:r>
            <a:endParaRPr lang="en-US" sz="1800"/>
          </a:p>
        </p:txBody>
      </p:sp>
      <p:sp>
        <p:nvSpPr>
          <p:cNvPr id="1235536793" name="Text 5"/>
          <p:cNvSpPr/>
          <p:nvPr/>
        </p:nvSpPr>
        <p:spPr bwMode="auto">
          <a:xfrm>
            <a:off x="731520" y="230428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100">
                <a:solidFill>
                  <a:srgbClr val="647386"/>
                </a:solidFill>
                <a:latin typeface="Arial"/>
                <a:ea typeface="Arial"/>
                <a:cs typeface="Arial"/>
              </a:rPr>
              <a:t>iteration_03/guidelines_after.txt, lines 41 to 44</a:t>
            </a:r>
            <a:endParaRPr lang="en-US" sz="1100"/>
          </a:p>
        </p:txBody>
      </p:sp>
      <p:sp>
        <p:nvSpPr>
          <p:cNvPr id="562749811" name="Shape 6"/>
          <p:cNvSpPr/>
          <p:nvPr/>
        </p:nvSpPr>
        <p:spPr bwMode="auto">
          <a:xfrm>
            <a:off x="731520" y="2724911"/>
            <a:ext cx="7680960" cy="1719072"/>
          </a:xfrm>
          <a:prstGeom prst="rect">
            <a:avLst/>
          </a:prstGeom>
          <a:solidFill>
            <a:srgbClr val="FFF9E9"/>
          </a:solidFill>
          <a:ln w="12700">
            <a:solidFill>
              <a:srgbClr val="FFF9E9"/>
            </a:solidFill>
            <a:prstDash val="solid"/>
          </a:ln>
        </p:spPr>
      </p:sp>
      <p:pic>
        <p:nvPicPr>
          <p:cNvPr id="858755642" name="Image 0" descr="Guideline exampl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41832" y="2916936"/>
            <a:ext cx="246888" cy="246888"/>
          </a:xfrm>
          <a:prstGeom prst="rect">
            <a:avLst/>
          </a:prstGeom>
        </p:spPr>
      </p:pic>
      <p:sp>
        <p:nvSpPr>
          <p:cNvPr id="66530446" name="Text 7"/>
          <p:cNvSpPr/>
          <p:nvPr/>
        </p:nvSpPr>
        <p:spPr bwMode="auto">
          <a:xfrm>
            <a:off x="1362455" y="2880360"/>
            <a:ext cx="6766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Deficient</a:t>
            </a:r>
            <a:r>
              <a:rPr lang="en-US" sz="180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 activity of fatty aldehyde dehydrogenase</a:t>
            </a:r>
            <a:endParaRPr lang="en-US" sz="1800"/>
          </a:p>
        </p:txBody>
      </p:sp>
      <p:sp>
        <p:nvSpPr>
          <p:cNvPr id="96902738" name="Text 8"/>
          <p:cNvSpPr/>
          <p:nvPr/>
        </p:nvSpPr>
        <p:spPr bwMode="auto">
          <a:xfrm>
            <a:off x="1362455" y="3465576"/>
            <a:ext cx="6748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  <a:defRPr/>
            </a:pPr>
            <a:r>
              <a:rPr lang="en-US" sz="17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Do not annotate</a:t>
            </a:r>
            <a:r>
              <a:rPr lang="en-US" sz="1700">
                <a:solidFill>
                  <a:srgbClr val="24364A"/>
                </a:solidFill>
                <a:latin typeface="Arial"/>
                <a:ea typeface="Arial"/>
                <a:cs typeface="Arial"/>
              </a:rPr>
              <a:t>, because it refers to enzyme activity </a:t>
            </a:r>
            <a:r>
              <a:rPr lang="en-US" sz="17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(WRONG! It's NOT!)</a:t>
            </a:r>
            <a:r>
              <a:rPr lang="en-US" sz="1700">
                <a:solidFill>
                  <a:srgbClr val="24364A"/>
                </a:solidFill>
                <a:latin typeface="Arial"/>
                <a:ea typeface="Arial"/>
                <a:cs typeface="Arial"/>
              </a:rPr>
              <a:t> rather than a disease/pathological-state mention </a:t>
            </a:r>
            <a:r>
              <a:rPr lang="en-US" sz="17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(YES! It is!)</a:t>
            </a:r>
            <a:r>
              <a:rPr lang="en-US" sz="1700">
                <a:solidFill>
                  <a:srgbClr val="24364A"/>
                </a:solidFill>
                <a:latin typeface="Arial"/>
                <a:ea typeface="Arial"/>
                <a:cs typeface="Arial"/>
              </a:rPr>
              <a:t>.</a:t>
            </a:r>
            <a:endParaRPr lang="en-US" sz="1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122091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124621147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13 / 29</a:t>
            </a:r>
            <a:endParaRPr lang="en-US" sz="950"/>
          </a:p>
        </p:txBody>
      </p:sp>
      <p:sp>
        <p:nvSpPr>
          <p:cNvPr id="1214680998" name="Text 2"/>
          <p:cNvSpPr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spc="400">
                <a:solidFill>
                  <a:srgbClr val="647386"/>
                </a:solidFill>
                <a:latin typeface="Arial"/>
                <a:ea typeface="Arial"/>
                <a:cs typeface="Arial"/>
              </a:rPr>
              <a:t>01 — ROUND 3 / GUIDELINE REFINEMENT</a:t>
            </a:r>
            <a:endParaRPr lang="en-US" sz="900"/>
          </a:p>
        </p:txBody>
      </p:sp>
      <p:sp>
        <p:nvSpPr>
          <p:cNvPr id="1903478386" name="Text 3"/>
          <p:cNvSpPr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4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WHY THE MODEL works like this</a:t>
            </a:r>
            <a:endParaRPr lang="en-US" sz="2400"/>
          </a:p>
        </p:txBody>
      </p:sp>
      <p:sp>
        <p:nvSpPr>
          <p:cNvPr id="126827441" name="Shape 4"/>
          <p:cNvSpPr/>
          <p:nvPr/>
        </p:nvSpPr>
        <p:spPr bwMode="auto">
          <a:xfrm>
            <a:off x="731520" y="1435608"/>
            <a:ext cx="7680960" cy="1591056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1304579929" name="Text 5"/>
          <p:cNvSpPr/>
          <p:nvPr/>
        </p:nvSpPr>
        <p:spPr bwMode="auto">
          <a:xfrm>
            <a:off x="960120" y="1645920"/>
            <a:ext cx="7223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600">
                <a:solidFill>
                  <a:srgbClr val="24364A"/>
                </a:solidFill>
                <a:latin typeface="Arial"/>
                <a:ea typeface="Arial"/>
                <a:cs typeface="Arial"/>
              </a:rPr>
              <a:t>This entity is not discrepancy of this round, it's provided as a part of </a:t>
            </a:r>
            <a:r>
              <a:rPr lang="en-US" sz="16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TP text</a:t>
            </a:r>
            <a:r>
              <a:rPr lang="en-US" sz="1600">
                <a:solidFill>
                  <a:srgbClr val="24364A"/>
                </a:solidFill>
                <a:latin typeface="Arial"/>
                <a:ea typeface="Arial"/>
                <a:cs typeface="Arial"/>
              </a:rPr>
              <a:t> of this round: </a:t>
            </a:r>
            <a:r>
              <a:rPr lang="en-US" sz="16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"Sjogren-Larsson syndrome"</a:t>
            </a:r>
            <a:r>
              <a:rPr lang="en-US" sz="1600">
                <a:solidFill>
                  <a:srgbClr val="24364A"/>
                </a:solidFill>
                <a:latin typeface="Arial"/>
                <a:ea typeface="Arial"/>
                <a:cs typeface="Arial"/>
              </a:rPr>
              <a:t> in file </a:t>
            </a:r>
            <a:r>
              <a:rPr lang="en-US" sz="16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10577908.json</a:t>
            </a:r>
            <a:r>
              <a:rPr lang="en-US" sz="1600">
                <a:solidFill>
                  <a:srgbClr val="24364A"/>
                </a:solidFill>
                <a:latin typeface="Arial"/>
                <a:ea typeface="Arial"/>
                <a:cs typeface="Arial"/>
              </a:rPr>
              <a:t>, the model saw this entity in context, and thought it fits the not-to-annotate guideline newly added this round, then LLM added this example as </a:t>
            </a:r>
            <a:r>
              <a:rPr lang="en-US" sz="16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what not to annotate</a:t>
            </a:r>
            <a:r>
              <a:rPr lang="en-US" sz="1600">
                <a:solidFill>
                  <a:srgbClr val="24364A"/>
                </a:solidFill>
                <a:latin typeface="Arial"/>
                <a:ea typeface="Arial"/>
                <a:cs typeface="Arial"/>
              </a:rPr>
              <a:t>.</a:t>
            </a:r>
            <a:endParaRPr lang="en-US" sz="1600"/>
          </a:p>
        </p:txBody>
      </p:sp>
      <p:sp>
        <p:nvSpPr>
          <p:cNvPr id="87818985" name="Text 6"/>
          <p:cNvSpPr/>
          <p:nvPr/>
        </p:nvSpPr>
        <p:spPr bwMode="auto">
          <a:xfrm>
            <a:off x="731520" y="331927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100" b="1" spc="160">
                <a:solidFill>
                  <a:srgbClr val="00529B"/>
                </a:solidFill>
                <a:latin typeface="Arial"/>
                <a:ea typeface="Arial"/>
                <a:cs typeface="Arial"/>
              </a:rPr>
              <a:t>REASON:</a:t>
            </a:r>
            <a:endParaRPr lang="en-US" sz="1100"/>
          </a:p>
        </p:txBody>
      </p:sp>
      <p:sp>
        <p:nvSpPr>
          <p:cNvPr id="416062944" name="Text 7"/>
          <p:cNvSpPr/>
          <p:nvPr/>
        </p:nvSpPr>
        <p:spPr bwMode="auto">
          <a:xfrm>
            <a:off x="731520" y="364845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The new guideline makes model overlook </a:t>
            </a:r>
            <a:r>
              <a:rPr lang="en-US" sz="18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"deficient"</a:t>
            </a:r>
            <a:endParaRPr lang="en-US" sz="1800"/>
          </a:p>
        </p:txBody>
      </p:sp>
      <p:sp>
        <p:nvSpPr>
          <p:cNvPr id="1404396143" name="Text 8"/>
          <p:cNvSpPr/>
          <p:nvPr/>
        </p:nvSpPr>
        <p:spPr bwMode="auto">
          <a:xfrm>
            <a:off x="731520" y="4096512"/>
            <a:ext cx="7680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50">
                <a:solidFill>
                  <a:srgbClr val="24364A"/>
                </a:solidFill>
                <a:latin typeface="Arial"/>
                <a:ea typeface="Arial"/>
                <a:cs typeface="Arial"/>
              </a:rPr>
              <a:t>The model applies the guideline to enzyme activity: </a:t>
            </a:r>
            <a:r>
              <a:rPr lang="en-US" sz="15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activity of fatty aldehyde dehydrogenase</a:t>
            </a:r>
            <a:r>
              <a:rPr lang="en-US" sz="1550">
                <a:solidFill>
                  <a:srgbClr val="24364A"/>
                </a:solidFill>
                <a:latin typeface="Arial"/>
                <a:ea typeface="Arial"/>
                <a:cs typeface="Arial"/>
              </a:rPr>
              <a:t>, resulting in </a:t>
            </a:r>
            <a:r>
              <a:rPr lang="en-US" sz="15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"Do not annotate."</a:t>
            </a:r>
            <a:endParaRPr lang="en-US" sz="15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026749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1839097096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14 / 29</a:t>
            </a:r>
            <a:endParaRPr lang="en-US" sz="950"/>
          </a:p>
        </p:txBody>
      </p:sp>
      <p:sp>
        <p:nvSpPr>
          <p:cNvPr id="226135000" name="Text 2"/>
          <p:cNvSpPr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spc="400">
                <a:solidFill>
                  <a:srgbClr val="647386"/>
                </a:solidFill>
                <a:latin typeface="Arial"/>
                <a:ea typeface="Arial"/>
                <a:cs typeface="Arial"/>
              </a:rPr>
              <a:t>01 — ROUND 3 / GUIDELINE REFINEMENT</a:t>
            </a:r>
            <a:endParaRPr lang="en-US" sz="900"/>
          </a:p>
        </p:txBody>
      </p:sp>
      <p:sp>
        <p:nvSpPr>
          <p:cNvPr id="1621767842" name="Text 3"/>
          <p:cNvSpPr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4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REASON:</a:t>
            </a:r>
            <a:endParaRPr lang="en-US" sz="2400"/>
          </a:p>
        </p:txBody>
      </p:sp>
      <p:sp>
        <p:nvSpPr>
          <p:cNvPr id="913826019" name="Shape 4"/>
          <p:cNvSpPr/>
          <p:nvPr/>
        </p:nvSpPr>
        <p:spPr bwMode="auto">
          <a:xfrm>
            <a:off x="731520" y="1435608"/>
            <a:ext cx="1737360" cy="640080"/>
          </a:xfrm>
          <a:prstGeom prst="rect">
            <a:avLst/>
          </a:prstGeom>
          <a:solidFill>
            <a:srgbClr val="FFF9E9"/>
          </a:solidFill>
          <a:ln w="12700">
            <a:solidFill>
              <a:srgbClr val="FFF9E9"/>
            </a:solidFill>
            <a:prstDash val="solid"/>
          </a:ln>
        </p:spPr>
      </p:sp>
      <p:sp>
        <p:nvSpPr>
          <p:cNvPr id="306077288" name="Text 5"/>
          <p:cNvSpPr/>
          <p:nvPr/>
        </p:nvSpPr>
        <p:spPr bwMode="auto">
          <a:xfrm>
            <a:off x="914400" y="16184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deficient</a:t>
            </a:r>
            <a:endParaRPr lang="en-US" sz="2200"/>
          </a:p>
        </p:txBody>
      </p:sp>
      <p:sp>
        <p:nvSpPr>
          <p:cNvPr id="793251756" name="Text 6"/>
          <p:cNvSpPr/>
          <p:nvPr/>
        </p:nvSpPr>
        <p:spPr bwMode="auto">
          <a:xfrm>
            <a:off x="2743200" y="141732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  <a:defRPr/>
            </a:pPr>
            <a:r>
              <a:rPr lang="en-US" sz="1650">
                <a:solidFill>
                  <a:srgbClr val="24364A"/>
                </a:solidFill>
                <a:latin typeface="Arial"/>
                <a:ea typeface="Arial"/>
                <a:cs typeface="Arial"/>
              </a:rPr>
              <a:t>However, </a:t>
            </a:r>
            <a:r>
              <a:rPr lang="en-US" sz="16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deficient</a:t>
            </a:r>
            <a:r>
              <a:rPr lang="en-US" sz="1650">
                <a:solidFill>
                  <a:srgbClr val="24364A"/>
                </a:solidFill>
                <a:latin typeface="Arial"/>
                <a:ea typeface="Arial"/>
                <a:cs typeface="Arial"/>
              </a:rPr>
              <a:t> changes the meaning from activity itself to </a:t>
            </a:r>
            <a:r>
              <a:rPr lang="en-US" sz="16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a functional deficit</a:t>
            </a:r>
            <a:r>
              <a:rPr lang="en-US" sz="1650">
                <a:solidFill>
                  <a:srgbClr val="24364A"/>
                </a:solidFill>
                <a:latin typeface="Arial"/>
                <a:ea typeface="Arial"/>
                <a:cs typeface="Arial"/>
              </a:rPr>
              <a:t>, presented here as a feature of the syndrome.</a:t>
            </a:r>
            <a:endParaRPr lang="en-US" sz="1650"/>
          </a:p>
        </p:txBody>
      </p:sp>
      <p:sp>
        <p:nvSpPr>
          <p:cNvPr id="740898157" name="Text 7"/>
          <p:cNvSpPr/>
          <p:nvPr/>
        </p:nvSpPr>
        <p:spPr bwMode="auto">
          <a:xfrm>
            <a:off x="731520" y="2532888"/>
            <a:ext cx="76809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  <a:defRPr/>
            </a:pPr>
            <a:r>
              <a:rPr lang="en-US" sz="1700">
                <a:solidFill>
                  <a:srgbClr val="24364A"/>
                </a:solidFill>
                <a:latin typeface="Arial"/>
                <a:ea typeface="Arial"/>
                <a:cs typeface="Arial"/>
              </a:rPr>
              <a:t>The phrase therefore describes </a:t>
            </a:r>
            <a:r>
              <a:rPr lang="en-US" sz="17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a pathological state</a:t>
            </a:r>
            <a:r>
              <a:rPr lang="en-US" sz="1700">
                <a:solidFill>
                  <a:srgbClr val="24364A"/>
                </a:solidFill>
                <a:latin typeface="Arial"/>
                <a:ea typeface="Arial"/>
                <a:cs typeface="Arial"/>
              </a:rPr>
              <a:t>, not merely enzyme activity. Its gold label is </a:t>
            </a:r>
            <a:r>
              <a:rPr lang="en-US" sz="17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SpecificDisease</a:t>
            </a:r>
            <a:r>
              <a:rPr lang="en-US" sz="1700">
                <a:solidFill>
                  <a:srgbClr val="24364A"/>
                </a:solidFill>
                <a:latin typeface="Arial"/>
                <a:ea typeface="Arial"/>
                <a:cs typeface="Arial"/>
              </a:rPr>
              <a:t>.</a:t>
            </a:r>
            <a:endParaRPr lang="en-US" sz="1700"/>
          </a:p>
        </p:txBody>
      </p:sp>
      <p:sp>
        <p:nvSpPr>
          <p:cNvPr id="692593942" name="Shape 8"/>
          <p:cNvSpPr/>
          <p:nvPr/>
        </p:nvSpPr>
        <p:spPr bwMode="auto">
          <a:xfrm>
            <a:off x="731520" y="3319272"/>
            <a:ext cx="7680960" cy="1170432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1229040452" name="Text 9"/>
          <p:cNvSpPr/>
          <p:nvPr/>
        </p:nvSpPr>
        <p:spPr bwMode="auto">
          <a:xfrm>
            <a:off x="941832" y="3474720"/>
            <a:ext cx="72603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en-US" sz="140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But due to the analysis above, model 甚至在guidelines中书面地完全相反地规定不要标注这个SpecificDisease.</a:t>
            </a:r>
            <a:endParaRPr lang="en-US" sz="1400"/>
          </a:p>
        </p:txBody>
      </p:sp>
      <p:sp>
        <p:nvSpPr>
          <p:cNvPr id="1632600785" name="Text 10"/>
          <p:cNvSpPr/>
          <p:nvPr/>
        </p:nvSpPr>
        <p:spPr bwMode="auto">
          <a:xfrm>
            <a:off x="941832" y="4005072"/>
            <a:ext cx="72603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en-US" sz="1400">
                <a:solidFill>
                  <a:srgbClr val="24364A"/>
                </a:solidFill>
                <a:latin typeface="Arial"/>
                <a:ea typeface="Arial"/>
                <a:cs typeface="Arial"/>
              </a:rPr>
              <a:t>And unfortunately, this entity is a discrepancy of next round, and it couldn't be correctly annotated due to this error here......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097418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79379004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15 / 29</a:t>
            </a:r>
            <a:endParaRPr lang="en-US" sz="950"/>
          </a:p>
        </p:txBody>
      </p:sp>
      <p:sp>
        <p:nvSpPr>
          <p:cNvPr id="851354601" name="Text 2"/>
          <p:cNvSpPr/>
          <p:nvPr/>
        </p:nvSpPr>
        <p:spPr bwMode="auto">
          <a:xfrm>
            <a:off x="731520" y="8229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8000" b="1" spc="-200">
                <a:solidFill>
                  <a:srgbClr val="00529B"/>
                </a:solidFill>
                <a:latin typeface="Arial"/>
                <a:ea typeface="Arial"/>
                <a:cs typeface="Arial"/>
              </a:rPr>
              <a:t>02</a:t>
            </a:r>
            <a:endParaRPr lang="en-US" sz="8000"/>
          </a:p>
        </p:txBody>
      </p:sp>
      <p:sp>
        <p:nvSpPr>
          <p:cNvPr id="603493927" name="Shape 3"/>
          <p:cNvSpPr/>
          <p:nvPr/>
        </p:nvSpPr>
        <p:spPr bwMode="auto">
          <a:xfrm>
            <a:off x="731520" y="2423160"/>
            <a:ext cx="640080" cy="22860"/>
          </a:xfrm>
          <a:prstGeom prst="rect">
            <a:avLst/>
          </a:prstGeom>
          <a:solidFill>
            <a:srgbClr val="D8AD27"/>
          </a:solidFill>
          <a:ln w="12700">
            <a:solidFill>
              <a:srgbClr val="D8AD27"/>
            </a:solidFill>
            <a:prstDash val="solid"/>
          </a:ln>
        </p:spPr>
      </p:sp>
      <p:sp>
        <p:nvSpPr>
          <p:cNvPr id="407337355" name="Text 4"/>
          <p:cNvSpPr/>
          <p:nvPr/>
        </p:nvSpPr>
        <p:spPr bwMode="auto">
          <a:xfrm>
            <a:off x="731520" y="26060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36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ROUND 4</a:t>
            </a:r>
            <a:endParaRPr lang="en-US" sz="3600"/>
          </a:p>
        </p:txBody>
      </p:sp>
      <p:sp>
        <p:nvSpPr>
          <p:cNvPr id="2113770566" name="Text 5"/>
          <p:cNvSpPr/>
          <p:nvPr/>
        </p:nvSpPr>
        <p:spPr bwMode="auto">
          <a:xfrm>
            <a:off x="731520" y="3611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647386"/>
                </a:solidFill>
                <a:latin typeface="Arial"/>
                <a:ea typeface="Arial"/>
                <a:cs typeface="Arial"/>
              </a:rPr>
              <a:t>The loop moderates only the largest group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521161" name="Text 0"/>
          <p:cNvSpPr/>
          <p:nvPr/>
        </p:nvSpPr>
        <p:spPr bwMode="auto">
          <a:xfrm>
            <a:off x="731520" y="466344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1250">
                <a:solidFill>
                  <a:srgbClr val="24364A"/>
                </a:solidFill>
                <a:latin typeface="Arial"/>
                <a:ea typeface="Arial"/>
                <a:cs typeface="Arial"/>
              </a:rPr>
              <a:t>Selected this round: </a:t>
            </a:r>
            <a:r>
              <a:rPr lang="en-US" sz="12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group 1</a:t>
            </a:r>
            <a:r>
              <a:rPr lang="en-US" sz="1250">
                <a:solidFill>
                  <a:srgbClr val="24364A"/>
                </a:solidFill>
                <a:latin typeface="Arial"/>
                <a:ea typeface="Arial"/>
                <a:cs typeface="Arial"/>
              </a:rPr>
              <a:t>. Everything else waits.</a:t>
            </a:r>
            <a:endParaRPr lang="en-US" sz="1250"/>
          </a:p>
        </p:txBody>
      </p:sp>
      <p:sp>
        <p:nvSpPr>
          <p:cNvPr id="1831120884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16 / 29</a:t>
            </a:r>
            <a:endParaRPr lang="en-US" sz="950"/>
          </a:p>
        </p:txBody>
      </p:sp>
      <p:sp>
        <p:nvSpPr>
          <p:cNvPr id="790145747" name="Text 2"/>
          <p:cNvSpPr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spc="400">
                <a:solidFill>
                  <a:srgbClr val="647386"/>
                </a:solidFill>
                <a:latin typeface="Arial"/>
                <a:ea typeface="Arial"/>
                <a:cs typeface="Arial"/>
              </a:rPr>
              <a:t>02 — ROUND 4 / ERROR GROUPS RANKED BY SIZE</a:t>
            </a:r>
            <a:endParaRPr lang="en-US" sz="900"/>
          </a:p>
        </p:txBody>
      </p:sp>
      <p:sp>
        <p:nvSpPr>
          <p:cNvPr id="900987242" name="Text 3"/>
          <p:cNvSpPr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4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The loop moderates only the largest group</a:t>
            </a:r>
            <a:endParaRPr lang="en-US" sz="2400"/>
          </a:p>
        </p:txBody>
      </p:sp>
      <p:graphicFrame>
        <p:nvGraphicFramePr>
          <p:cNvPr id="242019207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731520" y="1188720"/>
          <a:ext cx="76809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468997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1253280032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17 / 29</a:t>
            </a:r>
            <a:endParaRPr lang="en-US" sz="950"/>
          </a:p>
        </p:txBody>
      </p:sp>
      <p:sp>
        <p:nvSpPr>
          <p:cNvPr id="1089172703" name="Text 2"/>
          <p:cNvSpPr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spc="400">
                <a:solidFill>
                  <a:srgbClr val="647386"/>
                </a:solidFill>
                <a:latin typeface="Arial"/>
                <a:ea typeface="Arial"/>
                <a:cs typeface="Arial"/>
              </a:rPr>
              <a:t>02 — ROUND 4 / TARGET GROUP 1</a:t>
            </a:r>
            <a:endParaRPr lang="en-US" sz="900"/>
          </a:p>
        </p:txBody>
      </p:sp>
      <p:sp>
        <p:nvSpPr>
          <p:cNvPr id="1272456484" name="Text 3"/>
          <p:cNvSpPr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4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Three target cases, one fixed</a:t>
            </a:r>
            <a:endParaRPr lang="en-US" sz="2400"/>
          </a:p>
        </p:txBody>
      </p:sp>
      <p:sp>
        <p:nvSpPr>
          <p:cNvPr id="467411931" name="Text 4"/>
          <p:cNvSpPr/>
          <p:nvPr/>
        </p:nvSpPr>
        <p:spPr bwMode="auto">
          <a:xfrm>
            <a:off x="731520" y="1399032"/>
            <a:ext cx="7680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  <a:defRPr/>
            </a:pPr>
            <a:r>
              <a:rPr lang="en-US" sz="18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deficient activity of fatty aldehyde dehydrogenase</a:t>
            </a:r>
            <a:endParaRPr lang="en-US" sz="1800"/>
          </a:p>
        </p:txBody>
      </p:sp>
      <p:sp>
        <p:nvSpPr>
          <p:cNvPr id="1355466427" name="Shape 5"/>
          <p:cNvSpPr/>
          <p:nvPr/>
        </p:nvSpPr>
        <p:spPr bwMode="auto">
          <a:xfrm>
            <a:off x="731520" y="1984248"/>
            <a:ext cx="7680960" cy="566928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1407319939" name="Text 6"/>
          <p:cNvSpPr/>
          <p:nvPr/>
        </p:nvSpPr>
        <p:spPr bwMode="auto">
          <a:xfrm>
            <a:off x="941832" y="2157984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doc: </a:t>
            </a:r>
            <a:r>
              <a:rPr lang="en-US" sz="1450">
                <a:solidFill>
                  <a:srgbClr val="24364A"/>
                </a:solidFill>
                <a:latin typeface="Arial"/>
                <a:ea typeface="Arial"/>
                <a:cs typeface="Arial"/>
              </a:rPr>
              <a:t>10577908</a:t>
            </a:r>
            <a:endParaRPr lang="en-US" sz="1450"/>
          </a:p>
        </p:txBody>
      </p:sp>
      <p:sp>
        <p:nvSpPr>
          <p:cNvPr id="853718033" name="Text 7"/>
          <p:cNvSpPr/>
          <p:nvPr/>
        </p:nvSpPr>
        <p:spPr bwMode="auto">
          <a:xfrm>
            <a:off x="3099816" y="2157984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gold: </a:t>
            </a:r>
            <a:r>
              <a:rPr lang="en-US" sz="1450">
                <a:solidFill>
                  <a:srgbClr val="24364A"/>
                </a:solidFill>
                <a:latin typeface="Arial"/>
                <a:ea typeface="Arial"/>
                <a:cs typeface="Arial"/>
              </a:rPr>
              <a:t>SpecificDisease</a:t>
            </a:r>
            <a:endParaRPr lang="en-US" sz="1450"/>
          </a:p>
        </p:txBody>
      </p:sp>
      <p:sp>
        <p:nvSpPr>
          <p:cNvPr id="1654164695" name="Text 8"/>
          <p:cNvSpPr/>
          <p:nvPr/>
        </p:nvSpPr>
        <p:spPr bwMode="auto">
          <a:xfrm>
            <a:off x="6163056" y="21579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model: </a:t>
            </a:r>
            <a:r>
              <a:rPr lang="en-US" sz="1450">
                <a:solidFill>
                  <a:srgbClr val="24364A"/>
                </a:solidFill>
                <a:latin typeface="Arial"/>
                <a:ea typeface="Arial"/>
                <a:cs typeface="Arial"/>
              </a:rPr>
              <a:t>no entity</a:t>
            </a:r>
            <a:endParaRPr lang="en-US" sz="1450"/>
          </a:p>
        </p:txBody>
      </p:sp>
      <p:sp>
        <p:nvSpPr>
          <p:cNvPr id="959357666" name="Shape 9"/>
          <p:cNvSpPr/>
          <p:nvPr/>
        </p:nvSpPr>
        <p:spPr bwMode="auto">
          <a:xfrm>
            <a:off x="731520" y="2825496"/>
            <a:ext cx="7680960" cy="1536192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pic>
        <p:nvPicPr>
          <p:cNvPr id="371342472" name="Image 0" descr="Source quotation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32688" y="3026664"/>
            <a:ext cx="219456" cy="219456"/>
          </a:xfrm>
          <a:prstGeom prst="rect">
            <a:avLst/>
          </a:prstGeom>
        </p:spPr>
      </p:pic>
      <p:sp>
        <p:nvSpPr>
          <p:cNvPr id="785600360" name="Text 10"/>
          <p:cNvSpPr/>
          <p:nvPr/>
        </p:nvSpPr>
        <p:spPr bwMode="auto">
          <a:xfrm>
            <a:off x="1325880" y="3008376"/>
            <a:ext cx="6839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650">
                <a:solidFill>
                  <a:srgbClr val="24364A"/>
                </a:solidFill>
                <a:latin typeface="Arial"/>
                <a:ea typeface="Arial"/>
                <a:cs typeface="Arial"/>
              </a:rPr>
              <a:t>Sjogren-Larsson syndrome (SLS) is an autosomal recessive disorder characterized by ichthyosis, mental retardation, spasticity, and </a:t>
            </a:r>
            <a:r>
              <a:rPr lang="en-US" sz="16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deficient activity of fatty aldehyde dehydrogenase</a:t>
            </a:r>
            <a:r>
              <a:rPr lang="en-US" sz="1650">
                <a:solidFill>
                  <a:srgbClr val="24364A"/>
                </a:solidFill>
                <a:latin typeface="Arial"/>
                <a:ea typeface="Arial"/>
                <a:cs typeface="Arial"/>
              </a:rPr>
              <a:t> (FALDH).</a:t>
            </a:r>
            <a:endParaRPr lang="en-US" sz="16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16308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249202988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18 / 29</a:t>
            </a:r>
            <a:endParaRPr lang="en-US" sz="950"/>
          </a:p>
        </p:txBody>
      </p:sp>
      <p:sp>
        <p:nvSpPr>
          <p:cNvPr id="830447226" name="Text 2"/>
          <p:cNvSpPr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spc="400">
                <a:solidFill>
                  <a:srgbClr val="647386"/>
                </a:solidFill>
                <a:latin typeface="Arial"/>
                <a:ea typeface="Arial"/>
                <a:cs typeface="Arial"/>
              </a:rPr>
              <a:t>02 — ROUND 4 / TARGET GROUP 1</a:t>
            </a:r>
            <a:endParaRPr lang="en-US" sz="900"/>
          </a:p>
        </p:txBody>
      </p:sp>
      <p:sp>
        <p:nvSpPr>
          <p:cNvPr id="196641108" name="Text 3"/>
          <p:cNvSpPr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4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Three target cases, one fixed</a:t>
            </a:r>
            <a:endParaRPr lang="en-US" sz="2400"/>
          </a:p>
        </p:txBody>
      </p:sp>
      <p:sp>
        <p:nvSpPr>
          <p:cNvPr id="196524573" name="Text 4"/>
          <p:cNvSpPr/>
          <p:nvPr/>
        </p:nvSpPr>
        <p:spPr bwMode="auto">
          <a:xfrm>
            <a:off x="731520" y="1399032"/>
            <a:ext cx="7680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  <a:defRPr/>
            </a:pPr>
            <a:r>
              <a:rPr lang="en-US" sz="18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deficiency in G6PD</a:t>
            </a:r>
            <a:endParaRPr lang="en-US" sz="1800"/>
          </a:p>
        </p:txBody>
      </p:sp>
      <p:sp>
        <p:nvSpPr>
          <p:cNvPr id="1945007947" name="Shape 5"/>
          <p:cNvSpPr/>
          <p:nvPr/>
        </p:nvSpPr>
        <p:spPr bwMode="auto">
          <a:xfrm>
            <a:off x="731520" y="1984248"/>
            <a:ext cx="7680960" cy="566928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1918667445" name="Text 6"/>
          <p:cNvSpPr/>
          <p:nvPr/>
        </p:nvSpPr>
        <p:spPr bwMode="auto">
          <a:xfrm>
            <a:off x="941832" y="2157984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doc: </a:t>
            </a:r>
            <a:r>
              <a:rPr lang="en-US" sz="1450">
                <a:solidFill>
                  <a:srgbClr val="24364A"/>
                </a:solidFill>
                <a:latin typeface="Arial"/>
                <a:ea typeface="Arial"/>
                <a:cs typeface="Arial"/>
              </a:rPr>
              <a:t>1303173</a:t>
            </a:r>
            <a:endParaRPr lang="en-US" sz="1450"/>
          </a:p>
        </p:txBody>
      </p:sp>
      <p:sp>
        <p:nvSpPr>
          <p:cNvPr id="1323863958" name="Text 7"/>
          <p:cNvSpPr/>
          <p:nvPr/>
        </p:nvSpPr>
        <p:spPr bwMode="auto">
          <a:xfrm>
            <a:off x="3099816" y="2157984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gold: </a:t>
            </a:r>
            <a:r>
              <a:rPr lang="en-US" sz="1450">
                <a:solidFill>
                  <a:srgbClr val="24364A"/>
                </a:solidFill>
                <a:latin typeface="Arial"/>
                <a:ea typeface="Arial"/>
                <a:cs typeface="Arial"/>
              </a:rPr>
              <a:t>SpecificDisease</a:t>
            </a:r>
            <a:endParaRPr lang="en-US" sz="1450"/>
          </a:p>
        </p:txBody>
      </p:sp>
      <p:sp>
        <p:nvSpPr>
          <p:cNvPr id="413264569" name="Text 8"/>
          <p:cNvSpPr/>
          <p:nvPr/>
        </p:nvSpPr>
        <p:spPr bwMode="auto">
          <a:xfrm>
            <a:off x="6163056" y="21579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model: </a:t>
            </a:r>
            <a:r>
              <a:rPr lang="en-US" sz="1450">
                <a:solidFill>
                  <a:srgbClr val="24364A"/>
                </a:solidFill>
                <a:latin typeface="Arial"/>
                <a:ea typeface="Arial"/>
                <a:cs typeface="Arial"/>
              </a:rPr>
              <a:t>no entity</a:t>
            </a:r>
            <a:endParaRPr lang="en-US" sz="1450"/>
          </a:p>
        </p:txBody>
      </p:sp>
      <p:sp>
        <p:nvSpPr>
          <p:cNvPr id="654286103" name="Shape 9"/>
          <p:cNvSpPr/>
          <p:nvPr/>
        </p:nvSpPr>
        <p:spPr bwMode="auto">
          <a:xfrm>
            <a:off x="731520" y="2825496"/>
            <a:ext cx="7680960" cy="1536192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pic>
        <p:nvPicPr>
          <p:cNvPr id="1467890016" name="Image 0" descr="Source quotation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32688" y="3026664"/>
            <a:ext cx="219456" cy="219456"/>
          </a:xfrm>
          <a:prstGeom prst="rect">
            <a:avLst/>
          </a:prstGeom>
        </p:spPr>
      </p:pic>
      <p:sp>
        <p:nvSpPr>
          <p:cNvPr id="668895542" name="Text 10"/>
          <p:cNvSpPr/>
          <p:nvPr/>
        </p:nvSpPr>
        <p:spPr bwMode="auto">
          <a:xfrm>
            <a:off x="1325880" y="3008376"/>
            <a:ext cx="6839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650">
                <a:solidFill>
                  <a:srgbClr val="24364A"/>
                </a:solidFill>
                <a:latin typeface="Arial"/>
                <a:ea typeface="Arial"/>
                <a:cs typeface="Arial"/>
              </a:rPr>
              <a:t>We infer that the coexistence of the two mutations is responsible for enzyme </a:t>
            </a:r>
            <a:r>
              <a:rPr lang="en-US" sz="16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deficiency in G6PD</a:t>
            </a:r>
            <a:r>
              <a:rPr lang="en-US" sz="1650">
                <a:solidFill>
                  <a:srgbClr val="24364A"/>
                </a:solidFill>
                <a:latin typeface="Arial"/>
                <a:ea typeface="Arial"/>
                <a:cs typeface="Arial"/>
              </a:rPr>
              <a:t> A- because they act synergistically in causing instability of the enzyme.</a:t>
            </a:r>
            <a:endParaRPr lang="en-US" sz="16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04485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259794996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19 / 29</a:t>
            </a:r>
            <a:endParaRPr lang="en-US" sz="950"/>
          </a:p>
        </p:txBody>
      </p:sp>
      <p:sp>
        <p:nvSpPr>
          <p:cNvPr id="1913285997" name="Text 2"/>
          <p:cNvSpPr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spc="400">
                <a:solidFill>
                  <a:srgbClr val="647386"/>
                </a:solidFill>
                <a:latin typeface="Arial"/>
                <a:ea typeface="Arial"/>
                <a:cs typeface="Arial"/>
              </a:rPr>
              <a:t>02 — ROUND 4 / TARGET GROUP 1</a:t>
            </a:r>
            <a:endParaRPr lang="en-US" sz="900"/>
          </a:p>
        </p:txBody>
      </p:sp>
      <p:sp>
        <p:nvSpPr>
          <p:cNvPr id="326471166" name="Text 3"/>
          <p:cNvSpPr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4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Three target cases, one fixed</a:t>
            </a:r>
            <a:endParaRPr lang="en-US" sz="2400"/>
          </a:p>
        </p:txBody>
      </p:sp>
      <p:sp>
        <p:nvSpPr>
          <p:cNvPr id="2019299569" name="Text 4"/>
          <p:cNvSpPr/>
          <p:nvPr/>
        </p:nvSpPr>
        <p:spPr bwMode="auto">
          <a:xfrm>
            <a:off x="731520" y="1399032"/>
            <a:ext cx="7680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  <a:defRPr/>
            </a:pPr>
            <a:r>
              <a:rPr lang="en-US" sz="18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deficiency of hepatic phenylalanine hydroxylase</a:t>
            </a:r>
            <a:endParaRPr lang="en-US" sz="1800"/>
          </a:p>
        </p:txBody>
      </p:sp>
      <p:sp>
        <p:nvSpPr>
          <p:cNvPr id="513931137" name="Shape 5"/>
          <p:cNvSpPr/>
          <p:nvPr/>
        </p:nvSpPr>
        <p:spPr bwMode="auto">
          <a:xfrm>
            <a:off x="731520" y="1984248"/>
            <a:ext cx="7680960" cy="566928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571728150" name="Text 6"/>
          <p:cNvSpPr/>
          <p:nvPr/>
        </p:nvSpPr>
        <p:spPr bwMode="auto">
          <a:xfrm>
            <a:off x="941832" y="2157984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doc: </a:t>
            </a:r>
            <a:r>
              <a:rPr lang="en-US" sz="1450">
                <a:solidFill>
                  <a:srgbClr val="24364A"/>
                </a:solidFill>
                <a:latin typeface="Arial"/>
                <a:ea typeface="Arial"/>
                <a:cs typeface="Arial"/>
              </a:rPr>
              <a:t>1671881</a:t>
            </a:r>
            <a:endParaRPr lang="en-US" sz="1450"/>
          </a:p>
        </p:txBody>
      </p:sp>
      <p:sp>
        <p:nvSpPr>
          <p:cNvPr id="1956533116" name="Text 7"/>
          <p:cNvSpPr/>
          <p:nvPr/>
        </p:nvSpPr>
        <p:spPr bwMode="auto">
          <a:xfrm>
            <a:off x="3099816" y="2157984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gold: </a:t>
            </a:r>
            <a:r>
              <a:rPr lang="en-US" sz="1450">
                <a:solidFill>
                  <a:srgbClr val="24364A"/>
                </a:solidFill>
                <a:latin typeface="Arial"/>
                <a:ea typeface="Arial"/>
                <a:cs typeface="Arial"/>
              </a:rPr>
              <a:t>SpecificDisease</a:t>
            </a:r>
            <a:endParaRPr lang="en-US" sz="1450"/>
          </a:p>
        </p:txBody>
      </p:sp>
      <p:sp>
        <p:nvSpPr>
          <p:cNvPr id="774034110" name="Text 8"/>
          <p:cNvSpPr/>
          <p:nvPr/>
        </p:nvSpPr>
        <p:spPr bwMode="auto">
          <a:xfrm>
            <a:off x="6163056" y="21579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model: </a:t>
            </a:r>
            <a:r>
              <a:rPr lang="en-US" sz="1450">
                <a:solidFill>
                  <a:srgbClr val="24364A"/>
                </a:solidFill>
                <a:latin typeface="Arial"/>
                <a:ea typeface="Arial"/>
                <a:cs typeface="Arial"/>
              </a:rPr>
              <a:t>no entity</a:t>
            </a:r>
            <a:endParaRPr lang="en-US" sz="1450"/>
          </a:p>
        </p:txBody>
      </p:sp>
      <p:sp>
        <p:nvSpPr>
          <p:cNvPr id="1666338553" name="Shape 9"/>
          <p:cNvSpPr/>
          <p:nvPr/>
        </p:nvSpPr>
        <p:spPr bwMode="auto">
          <a:xfrm>
            <a:off x="731520" y="2825496"/>
            <a:ext cx="7680960" cy="1536192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pic>
        <p:nvPicPr>
          <p:cNvPr id="114997223" name="Image 0" descr="Source quotation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32688" y="3026664"/>
            <a:ext cx="219456" cy="219456"/>
          </a:xfrm>
          <a:prstGeom prst="rect">
            <a:avLst/>
          </a:prstGeom>
        </p:spPr>
      </p:pic>
      <p:sp>
        <p:nvSpPr>
          <p:cNvPr id="1444827908" name="Text 10"/>
          <p:cNvSpPr/>
          <p:nvPr/>
        </p:nvSpPr>
        <p:spPr bwMode="auto">
          <a:xfrm>
            <a:off x="1325880" y="3008376"/>
            <a:ext cx="6839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650">
                <a:solidFill>
                  <a:srgbClr val="24364A"/>
                </a:solidFill>
                <a:latin typeface="Arial"/>
                <a:ea typeface="Arial"/>
                <a:cs typeface="Arial"/>
              </a:rPr>
              <a:t>Classical phenylketonuria is an autosomal recessive disease caused by a </a:t>
            </a:r>
            <a:r>
              <a:rPr lang="en-US" sz="16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deficiency of hepatic phenylalanine hydroxylase</a:t>
            </a:r>
            <a:r>
              <a:rPr lang="en-US" sz="1650">
                <a:solidFill>
                  <a:srgbClr val="24364A"/>
                </a:solidFill>
                <a:latin typeface="Arial"/>
                <a:ea typeface="Arial"/>
                <a:cs typeface="Arial"/>
              </a:rPr>
              <a:t> (PAH).</a:t>
            </a:r>
            <a:endParaRPr lang="en-US" sz="16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635148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1502001674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21 / 29</a:t>
            </a:r>
            <a:endParaRPr lang="en-US" sz="950"/>
          </a:p>
        </p:txBody>
      </p:sp>
      <p:sp>
        <p:nvSpPr>
          <p:cNvPr id="1186318622" name="Text 2"/>
          <p:cNvSpPr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spc="400">
                <a:solidFill>
                  <a:srgbClr val="647386"/>
                </a:solidFill>
                <a:latin typeface="Arial"/>
                <a:ea typeface="Arial"/>
                <a:cs typeface="Arial"/>
              </a:rPr>
              <a:t>02 — ROUND 4 / PIPELINE STAGES 1 AND 2</a:t>
            </a:r>
            <a:endParaRPr lang="en-US" sz="900"/>
          </a:p>
        </p:txBody>
      </p:sp>
      <p:sp>
        <p:nvSpPr>
          <p:cNvPr id="1089609244" name="Text 3"/>
          <p:cNvSpPr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4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This round names the deficiency phrases directly</a:t>
            </a:r>
            <a:endParaRPr lang="en-US" sz="2400"/>
          </a:p>
        </p:txBody>
      </p:sp>
      <p:sp>
        <p:nvSpPr>
          <p:cNvPr id="1264423440" name="Text 4"/>
          <p:cNvSpPr/>
          <p:nvPr/>
        </p:nvSpPr>
        <p:spPr bwMode="auto">
          <a:xfrm>
            <a:off x="731520" y="143560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100" b="1" spc="160">
                <a:solidFill>
                  <a:srgbClr val="00529B"/>
                </a:solidFill>
                <a:latin typeface="Arial"/>
                <a:ea typeface="Arial"/>
                <a:cs typeface="Arial"/>
              </a:rPr>
              <a:t>INFERRED PATTERN, PROPOSED RULE</a:t>
            </a:r>
            <a:endParaRPr lang="en-US" sz="1100"/>
          </a:p>
        </p:txBody>
      </p:sp>
      <p:sp>
        <p:nvSpPr>
          <p:cNvPr id="1614084421" name="Shape 5"/>
          <p:cNvSpPr/>
          <p:nvPr/>
        </p:nvSpPr>
        <p:spPr bwMode="auto">
          <a:xfrm>
            <a:off x="731520" y="1819656"/>
            <a:ext cx="7680960" cy="2560320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pic>
        <p:nvPicPr>
          <p:cNvPr id="1807077827" name="Image 0" descr="Inferred pattern and proposed rul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50976" y="2039112"/>
            <a:ext cx="265176" cy="265176"/>
          </a:xfrm>
          <a:prstGeom prst="rect">
            <a:avLst/>
          </a:prstGeom>
        </p:spPr>
      </p:pic>
      <p:sp>
        <p:nvSpPr>
          <p:cNvPr id="97114894" name="Text 6"/>
          <p:cNvSpPr/>
          <p:nvPr/>
        </p:nvSpPr>
        <p:spPr bwMode="auto">
          <a:xfrm>
            <a:off x="1399032" y="2011680"/>
            <a:ext cx="6739128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  <a:defRPr/>
            </a:pPr>
            <a:r>
              <a:rPr lang="en-US" sz="1800">
                <a:solidFill>
                  <a:srgbClr val="24364A"/>
                </a:solidFill>
                <a:latin typeface="Arial"/>
                <a:ea typeface="Arial"/>
                <a:cs typeface="Arial"/>
              </a:rPr>
              <a:t>When a phrase is headed by </a:t>
            </a:r>
            <a:r>
              <a:rPr lang="en-US" sz="18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deficiency/deficient activity</a:t>
            </a:r>
            <a:r>
              <a:rPr lang="en-US" sz="1800">
                <a:solidFill>
                  <a:srgbClr val="24364A"/>
                </a:solidFill>
                <a:latin typeface="Arial"/>
                <a:ea typeface="Arial"/>
                <a:cs typeface="Arial"/>
              </a:rPr>
              <a:t> and its complement is a specific enzyme/gene/protein, treat it as </a:t>
            </a:r>
            <a:r>
              <a:rPr lang="en-US" sz="18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SpecificDisease</a:t>
            </a:r>
            <a:r>
              <a:rPr lang="en-US" sz="1800">
                <a:solidFill>
                  <a:srgbClr val="24364A"/>
                </a:solidFill>
                <a:latin typeface="Arial"/>
                <a:ea typeface="Arial"/>
                <a:cs typeface="Arial"/>
              </a:rPr>
              <a:t> if it is used to denote </a:t>
            </a:r>
            <a:r>
              <a:rPr lang="en-US" sz="18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the disorder/clinical condition itself</a:t>
            </a:r>
            <a:r>
              <a:rPr lang="en-US" sz="1800">
                <a:solidFill>
                  <a:srgbClr val="24364A"/>
                </a:solidFill>
                <a:latin typeface="Arial"/>
                <a:ea typeface="Arial"/>
                <a:cs typeface="Arial"/>
              </a:rPr>
              <a:t>, especially in disease-defining frames like "caused by," "characterized by," or "responsible for."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3616066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1417640477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22 / 29</a:t>
            </a:r>
            <a:endParaRPr lang="en-US" sz="950"/>
          </a:p>
        </p:txBody>
      </p:sp>
      <p:sp>
        <p:nvSpPr>
          <p:cNvPr id="1754346479" name="Text 2"/>
          <p:cNvSpPr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spc="400">
                <a:solidFill>
                  <a:srgbClr val="647386"/>
                </a:solidFill>
                <a:latin typeface="Arial"/>
                <a:ea typeface="Arial"/>
                <a:cs typeface="Arial"/>
              </a:rPr>
              <a:t>02 — ROUND 4 / PIPELINE STAGES 1 AND 2</a:t>
            </a:r>
            <a:endParaRPr lang="en-US" sz="900"/>
          </a:p>
        </p:txBody>
      </p:sp>
      <p:sp>
        <p:nvSpPr>
          <p:cNvPr id="669121256" name="Text 3"/>
          <p:cNvSpPr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4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PROPOSED PRINCIPLE</a:t>
            </a:r>
            <a:endParaRPr lang="en-US" sz="2400"/>
          </a:p>
        </p:txBody>
      </p:sp>
      <p:sp>
        <p:nvSpPr>
          <p:cNvPr id="1201619314" name="Shape 4"/>
          <p:cNvSpPr/>
          <p:nvPr/>
        </p:nvSpPr>
        <p:spPr bwMode="auto">
          <a:xfrm>
            <a:off x="731520" y="1481328"/>
            <a:ext cx="7680960" cy="1737360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1919307498" name="Text 5"/>
          <p:cNvSpPr/>
          <p:nvPr/>
        </p:nvSpPr>
        <p:spPr bwMode="auto">
          <a:xfrm>
            <a:off x="960120" y="1691640"/>
            <a:ext cx="72237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15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IF</a:t>
            </a:r>
            <a:r>
              <a:rPr lang="en-US" sz="1550">
                <a:solidFill>
                  <a:srgbClr val="24364A"/>
                </a:solidFill>
                <a:latin typeface="Arial"/>
                <a:ea typeface="Arial"/>
                <a:cs typeface="Arial"/>
              </a:rPr>
              <a:t> a noun phrase is headed by a deficit/absence nominalization or reduced-function expression and takes a complement naming a specific molecular entity (e.g., an enzyme, gene, or protein), and the phrase is used in a disease-denoting frame such as definition, causation, characterization, or responsibility for a clinical condition, </a:t>
            </a:r>
            <a:r>
              <a:rPr lang="en-US" sz="15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THEN annotate the whole phrase as SpecificDisease</a:t>
            </a:r>
            <a:r>
              <a:rPr lang="en-US" sz="1550">
                <a:solidFill>
                  <a:srgbClr val="24364A"/>
                </a:solidFill>
                <a:latin typeface="Arial"/>
                <a:ea typeface="Arial"/>
                <a:cs typeface="Arial"/>
              </a:rPr>
              <a:t>;</a:t>
            </a:r>
            <a:endParaRPr lang="en-US" sz="1550"/>
          </a:p>
        </p:txBody>
      </p:sp>
      <p:sp>
        <p:nvSpPr>
          <p:cNvPr id="698207056" name="Shape 6"/>
          <p:cNvSpPr/>
          <p:nvPr/>
        </p:nvSpPr>
        <p:spPr bwMode="auto">
          <a:xfrm>
            <a:off x="731520" y="3447288"/>
            <a:ext cx="7680960" cy="1024128"/>
          </a:xfrm>
          <a:prstGeom prst="rect">
            <a:avLst/>
          </a:prstGeom>
          <a:solidFill>
            <a:srgbClr val="FFF9E9"/>
          </a:solidFill>
          <a:ln w="12700">
            <a:solidFill>
              <a:srgbClr val="FFF9E9"/>
            </a:solidFill>
            <a:prstDash val="solid"/>
          </a:ln>
        </p:spPr>
      </p:sp>
      <p:sp>
        <p:nvSpPr>
          <p:cNvPr id="546692225" name="Text 7"/>
          <p:cNvSpPr/>
          <p:nvPr/>
        </p:nvSpPr>
        <p:spPr bwMode="auto">
          <a:xfrm>
            <a:off x="960120" y="3648456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6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DO NOT apply this rule</a:t>
            </a:r>
            <a:r>
              <a:rPr lang="en-US" sz="1600">
                <a:solidFill>
                  <a:srgbClr val="24364A"/>
                </a:solidFill>
                <a:latin typeface="Arial"/>
                <a:ea typeface="Arial"/>
                <a:cs typeface="Arial"/>
              </a:rPr>
              <a:t> when the same wording refers only to an isolated biochemical finding, mechanistic description, or laboratory abnormality </a:t>
            </a:r>
            <a:r>
              <a:rPr lang="en-US" sz="16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rather than the disorder itself</a:t>
            </a:r>
            <a:r>
              <a:rPr lang="en-US" sz="1600">
                <a:solidFill>
                  <a:srgbClr val="24364A"/>
                </a:solidFill>
                <a:latin typeface="Arial"/>
                <a:ea typeface="Arial"/>
                <a:cs typeface="Arial"/>
              </a:rPr>
              <a:t>.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930859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2008315504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23 / 29</a:t>
            </a:r>
            <a:endParaRPr lang="en-US" sz="950"/>
          </a:p>
        </p:txBody>
      </p:sp>
      <p:sp>
        <p:nvSpPr>
          <p:cNvPr id="1348660665" name="Text 2"/>
          <p:cNvSpPr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spc="400">
                <a:solidFill>
                  <a:srgbClr val="647386"/>
                </a:solidFill>
                <a:latin typeface="Arial"/>
                <a:ea typeface="Arial"/>
                <a:cs typeface="Arial"/>
              </a:rPr>
              <a:t>02 — ROUND 4 / LINES 12 AND 14</a:t>
            </a:r>
            <a:endParaRPr lang="en-US" sz="900"/>
          </a:p>
        </p:txBody>
      </p:sp>
      <p:sp>
        <p:nvSpPr>
          <p:cNvPr id="621428040" name="Text 3"/>
          <p:cNvSpPr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4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A new rule, and a revision over the old one</a:t>
            </a:r>
            <a:endParaRPr lang="en-US" sz="2400"/>
          </a:p>
        </p:txBody>
      </p:sp>
      <p:sp>
        <p:nvSpPr>
          <p:cNvPr id="898806677" name="Text 4"/>
          <p:cNvSpPr/>
          <p:nvPr/>
        </p:nvSpPr>
        <p:spPr bwMode="auto">
          <a:xfrm>
            <a:off x="731520" y="1362455"/>
            <a:ext cx="6035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100" b="1" spc="160">
                <a:solidFill>
                  <a:srgbClr val="00529B"/>
                </a:solidFill>
                <a:latin typeface="Arial"/>
                <a:ea typeface="Arial"/>
                <a:cs typeface="Arial"/>
              </a:rPr>
              <a:t>NEW RULES</a:t>
            </a:r>
            <a:endParaRPr lang="en-US" sz="1100"/>
          </a:p>
        </p:txBody>
      </p:sp>
      <p:sp>
        <p:nvSpPr>
          <p:cNvPr id="1218813454" name="Text 5"/>
          <p:cNvSpPr/>
          <p:nvPr/>
        </p:nvSpPr>
        <p:spPr bwMode="auto">
          <a:xfrm>
            <a:off x="7260336" y="1362455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100" b="1" spc="160">
                <a:solidFill>
                  <a:srgbClr val="00529B"/>
                </a:solidFill>
                <a:latin typeface="Arial"/>
                <a:ea typeface="Arial"/>
                <a:cs typeface="Arial"/>
              </a:rPr>
              <a:t>LINE 12:</a:t>
            </a:r>
            <a:endParaRPr lang="en-US" sz="1100"/>
          </a:p>
        </p:txBody>
      </p:sp>
      <p:sp>
        <p:nvSpPr>
          <p:cNvPr id="360242545" name="Shape 6"/>
          <p:cNvSpPr/>
          <p:nvPr/>
        </p:nvSpPr>
        <p:spPr bwMode="auto">
          <a:xfrm>
            <a:off x="731520" y="1746504"/>
            <a:ext cx="7680960" cy="2715768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pic>
        <p:nvPicPr>
          <p:cNvPr id="327286894" name="Image 0" descr="Guideline line 1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50976" y="1965960"/>
            <a:ext cx="237744" cy="237744"/>
          </a:xfrm>
          <a:prstGeom prst="rect">
            <a:avLst/>
          </a:prstGeom>
        </p:spPr>
      </p:pic>
      <p:sp>
        <p:nvSpPr>
          <p:cNvPr id="83465633" name="Text 7"/>
          <p:cNvSpPr/>
          <p:nvPr/>
        </p:nvSpPr>
        <p:spPr bwMode="auto">
          <a:xfrm>
            <a:off x="1362455" y="1947671"/>
            <a:ext cx="6766560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50">
                <a:solidFill>
                  <a:srgbClr val="24364A"/>
                </a:solidFill>
                <a:latin typeface="Arial"/>
                <a:ea typeface="Arial"/>
                <a:cs typeface="Arial"/>
              </a:rPr>
              <a:t>A noun phrase headed by a deficit/absence nominalization or reduced-function expression (e.g., "deficiency," "absence," "loss," "reduced activity," "deficient activity") and completed by a specific molecular entity (e.g., an enzyme, gene, protein, gene product, or complement component) is </a:t>
            </a:r>
            <a:r>
              <a:rPr lang="en-US" sz="15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not automatically excluded from disease annotation</a:t>
            </a:r>
            <a:r>
              <a:rPr lang="en-US" sz="1550">
                <a:solidFill>
                  <a:srgbClr val="24364A"/>
                </a:solidFill>
                <a:latin typeface="Arial"/>
                <a:ea typeface="Arial"/>
                <a:cs typeface="Arial"/>
              </a:rPr>
              <a:t>. If the full phrase is used reverentially to denote a pathological deficiency state or named deficiency disorder, often signaled by disease-definition, causation, characterization, or responsibility-for-condition context, </a:t>
            </a:r>
            <a:r>
              <a:rPr lang="en-US" sz="15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annotate the whole phrase as Specific Disease</a:t>
            </a:r>
            <a:r>
              <a:rPr lang="en-US" sz="1550">
                <a:solidFill>
                  <a:srgbClr val="24364A"/>
                </a:solidFill>
                <a:latin typeface="Arial"/>
                <a:ea typeface="Arial"/>
                <a:cs typeface="Arial"/>
              </a:rPr>
              <a:t>.</a:t>
            </a:r>
            <a:endParaRPr lang="en-US" sz="15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614064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1454291216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24 / 29</a:t>
            </a:r>
            <a:endParaRPr lang="en-US" sz="950"/>
          </a:p>
        </p:txBody>
      </p:sp>
      <p:sp>
        <p:nvSpPr>
          <p:cNvPr id="1468954165" name="Text 2"/>
          <p:cNvSpPr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spc="400">
                <a:solidFill>
                  <a:srgbClr val="647386"/>
                </a:solidFill>
                <a:latin typeface="Arial"/>
                <a:ea typeface="Arial"/>
                <a:cs typeface="Arial"/>
              </a:rPr>
              <a:t>02 — ROUND 4 / LINES 12 AND 14</a:t>
            </a:r>
            <a:endParaRPr lang="en-US" sz="900"/>
          </a:p>
        </p:txBody>
      </p:sp>
      <p:sp>
        <p:nvSpPr>
          <p:cNvPr id="1647678098" name="Text 3"/>
          <p:cNvSpPr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4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NEW RULES</a:t>
            </a:r>
            <a:endParaRPr lang="en-US" sz="2400"/>
          </a:p>
        </p:txBody>
      </p:sp>
      <p:sp>
        <p:nvSpPr>
          <p:cNvPr id="943233003" name="Shape 4"/>
          <p:cNvSpPr/>
          <p:nvPr/>
        </p:nvSpPr>
        <p:spPr bwMode="auto">
          <a:xfrm>
            <a:off x="731520" y="1389888"/>
            <a:ext cx="7680960" cy="1078992"/>
          </a:xfrm>
          <a:prstGeom prst="rect">
            <a:avLst/>
          </a:prstGeom>
          <a:solidFill>
            <a:srgbClr val="FFF9E9"/>
          </a:solidFill>
          <a:ln w="12700">
            <a:solidFill>
              <a:srgbClr val="FFF9E9"/>
            </a:solidFill>
            <a:prstDash val="solid"/>
          </a:ln>
        </p:spPr>
      </p:sp>
      <p:sp>
        <p:nvSpPr>
          <p:cNvPr id="259557724" name="Text 5"/>
          <p:cNvSpPr/>
          <p:nvPr/>
        </p:nvSpPr>
        <p:spPr bwMode="auto">
          <a:xfrm>
            <a:off x="960120" y="1536192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15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LINE 13:</a:t>
            </a:r>
            <a:r>
              <a:rPr lang="en-US" sz="1550">
                <a:solidFill>
                  <a:srgbClr val="24364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5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Do not annotate</a:t>
            </a:r>
            <a:r>
              <a:rPr lang="en-US" sz="1550">
                <a:solidFill>
                  <a:srgbClr val="24364A"/>
                </a:solidFill>
                <a:latin typeface="Arial"/>
                <a:ea typeface="Arial"/>
                <a:cs typeface="Arial"/>
              </a:rPr>
              <a:t> the previous type of phrase when it refers only to an isolated biochemical finding, molecular measurement, mechanistic explanation, or laboratory abnormality rather than to the disorder/pathological condition itself.</a:t>
            </a:r>
            <a:endParaRPr lang="en-US" sz="1550"/>
          </a:p>
        </p:txBody>
      </p:sp>
      <p:sp>
        <p:nvSpPr>
          <p:cNvPr id="1022263867" name="Shape 6"/>
          <p:cNvSpPr/>
          <p:nvPr/>
        </p:nvSpPr>
        <p:spPr bwMode="auto">
          <a:xfrm>
            <a:off x="731520" y="2670048"/>
            <a:ext cx="7680960" cy="1517904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1435772984" name="Text 7"/>
          <p:cNvSpPr/>
          <p:nvPr/>
        </p:nvSpPr>
        <p:spPr bwMode="auto">
          <a:xfrm>
            <a:off x="960120" y="2816352"/>
            <a:ext cx="7223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LINE 14:</a:t>
            </a:r>
            <a:r>
              <a:rPr lang="en-US" sz="1500">
                <a:solidFill>
                  <a:srgbClr val="24364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5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Outside the deficit/absence/reduced-function case described above</a:t>
            </a:r>
            <a:r>
              <a:rPr lang="en-US" sz="1500">
                <a:solidFill>
                  <a:srgbClr val="24364A"/>
                </a:solidFill>
                <a:latin typeface="Arial"/>
                <a:ea typeface="Arial"/>
                <a:cs typeface="Arial"/>
              </a:rPr>
              <a:t>, do not apply the previous bullets when the phrase refers only to a normal biological process, a mechanistic biological process, a molecular/substance entity or its level/activity, or an isolated descriptive finding that is not presented as a pathological condition of the patient/disorder. Such phrases are </a:t>
            </a:r>
            <a:r>
              <a:rPr lang="en-US" sz="15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not disease mentions</a:t>
            </a:r>
            <a:r>
              <a:rPr lang="en-US" sz="1500">
                <a:solidFill>
                  <a:srgbClr val="24364A"/>
                </a:solidFill>
                <a:latin typeface="Arial"/>
                <a:ea typeface="Arial"/>
                <a:cs typeface="Arial"/>
              </a:rPr>
              <a:t>.</a:t>
            </a:r>
            <a:endParaRPr lang="en-US" sz="1500"/>
          </a:p>
        </p:txBody>
      </p:sp>
      <p:sp>
        <p:nvSpPr>
          <p:cNvPr id="132921049" name="Text 8"/>
          <p:cNvSpPr/>
          <p:nvPr/>
        </p:nvSpPr>
        <p:spPr bwMode="auto">
          <a:xfrm>
            <a:off x="731520" y="43525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350">
                <a:solidFill>
                  <a:srgbClr val="647386"/>
                </a:solidFill>
                <a:latin typeface="Arial"/>
                <a:ea typeface="Arial"/>
                <a:cs typeface="Arial"/>
              </a:rPr>
              <a:t>LINE 14 here is a revision of the the guideline added in round 3, see comparsion in next slide.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38723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1285890307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25 / 29</a:t>
            </a:r>
            <a:endParaRPr lang="en-US" sz="950"/>
          </a:p>
        </p:txBody>
      </p:sp>
      <p:sp>
        <p:nvSpPr>
          <p:cNvPr id="2004121164" name="Text 2"/>
          <p:cNvSpPr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spc="400">
                <a:solidFill>
                  <a:srgbClr val="647386"/>
                </a:solidFill>
                <a:latin typeface="Arial"/>
                <a:ea typeface="Arial"/>
                <a:cs typeface="Arial"/>
              </a:rPr>
              <a:t>02 — ROUND 4 / GUIDELINE REVISION</a:t>
            </a:r>
            <a:endParaRPr lang="en-US" sz="900"/>
          </a:p>
        </p:txBody>
      </p:sp>
      <p:sp>
        <p:nvSpPr>
          <p:cNvPr id="322417215" name="Text 3"/>
          <p:cNvSpPr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4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ROUND4 revised the guideline after ROUND3</a:t>
            </a:r>
            <a:endParaRPr lang="en-US" sz="2400"/>
          </a:p>
        </p:txBody>
      </p:sp>
      <p:sp>
        <p:nvSpPr>
          <p:cNvPr id="1428201969" name="Text 4"/>
          <p:cNvSpPr/>
          <p:nvPr/>
        </p:nvSpPr>
        <p:spPr bwMode="auto">
          <a:xfrm>
            <a:off x="731520" y="138074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100" b="1" spc="160">
                <a:solidFill>
                  <a:srgbClr val="00529B"/>
                </a:solidFill>
                <a:latin typeface="Arial"/>
                <a:ea typeface="Arial"/>
                <a:cs typeface="Arial"/>
              </a:rPr>
              <a:t>ROUND3:</a:t>
            </a:r>
            <a:endParaRPr lang="en-US" sz="1100"/>
          </a:p>
        </p:txBody>
      </p:sp>
      <p:sp>
        <p:nvSpPr>
          <p:cNvPr id="1763029884" name="Shape 5"/>
          <p:cNvSpPr/>
          <p:nvPr/>
        </p:nvSpPr>
        <p:spPr bwMode="auto">
          <a:xfrm>
            <a:off x="731520" y="1746504"/>
            <a:ext cx="7680960" cy="1691640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870380807" name="Text 6"/>
          <p:cNvSpPr/>
          <p:nvPr/>
        </p:nvSpPr>
        <p:spPr bwMode="auto">
          <a:xfrm>
            <a:off x="960120" y="1947671"/>
            <a:ext cx="72237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Do not apply the previous bullet</a:t>
            </a:r>
            <a:r>
              <a:rPr lang="en-US" sz="1550">
                <a:solidFill>
                  <a:srgbClr val="24364A"/>
                </a:solidFill>
                <a:latin typeface="Arial"/>
                <a:ea typeface="Arial"/>
                <a:cs typeface="Arial"/>
              </a:rPr>
              <a:t> (</a:t>
            </a:r>
            <a:r>
              <a:rPr lang="en-US" sz="15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ANNOTATE DiseaseClass</a:t>
            </a:r>
            <a:r>
              <a:rPr lang="en-US" sz="1550">
                <a:solidFill>
                  <a:srgbClr val="24364A"/>
                </a:solidFill>
                <a:latin typeface="Arial"/>
                <a:ea typeface="Arial"/>
                <a:cs typeface="Arial"/>
              </a:rPr>
              <a:t>) when the phrase refers only to a normal biological process, a mechanistic biological process, a molecular/substance entity or its level/activity, or an isolated descriptive finding that is not presented as a pathological condition of the patient/disorder. Such phrases are </a:t>
            </a:r>
            <a:r>
              <a:rPr lang="en-US" sz="155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not disease mentions</a:t>
            </a:r>
            <a:r>
              <a:rPr lang="en-US" sz="1550">
                <a:solidFill>
                  <a:srgbClr val="24364A"/>
                </a:solidFill>
                <a:latin typeface="Arial"/>
                <a:ea typeface="Arial"/>
                <a:cs typeface="Arial"/>
              </a:rPr>
              <a:t>.</a:t>
            </a:r>
            <a:endParaRPr lang="en-US" sz="1550"/>
          </a:p>
        </p:txBody>
      </p:sp>
      <p:sp>
        <p:nvSpPr>
          <p:cNvPr id="1817747153" name="Text 7"/>
          <p:cNvSpPr/>
          <p:nvPr/>
        </p:nvSpPr>
        <p:spPr bwMode="auto">
          <a:xfrm>
            <a:off x="731520" y="3694176"/>
            <a:ext cx="7680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50">
                <a:solidFill>
                  <a:srgbClr val="24364A"/>
                </a:solidFill>
                <a:latin typeface="Arial"/>
                <a:ea typeface="Arial"/>
                <a:cs typeface="Arial"/>
              </a:rPr>
              <a:t>So the one in round3 over broadly exclude disease mentions, even include the 3 discrepancies this round, thus in round4, the deficiency of XX are excluded from the guideline in round3, see round4:</a:t>
            </a:r>
            <a:endParaRPr lang="en-US" sz="15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589919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707615740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26 / 29</a:t>
            </a:r>
            <a:endParaRPr lang="en-US" sz="950"/>
          </a:p>
        </p:txBody>
      </p:sp>
      <p:sp>
        <p:nvSpPr>
          <p:cNvPr id="1841672621" name="Text 2"/>
          <p:cNvSpPr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spc="400">
                <a:solidFill>
                  <a:srgbClr val="647386"/>
                </a:solidFill>
                <a:latin typeface="Arial"/>
                <a:ea typeface="Arial"/>
                <a:cs typeface="Arial"/>
              </a:rPr>
              <a:t>02 — ROUND 4 / GUIDELINE REVISION</a:t>
            </a:r>
            <a:endParaRPr lang="en-US" sz="900"/>
          </a:p>
        </p:txBody>
      </p:sp>
      <p:sp>
        <p:nvSpPr>
          <p:cNvPr id="870196198" name="Text 3"/>
          <p:cNvSpPr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4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ROUND4 revised the guideline after ROUND3</a:t>
            </a:r>
            <a:endParaRPr lang="en-US" sz="2400"/>
          </a:p>
        </p:txBody>
      </p:sp>
      <p:sp>
        <p:nvSpPr>
          <p:cNvPr id="139529263" name="Text 4"/>
          <p:cNvSpPr/>
          <p:nvPr/>
        </p:nvSpPr>
        <p:spPr bwMode="auto">
          <a:xfrm>
            <a:off x="731520" y="138074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100" b="1" spc="160">
                <a:solidFill>
                  <a:srgbClr val="00529B"/>
                </a:solidFill>
                <a:latin typeface="Arial"/>
                <a:ea typeface="Arial"/>
                <a:cs typeface="Arial"/>
              </a:rPr>
              <a:t>ROUND4:</a:t>
            </a:r>
            <a:endParaRPr lang="en-US" sz="1100"/>
          </a:p>
        </p:txBody>
      </p:sp>
      <p:sp>
        <p:nvSpPr>
          <p:cNvPr id="1018808621" name="Shape 5"/>
          <p:cNvSpPr/>
          <p:nvPr/>
        </p:nvSpPr>
        <p:spPr bwMode="auto">
          <a:xfrm>
            <a:off x="731520" y="1764792"/>
            <a:ext cx="7680960" cy="2651760"/>
          </a:xfrm>
          <a:prstGeom prst="rect">
            <a:avLst/>
          </a:prstGeom>
          <a:solidFill>
            <a:srgbClr val="FFF9E9"/>
          </a:solidFill>
          <a:ln w="12700">
            <a:solidFill>
              <a:srgbClr val="FFF9E9"/>
            </a:solidFill>
            <a:prstDash val="solid"/>
          </a:ln>
        </p:spPr>
      </p:sp>
      <p:pic>
        <p:nvPicPr>
          <p:cNvPr id="146212711" name="Image 0" descr="Revised guidelin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50976" y="1993392"/>
            <a:ext cx="256032" cy="256032"/>
          </a:xfrm>
          <a:prstGeom prst="rect">
            <a:avLst/>
          </a:prstGeom>
        </p:spPr>
      </p:pic>
      <p:sp>
        <p:nvSpPr>
          <p:cNvPr id="1802087909" name="Text 6"/>
          <p:cNvSpPr/>
          <p:nvPr/>
        </p:nvSpPr>
        <p:spPr bwMode="auto">
          <a:xfrm>
            <a:off x="1380744" y="1984248"/>
            <a:ext cx="676656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6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Outside the deficit/absence/reduced-function case described above</a:t>
            </a:r>
            <a:r>
              <a:rPr lang="en-US" sz="1600">
                <a:solidFill>
                  <a:srgbClr val="24364A"/>
                </a:solidFill>
                <a:latin typeface="Arial"/>
                <a:ea typeface="Arial"/>
                <a:cs typeface="Arial"/>
              </a:rPr>
              <a:t> (LINE13 and LINE14 which ask model to annotate </a:t>
            </a:r>
            <a:r>
              <a:rPr lang="en-US" sz="16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SpecificDisease</a:t>
            </a:r>
            <a:r>
              <a:rPr lang="en-US" sz="1600">
                <a:solidFill>
                  <a:srgbClr val="24364A"/>
                </a:solidFill>
                <a:latin typeface="Arial"/>
                <a:ea typeface="Arial"/>
                <a:cs typeface="Arial"/>
              </a:rPr>
              <a:t>), do not apply the previous bullets when the phrase refers only to a normal biological process, a mechanistic biological process, a molecular/substance entity or its level/activity, or an isolated descriptive finding that is not presented as a pathological condition of the patient/disorder. Such phrases are </a:t>
            </a:r>
            <a:r>
              <a:rPr lang="en-US" sz="16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not disease mentions</a:t>
            </a:r>
            <a:r>
              <a:rPr lang="en-US" sz="1600">
                <a:solidFill>
                  <a:srgbClr val="24364A"/>
                </a:solidFill>
                <a:latin typeface="Arial"/>
                <a:ea typeface="Arial"/>
                <a:cs typeface="Arial"/>
              </a:rPr>
              <a:t>.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682574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1213863795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27 / 29</a:t>
            </a:r>
            <a:endParaRPr lang="en-US" sz="950"/>
          </a:p>
        </p:txBody>
      </p:sp>
      <p:sp>
        <p:nvSpPr>
          <p:cNvPr id="1009193631" name="Text 2"/>
          <p:cNvSpPr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spc="400">
                <a:solidFill>
                  <a:srgbClr val="647386"/>
                </a:solidFill>
                <a:latin typeface="Arial"/>
                <a:ea typeface="Arial"/>
                <a:cs typeface="Arial"/>
              </a:rPr>
              <a:t>02 — ROUND 4 / LINES 49 TO 52</a:t>
            </a:r>
            <a:endParaRPr lang="en-US" sz="900"/>
          </a:p>
        </p:txBody>
      </p:sp>
      <p:sp>
        <p:nvSpPr>
          <p:cNvPr id="78228144" name="Text 3"/>
          <p:cNvSpPr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4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A new wrong example in round4: norrin</a:t>
            </a:r>
            <a:endParaRPr lang="en-US" sz="2400"/>
          </a:p>
        </p:txBody>
      </p:sp>
      <p:sp>
        <p:nvSpPr>
          <p:cNvPr id="1526878604" name="Text 4"/>
          <p:cNvSpPr/>
          <p:nvPr/>
        </p:nvSpPr>
        <p:spPr bwMode="auto">
          <a:xfrm>
            <a:off x="731520" y="135331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100">
                <a:solidFill>
                  <a:srgbClr val="647386"/>
                </a:solidFill>
                <a:latin typeface="Arial"/>
                <a:ea typeface="Arial"/>
                <a:cs typeface="Arial"/>
              </a:rPr>
              <a:t>iteration_04/guidelines_after.txt, lines 49 to 52</a:t>
            </a:r>
            <a:endParaRPr lang="en-US" sz="1100"/>
          </a:p>
        </p:txBody>
      </p:sp>
      <p:sp>
        <p:nvSpPr>
          <p:cNvPr id="1095015091" name="Shape 5"/>
          <p:cNvSpPr/>
          <p:nvPr/>
        </p:nvSpPr>
        <p:spPr bwMode="auto">
          <a:xfrm>
            <a:off x="731520" y="1737360"/>
            <a:ext cx="7680960" cy="1563624"/>
          </a:xfrm>
          <a:prstGeom prst="rect">
            <a:avLst/>
          </a:prstGeom>
          <a:solidFill>
            <a:srgbClr val="FFF9E9"/>
          </a:solidFill>
          <a:ln w="12700">
            <a:solidFill>
              <a:srgbClr val="FFF9E9"/>
            </a:solidFill>
            <a:prstDash val="solid"/>
          </a:ln>
        </p:spPr>
      </p:sp>
      <p:pic>
        <p:nvPicPr>
          <p:cNvPr id="1854610200" name="Image 0" descr="Guideline exampl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41832" y="1938528"/>
            <a:ext cx="237744" cy="237744"/>
          </a:xfrm>
          <a:prstGeom prst="rect">
            <a:avLst/>
          </a:prstGeom>
        </p:spPr>
      </p:pic>
      <p:sp>
        <p:nvSpPr>
          <p:cNvPr id="839843497" name="Text 6"/>
          <p:cNvSpPr/>
          <p:nvPr/>
        </p:nvSpPr>
        <p:spPr bwMode="auto">
          <a:xfrm>
            <a:off x="1353312" y="1911096"/>
            <a:ext cx="6757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800">
                <a:solidFill>
                  <a:srgbClr val="24364A"/>
                </a:solidFill>
                <a:latin typeface="Arial"/>
                <a:ea typeface="Arial"/>
                <a:cs typeface="Arial"/>
              </a:rPr>
              <a:t>This results in a </a:t>
            </a:r>
            <a:r>
              <a:rPr lang="en-US" sz="18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deficiency of norrin</a:t>
            </a:r>
            <a:r>
              <a:rPr lang="en-US" sz="1800">
                <a:solidFill>
                  <a:srgbClr val="24364A"/>
                </a:solidFill>
                <a:latin typeface="Arial"/>
                <a:ea typeface="Arial"/>
                <a:cs typeface="Arial"/>
              </a:rPr>
              <a:t> within the developing retina.</a:t>
            </a:r>
            <a:endParaRPr lang="en-US" sz="1800"/>
          </a:p>
        </p:txBody>
      </p:sp>
      <p:sp>
        <p:nvSpPr>
          <p:cNvPr id="1719781257" name="Text 7"/>
          <p:cNvSpPr/>
          <p:nvPr/>
        </p:nvSpPr>
        <p:spPr bwMode="auto">
          <a:xfrm>
            <a:off x="1353312" y="2624328"/>
            <a:ext cx="67574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6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Do not annotate</a:t>
            </a:r>
            <a:r>
              <a:rPr lang="en-US" sz="1600">
                <a:solidFill>
                  <a:srgbClr val="24364A"/>
                </a:solidFill>
                <a:latin typeface="Arial"/>
                <a:ea typeface="Arial"/>
                <a:cs typeface="Arial"/>
              </a:rPr>
              <a:t>, because it describes a local mechanistic molecular abnormality rather than naming the disorder/pathological state itself.</a:t>
            </a:r>
            <a:endParaRPr lang="en-US" sz="1600"/>
          </a:p>
        </p:txBody>
      </p:sp>
      <p:sp>
        <p:nvSpPr>
          <p:cNvPr id="497950781" name="Text 8"/>
          <p:cNvSpPr/>
          <p:nvPr/>
        </p:nvSpPr>
        <p:spPr bwMode="auto">
          <a:xfrm>
            <a:off x="731520" y="352044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  <a:defRPr/>
            </a:pPr>
            <a:r>
              <a:rPr lang="en-US" sz="150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GUIDELINE: </a:t>
            </a:r>
            <a:r>
              <a:rPr lang="en-US" sz="15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DO NOT ANNOTATE</a:t>
            </a:r>
            <a:r>
              <a:rPr lang="en-US" sz="150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 GOLD in rounod 3: </a:t>
            </a:r>
            <a:r>
              <a:rPr lang="en-US" sz="15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DiseaseClass</a:t>
            </a:r>
            <a:r>
              <a:rPr lang="en-US" sz="1500" b="1">
                <a:solidFill>
                  <a:srgbClr val="24364A"/>
                </a:solidFill>
                <a:latin typeface="Arial"/>
                <a:ea typeface="Arial"/>
                <a:cs typeface="Arial"/>
              </a:rPr>
              <a:t> (doc 10484772)</a:t>
            </a:r>
            <a:endParaRPr lang="en-US" sz="1500"/>
          </a:p>
        </p:txBody>
      </p:sp>
      <p:sp>
        <p:nvSpPr>
          <p:cNvPr id="1805082764" name="Text 9"/>
          <p:cNvSpPr/>
          <p:nvPr/>
        </p:nvSpPr>
        <p:spPr bwMode="auto">
          <a:xfrm>
            <a:off x="731520" y="408736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100" b="1" spc="160">
                <a:solidFill>
                  <a:srgbClr val="00529B"/>
                </a:solidFill>
                <a:latin typeface="Arial"/>
                <a:ea typeface="Arial"/>
                <a:cs typeface="Arial"/>
              </a:rPr>
              <a:t>WHY THE MODEL WROTE THE OPPOSITE OF GOLD</a:t>
            </a:r>
            <a:endParaRPr lang="en-US" sz="1100"/>
          </a:p>
        </p:txBody>
      </p:sp>
      <p:sp>
        <p:nvSpPr>
          <p:cNvPr id="1664557372" name="Text 10"/>
          <p:cNvSpPr/>
          <p:nvPr/>
        </p:nvSpPr>
        <p:spPr bwMode="auto">
          <a:xfrm>
            <a:off x="731520" y="4389120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24364A"/>
                </a:solidFill>
                <a:latin typeface="Arial"/>
                <a:ea typeface="Arial"/>
                <a:cs typeface="Arial"/>
              </a:rPr>
              <a:t>Same mechanism as round 3.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671751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668898806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28 / 29</a:t>
            </a:r>
            <a:endParaRPr lang="en-US" sz="950"/>
          </a:p>
        </p:txBody>
      </p:sp>
      <p:sp>
        <p:nvSpPr>
          <p:cNvPr id="1993879842" name="Text 2"/>
          <p:cNvSpPr/>
          <p:nvPr/>
        </p:nvSpPr>
        <p:spPr bwMode="auto">
          <a:xfrm>
            <a:off x="731520" y="8229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8000" b="1" spc="-200">
                <a:solidFill>
                  <a:srgbClr val="00529B"/>
                </a:solidFill>
                <a:latin typeface="Arial"/>
                <a:ea typeface="Arial"/>
                <a:cs typeface="Arial"/>
              </a:rPr>
              <a:t>03</a:t>
            </a:r>
            <a:endParaRPr lang="en-US" sz="8000"/>
          </a:p>
        </p:txBody>
      </p:sp>
      <p:sp>
        <p:nvSpPr>
          <p:cNvPr id="1552157462" name="Shape 3"/>
          <p:cNvSpPr/>
          <p:nvPr/>
        </p:nvSpPr>
        <p:spPr bwMode="auto">
          <a:xfrm>
            <a:off x="731520" y="2423160"/>
            <a:ext cx="640080" cy="22860"/>
          </a:xfrm>
          <a:prstGeom prst="rect">
            <a:avLst/>
          </a:prstGeom>
          <a:solidFill>
            <a:srgbClr val="D8AD27"/>
          </a:solidFill>
          <a:ln w="12700">
            <a:solidFill>
              <a:srgbClr val="D8AD27"/>
            </a:solidFill>
            <a:prstDash val="solid"/>
          </a:ln>
        </p:spPr>
      </p:sp>
      <p:sp>
        <p:nvSpPr>
          <p:cNvPr id="2018468100" name="Text 4"/>
          <p:cNvSpPr/>
          <p:nvPr/>
        </p:nvSpPr>
        <p:spPr bwMode="auto">
          <a:xfrm>
            <a:off x="731520" y="26060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36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WHAT THIS SHOWS</a:t>
            </a:r>
            <a:endParaRPr lang="en-US" sz="3600"/>
          </a:p>
        </p:txBody>
      </p:sp>
      <p:sp>
        <p:nvSpPr>
          <p:cNvPr id="2092217555" name="Text 5"/>
          <p:cNvSpPr/>
          <p:nvPr/>
        </p:nvSpPr>
        <p:spPr bwMode="auto">
          <a:xfrm>
            <a:off x="731520" y="3611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647386"/>
                </a:solidFill>
                <a:latin typeface="Arial"/>
                <a:ea typeface="Arial"/>
                <a:cs typeface="Arial"/>
              </a:rPr>
              <a:t>A wrong example is never removed.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548162" name="Text 0"/>
          <p:cNvSpPr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647386"/>
                </a:solidFill>
                <a:latin typeface="Arial"/>
                <a:ea typeface="Arial"/>
                <a:cs typeface="Arial"/>
              </a:rPr>
              <a:t>When Guideline Refinement Writes the Wrong Example</a:t>
            </a:r>
            <a:endParaRPr lang="en-US" sz="850"/>
          </a:p>
        </p:txBody>
      </p:sp>
      <p:sp>
        <p:nvSpPr>
          <p:cNvPr id="463048427" name="Text 1"/>
          <p:cNvSpPr/>
          <p:nvPr/>
        </p:nvSpPr>
        <p:spPr bwMode="auto">
          <a:xfrm>
            <a:off x="8257032" y="470001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386"/>
                </a:solidFill>
                <a:latin typeface="Arial"/>
                <a:ea typeface="Arial"/>
                <a:cs typeface="Arial"/>
              </a:rPr>
              <a:t>29 / 29</a:t>
            </a:r>
            <a:endParaRPr lang="en-US" sz="950"/>
          </a:p>
        </p:txBody>
      </p:sp>
      <p:sp>
        <p:nvSpPr>
          <p:cNvPr id="1733362373" name="Text 2"/>
          <p:cNvSpPr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spc="400">
                <a:solidFill>
                  <a:srgbClr val="647386"/>
                </a:solidFill>
                <a:latin typeface="Arial"/>
                <a:ea typeface="Arial"/>
                <a:cs typeface="Arial"/>
              </a:rPr>
              <a:t>03 — WHAT THIS SHOWS</a:t>
            </a:r>
            <a:endParaRPr lang="en-US" sz="900"/>
          </a:p>
        </p:txBody>
      </p:sp>
      <p:sp>
        <p:nvSpPr>
          <p:cNvPr id="51089120" name="Text 3"/>
          <p:cNvSpPr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400" b="1" spc="-40">
                <a:solidFill>
                  <a:srgbClr val="24364A"/>
                </a:solidFill>
                <a:latin typeface="Arial"/>
                <a:ea typeface="Arial"/>
                <a:cs typeface="Arial"/>
              </a:rPr>
              <a:t>A wrong example is never removed.</a:t>
            </a:r>
            <a:endParaRPr lang="en-US" sz="2400"/>
          </a:p>
        </p:txBody>
      </p:sp>
      <p:sp>
        <p:nvSpPr>
          <p:cNvPr id="518844739" name="Shape 4"/>
          <p:cNvSpPr/>
          <p:nvPr/>
        </p:nvSpPr>
        <p:spPr bwMode="auto">
          <a:xfrm>
            <a:off x="731520" y="1508759"/>
            <a:ext cx="3675888" cy="941832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190402245" name="Shape 5"/>
          <p:cNvSpPr/>
          <p:nvPr/>
        </p:nvSpPr>
        <p:spPr bwMode="auto">
          <a:xfrm>
            <a:off x="4617720" y="1508759"/>
            <a:ext cx="3794760" cy="941832"/>
          </a:xfrm>
          <a:prstGeom prst="rect">
            <a:avLst/>
          </a:prstGeom>
          <a:solidFill>
            <a:srgbClr val="FFF9E9"/>
          </a:solidFill>
          <a:ln w="12700">
            <a:solidFill>
              <a:srgbClr val="FFF9E9"/>
            </a:solidFill>
            <a:prstDash val="solid"/>
          </a:ln>
        </p:spPr>
      </p:sp>
      <p:sp>
        <p:nvSpPr>
          <p:cNvPr id="1825490963" name="Text 6"/>
          <p:cNvSpPr/>
          <p:nvPr/>
        </p:nvSpPr>
        <p:spPr bwMode="auto">
          <a:xfrm>
            <a:off x="932688" y="1673352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100" b="1" spc="160">
                <a:solidFill>
                  <a:srgbClr val="00529B"/>
                </a:solidFill>
                <a:latin typeface="Arial"/>
                <a:ea typeface="Arial"/>
                <a:cs typeface="Arial"/>
              </a:rPr>
              <a:t>ROUND 3</a:t>
            </a:r>
            <a:endParaRPr lang="en-US" sz="1100"/>
          </a:p>
        </p:txBody>
      </p:sp>
      <p:sp>
        <p:nvSpPr>
          <p:cNvPr id="1229646662" name="Text 7"/>
          <p:cNvSpPr/>
          <p:nvPr/>
        </p:nvSpPr>
        <p:spPr bwMode="auto">
          <a:xfrm>
            <a:off x="932688" y="2020824"/>
            <a:ext cx="3264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fatty aldehyde dehydrogenase</a:t>
            </a:r>
            <a:endParaRPr lang="en-US" sz="1600"/>
          </a:p>
        </p:txBody>
      </p:sp>
      <p:sp>
        <p:nvSpPr>
          <p:cNvPr id="1270505242" name="Text 8"/>
          <p:cNvSpPr/>
          <p:nvPr/>
        </p:nvSpPr>
        <p:spPr bwMode="auto">
          <a:xfrm>
            <a:off x="4818888" y="1673352"/>
            <a:ext cx="3392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100" b="1" spc="160">
                <a:solidFill>
                  <a:srgbClr val="00529B"/>
                </a:solidFill>
                <a:latin typeface="Arial"/>
                <a:ea typeface="Arial"/>
                <a:cs typeface="Arial"/>
              </a:rPr>
              <a:t>ROUND 4</a:t>
            </a:r>
            <a:endParaRPr lang="en-US" sz="1100"/>
          </a:p>
        </p:txBody>
      </p:sp>
      <p:sp>
        <p:nvSpPr>
          <p:cNvPr id="1451365289" name="Text 9"/>
          <p:cNvSpPr/>
          <p:nvPr/>
        </p:nvSpPr>
        <p:spPr bwMode="auto">
          <a:xfrm>
            <a:off x="4818888" y="2002536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9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norrin</a:t>
            </a:r>
            <a:endParaRPr lang="en-US" sz="1900"/>
          </a:p>
        </p:txBody>
      </p:sp>
      <p:sp>
        <p:nvSpPr>
          <p:cNvPr id="1066239547" name="Text 10"/>
          <p:cNvSpPr/>
          <p:nvPr/>
        </p:nvSpPr>
        <p:spPr bwMode="auto">
          <a:xfrm>
            <a:off x="731520" y="2798064"/>
            <a:ext cx="76809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700">
                <a:solidFill>
                  <a:srgbClr val="24364A"/>
                </a:solidFill>
                <a:latin typeface="Arial"/>
                <a:ea typeface="Arial"/>
                <a:cs typeface="Arial"/>
              </a:rPr>
              <a:t>Twice in two rounds: the fatty aldehyde dehydrogenase example in round 3, the norrin example in round 4. </a:t>
            </a:r>
            <a:r>
              <a:rPr lang="en-US" sz="17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Both contradict gold.</a:t>
            </a:r>
            <a:r>
              <a:rPr lang="en-US" sz="1700">
                <a:solidFill>
                  <a:srgbClr val="24364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700" b="1">
                <a:solidFill>
                  <a:srgbClr val="00529B"/>
                </a:solidFill>
                <a:latin typeface="Arial"/>
                <a:ea typeface="Arial"/>
                <a:cs typeface="Arial"/>
              </a:rPr>
              <a:t>Both stayed in the guideline.</a:t>
            </a:r>
            <a:endParaRPr lang="en-US" sz="1700"/>
          </a:p>
        </p:txBody>
      </p:sp>
      <p:sp>
        <p:nvSpPr>
          <p:cNvPr id="1954328581" name="Text 11"/>
          <p:cNvSpPr/>
          <p:nvPr/>
        </p:nvSpPr>
        <p:spPr bwMode="auto"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  <a:defRPr/>
            </a:pPr>
            <a:r>
              <a:rPr lang="en-US" sz="160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Later rounds patch around the current guidelines instead of deleting them, 導致Guideline不断变得膨大和指代不清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27</Slides>
  <Notes>27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Guideline Refinement Writes the Wrong Example</dc:title>
  <dc:subject>A failure analysis of iterative guideline refinement</dc:subject>
  <dc:creator>Hengyu Zhou</dc:creator>
  <cp:lastModifiedBy/>
  <cp:revision>2</cp:revision>
  <dcterms:created xsi:type="dcterms:W3CDTF">2026-10-01T14:01:18Z</dcterms:created>
  <dcterms:modified xsi:type="dcterms:W3CDTF">2026-10-01T14:57:17Z</dcterms:modified>
</cp:coreProperties>
</file>