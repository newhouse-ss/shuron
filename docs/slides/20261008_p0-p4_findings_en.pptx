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30936"/>
            <a:ext cx="493776" cy="82296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07592" y="630936"/>
            <a:ext cx="228600" cy="82296"/>
          </a:xfrm>
          <a:prstGeom prst="rect">
            <a:avLst/>
          </a:prstGeom>
          <a:solidFill>
            <a:srgbClr val="6473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680960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47386"/>
                </a:solidFill>
                <a:latin typeface="Arial"/>
              </a:rPr>
              <a:t>FIVE CONTROLLED CHECKS ON ITERATIVE GUIDELINE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364A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72968"/>
            <a:ext cx="7680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647386"/>
                </a:solidFill>
                <a:latin typeface="Arial"/>
              </a:rPr>
              <a:t>One failure case, five follow-up experiments — NCBI Disease, GPT-5.4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87952"/>
            <a:ext cx="7680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0529B"/>
                </a:solidFill>
                <a:latin typeface="Arial"/>
              </a:rPr>
              <a:t>Hengyu Zhou · 2026-10-08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The refinement loop, and the warning sign that started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Each round sees one error group and the already-correct cases — never the full evidence picture.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3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01 — SETUP /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One error group per round, accepted if dev F1 rises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1463040" cy="16002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572768"/>
            <a:ext cx="12435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1 · ANNOTATE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83664"/>
            <a:ext cx="12435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Score 10 dev documents with the current guideline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2576" y="1463040"/>
            <a:ext cx="1463040" cy="16002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4" y="1572768"/>
            <a:ext cx="12435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2 ·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1883664"/>
            <a:ext cx="12435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Cluster mismatches by (gold label, predicted label)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2" y="1463040"/>
            <a:ext cx="1463040" cy="16002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572768"/>
            <a:ext cx="12435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3 · ANALYZE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1883664"/>
            <a:ext cx="12435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Explain the largest group; condense to one principle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04688" y="1463040"/>
            <a:ext cx="1463040" cy="16002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4416" y="1572768"/>
            <a:ext cx="12435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4 · REWRITE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1883664"/>
            <a:ext cx="12435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Rewrite the guideline around the principle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5744" y="1463040"/>
            <a:ext cx="1463040" cy="16002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572768"/>
            <a:ext cx="12435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5 · ACCEPT?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1883664"/>
            <a:ext cx="12435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Keep the rewrite only if dev F1 improves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4364A"/>
                </a:solidFill>
                <a:latin typeface="Arial"/>
              </a:rPr>
              <a:t>Reference run: dev F1 0.7972 → 0.9091 in 4 rounds (stop at F1 ≥ 0.90).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77056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The warning sign: </a:t>
            </a:r>
            <a:r>
              <a:rPr sz="1400" b="0">
                <a:solidFill>
                  <a:srgbClr val="24364A"/>
                </a:solidFill>
                <a:latin typeface="Arial"/>
              </a:rPr>
              <a:t>the refined guideline came to contain </a:t>
            </a:r>
            <a:r>
              <a:rPr sz="1400" b="1">
                <a:solidFill>
                  <a:srgbClr val="B32D2D"/>
                </a:solidFill>
                <a:latin typeface="Arial"/>
              </a:rPr>
              <a:t>do-not-annotate examples that gold actually annotates</a:t>
            </a:r>
            <a:r>
              <a:rPr sz="1400" b="0">
                <a:solidFill>
                  <a:srgbClr val="2436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Both strings are gold mentions in the dev documents the loop was shown.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4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01 — SETUP / THE WARNING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Two exclusions that contradict gold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3657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WRITTEN INTO THE GUIDELINE (EXAMPLE 27)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7680960" cy="96012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28216"/>
            <a:ext cx="72786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4364A"/>
                </a:solidFill>
                <a:latin typeface="Arial"/>
              </a:rPr>
              <a:t>“Do not automatically annotate ‘deficient activity of fatty aldehyde dehydrogenase’ when it is only a biochemical/molecular abnormality or enzyme-activity readout…”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7680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64A"/>
                </a:solidFill>
                <a:latin typeface="Arial"/>
              </a:rPr>
              <a:t>gold: </a:t>
            </a:r>
            <a:r>
              <a:rPr sz="1250" b="1">
                <a:solidFill>
                  <a:srgbClr val="B32D2D"/>
                </a:solidFill>
                <a:latin typeface="Arial"/>
              </a:rPr>
              <a:t>SpecificDisease</a:t>
            </a:r>
            <a:r>
              <a:rPr sz="1250" b="0">
                <a:solidFill>
                  <a:srgbClr val="647386"/>
                </a:solidFill>
                <a:latin typeface="Arial"/>
              </a:rPr>
              <a:t>  ·  doc 10577908  ·  model misses it in every arm we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72384"/>
            <a:ext cx="3657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WRITTEN INTO THE GUIDELINE (COATS EXAMPLE)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46704"/>
            <a:ext cx="7680960" cy="96012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474720"/>
            <a:ext cx="72786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4364A"/>
                </a:solidFill>
                <a:latin typeface="Arial"/>
              </a:rPr>
              <a:t>“Do not annotate ‘abnormal retinal vascular development’ when it is used only as a mechanistic/process description rather than the condition mention itself.”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9976"/>
            <a:ext cx="7680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64A"/>
                </a:solidFill>
                <a:latin typeface="Arial"/>
              </a:rPr>
              <a:t>gold: </a:t>
            </a:r>
            <a:r>
              <a:rPr sz="1250" b="1">
                <a:solidFill>
                  <a:srgbClr val="B32D2D"/>
                </a:solidFill>
                <a:latin typeface="Arial"/>
              </a:rPr>
              <a:t>DiseaseClass</a:t>
            </a:r>
            <a:r>
              <a:rPr sz="1250" b="0">
                <a:solidFill>
                  <a:srgbClr val="647386"/>
                </a:solidFill>
                <a:latin typeface="Arial"/>
              </a:rPr>
              <a:t>  ·  doc 10484772  ·  also never recovered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P0 establishes the facts; P1–P4 each vary exactly one thing.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5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01 — SETUP /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Five checks, one variable 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66928" cy="47548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435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What did Round 4 actually change?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1691640"/>
            <a:ext cx="6949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Replay the scoring; per-entity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39112"/>
            <a:ext cx="566928" cy="47548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305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05740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Is the safety clause to blame?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313432"/>
            <a:ext cx="6949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Delete it, change nothing else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660904"/>
            <a:ext cx="566928" cy="47548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52344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679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What if the clause only scopes its own rule?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2935224"/>
            <a:ext cx="6949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Rewrite it scoped, same everything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282696"/>
            <a:ext cx="566928" cy="47548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74136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300984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Does moderating 4 groups at once help?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3557015"/>
            <a:ext cx="6949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Top-4 vs Top-1, then a 100-doc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904488"/>
            <a:ext cx="566928" cy="47548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95928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922776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4364A"/>
                </a:solidFill>
                <a:latin typeface="Arial"/>
              </a:rPr>
              <a:t>Does more development data help?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7904" y="4178808"/>
            <a:ext cx="6949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10 vs 20 vs 30 docs; hardcoding vs valid F1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P0 · WHAT DID ROUND 4 CHANGE?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Full scoring replay, per-entity, before blaming the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norrin and FALDH were missed before Round 4 — they are pre-existing misses, not new regressions.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7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02 — P0 / ROUND 4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Round 4: +0.022, three fixes, one new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DEV F1 PER ROUND (10 DOCS)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27632"/>
          <a:ext cx="374903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11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T="25400" marB="25400" marL="76200" marR="76200" anchor="ctr"/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0.7972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0.8369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0.8592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0.8873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0.9091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46120"/>
            <a:ext cx="37490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4364A"/>
                </a:solidFill>
                <a:latin typeface="Arial"/>
              </a:rPr>
              <a:t>Fixed: </a:t>
            </a:r>
            <a:r>
              <a:rPr sz="1200" b="0">
                <a:solidFill>
                  <a:srgbClr val="24364A"/>
                </a:solidFill>
                <a:latin typeface="Arial"/>
              </a:rPr>
              <a:t>spasticity + 2 more; 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4364A"/>
                </a:solidFill>
                <a:latin typeface="Arial"/>
              </a:rPr>
              <a:t>New regression: </a:t>
            </a:r>
            <a:r>
              <a:rPr sz="1200" b="0">
                <a:solidFill>
                  <a:srgbClr val="24364A"/>
                </a:solidFill>
                <a:latin typeface="Arial"/>
              </a:rPr>
              <a:t>1 case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4364A"/>
                </a:solidFill>
                <a:latin typeface="Arial"/>
              </a:rPr>
              <a:t>Still missed: </a:t>
            </a:r>
            <a:r>
              <a:rPr sz="1200" b="0">
                <a:solidFill>
                  <a:srgbClr val="24364A"/>
                </a:solidFill>
                <a:latin typeface="Arial"/>
              </a:rPr>
              <a:t>norrin, FALDH — both already missed in 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325880"/>
            <a:ext cx="3840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DISCREPANCY MATRIX, R4 IN →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91056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386"/>
                </a:solidFill>
                <a:latin typeface="Arial"/>
              </a:rPr>
              <a:t>before R4 (11)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846320" y="1792224"/>
          <a:ext cx="187451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19"/>
                <a:gridCol w="312419"/>
                <a:gridCol w="312419"/>
                <a:gridCol w="312419"/>
                <a:gridCol w="312419"/>
                <a:gridCol w="312424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/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O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O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903720" y="1591056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386"/>
                </a:solidFill>
                <a:latin typeface="Arial"/>
              </a:rPr>
              <a:t>after R4 (9)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03720" y="1792224"/>
          <a:ext cx="187451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19"/>
                <a:gridCol w="312419"/>
                <a:gridCol w="312419"/>
                <a:gridCol w="312419"/>
                <a:gridCol w="312419"/>
                <a:gridCol w="312424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/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529B"/>
                          </a:solidFill>
                          <a:latin typeface="Arial"/>
                        </a:rPr>
                        <a:t>O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O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364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846320" y="376732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386"/>
                </a:solidFill>
                <a:latin typeface="Arial"/>
              </a:rPr>
              <a:t>S→D label errors 2 → 3, S-span errors 1 → 0, missed S 3 → 2. Composite: 1 over-generation in both.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P1 · DELETE THE SAFETY CLAUSE?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Single-variable ablation of the “do not apply”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Same prompt, same documents, same model — the only change is the cut.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9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03 — P1 / WHAT WAS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The Round-3 principle has two halves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657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RECALL HALF — KEPT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7680960" cy="86868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73936"/>
            <a:ext cx="7278624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“IF a noun phrase in a definitional, characterization, or causal/etiologic context denotes an abnormal clinical or pathological state … THEN annotate it as DiseaseClass”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24912"/>
            <a:ext cx="3657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32D2D"/>
                </a:solidFill>
                <a:latin typeface="Arial"/>
              </a:rPr>
              <a:t>SAFETY HALF — REMOVED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99232"/>
            <a:ext cx="7680960" cy="86868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27248"/>
            <a:ext cx="7278624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“do not apply this rule when the phrase refers only to a normal biological process, a molecular/substance entity or level, or an isolated descriptive finding…”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41648"/>
            <a:ext cx="7680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4364A"/>
                </a:solidFill>
                <a:latin typeface="Arial"/>
              </a:rPr>
              <a:t>Hypothesis: the clause over-excludes, causing the norrin/FALDH-type misses.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The model re-wrote an equivalent restriction on its own — the clause reflects its judgment, not its instructions.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10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03 — P1 /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Misses do not come back; errors get worse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76809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210312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/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original clause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clause removed</a:t>
                      </a:r>
                    </a:p>
                  </a:txBody>
                  <a:tcPr marT="25400" marB="25400" marL="76200" marR="76200" anchor="ctr"/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dev F1 (R3 replay)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0.8873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0.8671</a:t>
                      </a:r>
                    </a:p>
                  </a:txBody>
                  <a:tcPr marT="25400" marB="25400" marL="76200" marR="76200" anchor="ctr"/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focal misses recovered (norrin / FALDH / retinal vascular)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 of 3</a:t>
                      </a:r>
                    </a:p>
                  </a:txBody>
                  <a:tcPr marT="25400" marB="25400" marL="76200" marR="76200" anchor="ctr"/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S→D label errors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4  (doubled)</a:t>
                      </a:r>
                    </a:p>
                  </a:txBody>
                  <a:tcPr marT="25400" marB="25400" marL="76200" marR="76200" anchor="ctr"/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equivalent restriction in output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re-generated by the model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383280"/>
            <a:ext cx="7680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529B"/>
                </a:solidFill>
                <a:latin typeface="Arial"/>
              </a:rPr>
              <a:t>Verdict: </a:t>
            </a:r>
            <a:r>
              <a:rPr sz="1400" b="0">
                <a:solidFill>
                  <a:srgbClr val="24364A"/>
                </a:solidFill>
                <a:latin typeface="Arial"/>
              </a:rPr>
              <a:t>the “do not apply” clause is a precision guardrail. The misses are the model’s own reading of these contexts; deleting the clause only removes the guardrail.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P2 · RESCOPE THE CLAUSE?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Same edit, but the clause is rewritten to bind only its own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All three principle variants leave the same three gold mentions missed.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12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04 — P2 /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Scoping is even weaker — and still no misses return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principle variant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dev F1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focal misses recovered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original (R3)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0.8873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 of 3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P1 · clause removed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0.8671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 of 3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P2 · clause rescoped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0.8511  (below baseline → reverted)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 of 3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154680"/>
            <a:ext cx="7680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529B"/>
                </a:solidFill>
                <a:latin typeface="Arial"/>
              </a:rPr>
              <a:t>Verdict: </a:t>
            </a:r>
            <a:r>
              <a:rPr sz="1400" b="0">
                <a:solidFill>
                  <a:srgbClr val="24364A"/>
                </a:solidFill>
                <a:latin typeface="Arial"/>
              </a:rPr>
              <a:t>the gold-contradicting examples are a </a:t>
            </a:r>
            <a:r>
              <a:rPr sz="1400" b="1">
                <a:solidFill>
                  <a:srgbClr val="24364A"/>
                </a:solidFill>
                <a:latin typeface="Arial"/>
              </a:rPr>
              <a:t>symptom</a:t>
            </a:r>
            <a:r>
              <a:rPr sz="1400" b="0">
                <a:solidFill>
                  <a:srgbClr val="24364A"/>
                </a:solidFill>
                <a:latin typeface="Arial"/>
              </a:rPr>
              <a:t> of the model’s upstream judgment, not the cause. Wording edits — delete or rescope — cannot recover these mentions, and only trade away precision.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P3 · MODERATE 4 GROUPS AT ONCE?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Top-4 versus Top-1, then a 100-document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Parallelizing the rewrite does not turn into more answer-key copying.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14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05 — P3 / DEV RESULT + HARD-CODING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Faster, not more memorized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/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Top-1 (reference)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Top-4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dev F1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0.7972 → 0.9091 (4 rounds)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0.8028 → 0.9155 (2 rounds, threshold)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gold strings absorbed into guideline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15 / 37  (41%)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12 / 37  (32%)</a:t>
                      </a:r>
                    </a:p>
                  </a:txBody>
                  <a:tcPr marT="25400" marB="25400" marL="76200" marR="76200"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new lines quoting already-correct cases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200400"/>
            <a:ext cx="7680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386"/>
                </a:solidFill>
                <a:latin typeface="Arial"/>
              </a:rPr>
              <a:t>Absorption = share of distinct dev gold strings that appear verbatim in the final guideline (and were not in the shipped one). The dev gap 0.9155 vs 0.9091 is inside the dev-10 noise band — the validation set decides.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Gain concentrates in Modifier recall; SpecificDisease over-predicts more than Top-1.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15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05 — P3 / 100 UNSEEN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The dev gain holds up on validation — barely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7680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645920"/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529B"/>
                          </a:solidFill>
                          <a:latin typeface="Arial"/>
                        </a:rPr>
                        <a:t>guideline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529B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529B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0529B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T="25400" marB="25400" marL="76200" marR="76200" anchor="ctr"/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shipped (original)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0.8011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0.7585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0.7792</a:t>
                      </a:r>
                    </a:p>
                  </a:txBody>
                  <a:tcPr marT="25400" marB="25400" marL="76200" marR="76200" anchor="ctr"/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Top-1 refined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0.8121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0.7649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0.7878</a:t>
                      </a:r>
                    </a:p>
                  </a:txBody>
                  <a:tcPr marT="25400" marB="25400" marL="76200" marR="76200" anchor="ctr"/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Top-4 refined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0.8095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0.7952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64A"/>
                          </a:solidFill>
                          <a:latin typeface="Arial"/>
                        </a:rPr>
                        <a:t>0.8023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788920"/>
          <a:ext cx="768096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2011680"/>
                <a:gridCol w="109728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per label, Top-1 → Top-4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Modifier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SpecificDisease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DiseaseClass</a:t>
                      </a:r>
                    </a:p>
                  </a:txBody>
                  <a:tcPr marT="25400" marB="25400" marL="76200" marR="76200" anchor="ctr"/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0.765 → 0.851  (TP +26)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0.851 → 0.824  (FP 58 → 83)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0.650 → 0.637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041648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Paired bootstrap on the 100 documents: Top-4 − Top-1 = +0.0145, 95% CI [−0.021, +0.050] — a real but not-yet-significant edge.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Evidence reaches the analysis calls but never the call that writes the guideline.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16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05 — P3 / SIDE EFFECT, TRACED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Gold shown — the exclusion was written anyway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7680960" cy="694944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35608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4364A"/>
                </a:solidFill>
                <a:latin typeface="Arial"/>
              </a:rPr>
              <a:t>SHOWN (round 1, analysis call)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664208"/>
            <a:ext cx="7278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Gold: SpecificDisease, LLM: O, Entity Text: “deficient activity of fatty aldehyde dehydrogenase”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76272"/>
            <a:ext cx="7680960" cy="694944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40279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4364A"/>
                </a:solidFill>
                <a:latin typeface="Arial"/>
              </a:rPr>
              <a:t>DROPPED (principle 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468879"/>
            <a:ext cx="7278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The generated principle abstracts the case away — the entity name does not survive into the principle 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80944"/>
            <a:ext cx="7680960" cy="694944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044951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4364A"/>
                </a:solidFill>
                <a:latin typeface="Arial"/>
              </a:rPr>
              <a:t>NEVER SEEN (rewrite call)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273551"/>
            <a:ext cx="7278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refine_guidelines receives only the principles and the already-correct cases — no gold-labeled discrepancies.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85616"/>
            <a:ext cx="7680960" cy="694944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49624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32D2D"/>
                </a:solidFill>
                <a:latin typeface="Arial"/>
              </a:rPr>
              <a:t>WRITTEN (final guideline)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078224"/>
            <a:ext cx="7278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364A"/>
                </a:solidFill>
                <a:latin typeface="Arial"/>
              </a:rPr>
              <a:t>The do-not-annotate example for FALDH appears in round 1 and survives to the final guideline.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P4 · MORE DEVELOPMENT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10 vs 20 vs 30 dev documents; hardcoding count vs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Less copying does not turn into better unseen-document performance.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18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06 — P4 / SCALE 10 / 20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Hardcoding collapses; validation does not follow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76809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286000"/>
                <a:gridCol w="1920240"/>
                <a:gridCol w="2286000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dev size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dev F1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absorbed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529B"/>
                          </a:solidFill>
                          <a:latin typeface="Arial"/>
                        </a:rPr>
                        <a:t>valid F1 (100 docs)</a:t>
                      </a:r>
                    </a:p>
                  </a:txBody>
                  <a:tcPr marT="25400" marB="25400" marL="76200" marR="76200" anchor="ctr"/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0.7972 → 0.9091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15 / 37  (41%)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0.7878</a:t>
                      </a:r>
                    </a:p>
                  </a:txBody>
                  <a:tcPr marT="25400" marB="25400" marL="76200" marR="76200" anchor="ctr"/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0.7821 → 0.8105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6 / 68  (9%)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0.7745  (below original 0.7792)</a:t>
                      </a:r>
                    </a:p>
                  </a:txBody>
                  <a:tcPr marT="25400" marB="25400" marL="76200" marR="76200" anchor="ctr"/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0.8092 → 0.8577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3 / 115  (3%)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364A"/>
                          </a:solidFill>
                          <a:latin typeface="Arial"/>
                        </a:rPr>
                        <a:t>0.8050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310128"/>
            <a:ext cx="7680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386"/>
                </a:solidFill>
                <a:latin typeface="Arial"/>
              </a:rPr>
              <a:t>Paired bootstrap: only dev30 vs original is near-significant (+0.026, one-sided 97%); every arm-to-arm difference has a 95% CI crossing 0. Correction to earlier notes: all three runs used n_examples = 5 (verified in configs and prompts) — no example-count confound. One trajectory per size; replicate runs were designed but not executed.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The dev-30 guideline excludes norrin — whose home document is inside the dev-30 split.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19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06 — P4 / SAME-KIND GOLD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Scale does not stop gold-contradicting exclusions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657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529B"/>
                </a:solidFill>
                <a:latin typeface="Arial"/>
              </a:rPr>
              <a:t>WRITTEN INTO THE DEV-30 GUIDELINE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7680960" cy="86868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73936"/>
            <a:ext cx="7278624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4364A"/>
                </a:solidFill>
                <a:latin typeface="Arial"/>
              </a:rPr>
              <a:t>“‘BRCA1 alterations’, ‘PEX1 mutations’, and ‘deficiency of norrin’ are not annotated merely because they contain gene/protein or deficiency language.”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7680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64A"/>
                </a:solidFill>
                <a:latin typeface="Arial"/>
              </a:rPr>
              <a:t>gold: </a:t>
            </a:r>
            <a:r>
              <a:rPr sz="1250" b="1">
                <a:solidFill>
                  <a:srgbClr val="B32D2D"/>
                </a:solidFill>
                <a:latin typeface="Arial"/>
              </a:rPr>
              <a:t>DiseaseClass</a:t>
            </a:r>
            <a:r>
              <a:rPr sz="1250" b="0">
                <a:solidFill>
                  <a:srgbClr val="647386"/>
                </a:solidFill>
                <a:latin typeface="Arial"/>
              </a:rPr>
              <a:t>  ·  doc 10484772 — inside dev30  ·  still missed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127248"/>
          <a:ext cx="76809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8288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guideline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conflicting exclusion examples (manual audit)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valid F1</a:t>
                      </a:r>
                    </a:p>
                  </a:txBody>
                  <a:tcPr marT="25400" marB="25400" marL="76200" marR="7620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dev10 / dev20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 at the flat-example level  (dev20 has zero gold overlap at all)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0.7878 / 0.7745</a:t>
                      </a:r>
                    </a:p>
                  </a:txBody>
                  <a:tcPr marT="25400" marB="25400" marL="76200" marR="76200" anchor="ctr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dev30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1 real (norrin) + inherited conditional rules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0.8050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680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0529B"/>
                </a:solidFill>
                <a:latin typeface="Arial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640080" cy="27432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364A"/>
                </a:solidFill>
                <a:latin typeface="Arial"/>
              </a:rPr>
              <a:t>WHAT FIVE CHECKS RULE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47386"/>
                </a:solidFill>
                <a:latin typeface="Arial"/>
              </a:rPr>
              <a:t>Every wording- and evidence-side lever was tried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7040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386"/>
                </a:solidFill>
                <a:latin typeface="Arial"/>
              </a:rPr>
              <a:t>When Refinement Writes the Wrong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Edit the wording (P1/P2), add parallel evidence (P3), add data (P4) — none of it reaches this call.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21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07 — SYNTHESIS /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The evidence never reaches the call that writes the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645920" cy="13716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146304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4364A"/>
                </a:solidFill>
                <a:latin typeface="Arial"/>
              </a:rPr>
              <a:t>annotate + score dev docs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76856" y="1554480"/>
            <a:ext cx="1645920" cy="13716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8296" y="1664208"/>
            <a:ext cx="146304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4364A"/>
                </a:solidFill>
                <a:latin typeface="Arial"/>
              </a:rPr>
              <a:t>cluster mismatches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50791" y="1554480"/>
            <a:ext cx="1645920" cy="13716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42231" y="1664208"/>
            <a:ext cx="146304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4364A"/>
                </a:solidFill>
                <a:latin typeface="Arial"/>
              </a:rPr>
              <a:t>per-cluster analysis — gold labels visible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24728" y="1554480"/>
            <a:ext cx="1645920" cy="137160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16168" y="1664208"/>
            <a:ext cx="146304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4364A"/>
                </a:solidFill>
                <a:latin typeface="Arial"/>
              </a:rPr>
              <a:t>principles — entity names dropped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98664" y="1554480"/>
            <a:ext cx="1645920" cy="1371600"/>
          </a:xfrm>
          <a:prstGeom prst="rect">
            <a:avLst/>
          </a:prstGeom>
          <a:solidFill>
            <a:srgbClr val="B3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664208"/>
            <a:ext cx="146304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rewrite guideline — sees principles + already-correct cases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7680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0529B"/>
                </a:solidFill>
                <a:latin typeface="Arial"/>
              </a:rPr>
              <a:t>Ruled out: </a:t>
            </a:r>
            <a:r>
              <a:rPr sz="1350" b="0">
                <a:solidFill>
                  <a:srgbClr val="24364A"/>
                </a:solidFill>
                <a:latin typeface="Arial"/>
              </a:rPr>
              <a:t>the safety clause (P1), its scope (P2), parallel evidence to the analysis calls (P3), and dev-set size (P4).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00529B"/>
                </a:solidFill>
                <a:latin typeface="Arial"/>
              </a:rPr>
              <a:t>Located: </a:t>
            </a:r>
            <a:r>
              <a:rPr sz="1350" b="0">
                <a:solidFill>
                  <a:srgbClr val="24364A"/>
                </a:solidFill>
                <a:latin typeface="Arial"/>
              </a:rPr>
              <a:t>gold-labeled discrepancy evidence is dropped at the principle step and never shown to the rewrite call.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Validate on the small split first; only then spend the 100-document evaluation.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22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07 — SYNTHESIS /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Two candidate fixes, aimed at the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3703320" cy="210312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544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529B"/>
                </a:solidFill>
                <a:latin typeface="Arial"/>
              </a:rPr>
              <a:t>A · FEED THE REWRITE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883664"/>
            <a:ext cx="33375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4364A"/>
                </a:solidFill>
                <a:latin typeface="Arial"/>
              </a:rPr>
              <a:t>Inject the gold-labeled discrepancy cases into the rewrite call itself (“new rules must not contradict these”), not only into the analysis calls.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417320"/>
            <a:ext cx="3703320" cy="2103120"/>
          </a:xfrm>
          <a:prstGeom prst="rect">
            <a:avLst/>
          </a:prstGeom>
          <a:solidFill>
            <a:srgbClr val="F0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0328" y="15544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529B"/>
                </a:solidFill>
                <a:latin typeface="Arial"/>
              </a:rPr>
              <a:t>B · VERIFY AFTER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1883664"/>
            <a:ext cx="33375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4364A"/>
                </a:solidFill>
                <a:latin typeface="Arial"/>
              </a:rPr>
              <a:t>Check every new do-not-annotate example against gold before accepting the guideline; reject or rewrite contradicting ones (post-verify probe direction).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9476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386"/>
                </a:solidFill>
                <a:latin typeface="Arial"/>
              </a:rPr>
              <a:t>Either arm is a one-variable replay of the Round-3 boundary — same cost class as P1/P2.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645152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364A"/>
                </a:solidFill>
                <a:latin typeface="Arial"/>
              </a:rPr>
              <a:t>The failure is structural: the rewrite call is blind to labeled evidence.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65592" y="4700016"/>
            <a:ext cx="704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47386"/>
                </a:solidFill>
                <a:latin typeface="Arial"/>
              </a:rPr>
              <a:t>23 /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386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7680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364A"/>
                </a:solidFill>
                <a:latin typeface="Arial"/>
              </a:rPr>
              <a:t>Five questions, five answers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7680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651760"/>
                <a:gridCol w="42976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529B"/>
                          </a:solidFill>
                          <a:latin typeface="Arial"/>
                        </a:rPr>
                        <a:t>answer</a:t>
                      </a:r>
                    </a:p>
                  </a:txBody>
                  <a:tcPr marT="25400" marB="25400" marL="76200" marR="76200" anchor="ctr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P0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What did Round 4 change?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+0.022 F1; 3 fixes, 1 regression; the famous misses pre-date it</a:t>
                      </a:r>
                    </a:p>
                  </a:txBody>
                  <a:tcPr marT="25400" marB="25400" marL="76200" marR="76200" anchor="ctr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Blame the safety clause?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No — a precision guardrail; deleting it doubles S→D errors</a:t>
                      </a:r>
                    </a:p>
                  </a:txBody>
                  <a:tcPr marT="25400" marB="25400" marL="76200" marR="76200" anchor="ctr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Rescope the clause?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No — misses stay; wording is symptom, not cause</a:t>
                      </a:r>
                    </a:p>
                  </a:txBody>
                  <a:tcPr marT="25400" marB="25400" marL="76200" marR="76200" anchor="ctr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Top-4 over Top-1?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Yes on validation (0.8023 vs 0.7878), not yet significant; same wrong examples</a:t>
                      </a:r>
                    </a:p>
                  </a:txBody>
                  <a:tcPr marT="25400" marB="25400" marL="76200" marR="76200" anchor="ctr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P4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More dev data?</a:t>
                      </a:r>
                    </a:p>
                  </a:txBody>
                  <a:tcPr marT="25400" marB="25400" marL="76200" marR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64A"/>
                          </a:solidFill>
                          <a:latin typeface="Arial"/>
                        </a:rPr>
                        <a:t>Hardcoding collapses 41%→3%; validation flat; exclusions persist</a:t>
                      </a:r>
                    </a:p>
                  </a:txBody>
                  <a:tcPr marT="25400" marB="25400" marL="76200" marR="76200"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