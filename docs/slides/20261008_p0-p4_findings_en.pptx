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13CEA3-BB2E-553C-E748-19D3BEFCB5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675F7F-1913-35B5-9555-7BACE7473C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9A8325-EBEB-7FA6-C1FC-DFC507A355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A2384F-F2F6-4C3E-71DB-8C65E5048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8230D7-4EC7-05B8-2EF6-A6B6B007D8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705BE-BB01-5F5B-D143-B3EC233566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200EA5-3B8B-1928-3C23-4706363AF3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0FD73-A55A-0F25-80E2-86A6787378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91365-D959-5532-6663-BD23016AFD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E4192B-54AB-024D-BF4E-159E2745F5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EA5016-2AA5-8E0B-35AD-26D88056C8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322B03-2F83-8FB9-D9B7-8E49E00A6E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75A6D3-D107-89A7-D32E-ACD2EB027C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B2024-6EBF-A0F4-BAAB-FB8129908D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E96E00-FDAD-CC5B-B5E4-B627D21F4C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5B5C95-F968-B6A3-0BFF-1EE5F977F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A9D52A-7AB9-2EC4-76DA-47812F85E5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17978E-56F2-98CD-E12D-7C03BC3795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7F4F2B-91E9-FF3A-38A7-C55D1B4DC2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0850FC-4C43-818B-430E-4F1ADDB398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90138A-75C4-29F4-3D21-ECE9090BB8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E34D94-7A24-D409-AB16-AC5436CD88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C2F278-8BA8-FE36-8EBC-6A2203DF12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96104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28281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625811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30005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65485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576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59699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34337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67700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50989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2000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81971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5685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3296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1590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9790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35982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9118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58912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19672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6891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1971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83284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31072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955997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37674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775300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82159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86666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995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69229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085330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95859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5318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329157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557980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96488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2960634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7781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26691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86121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5997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11364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520226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870848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03979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722844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6787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183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06057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6750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3249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6393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0199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395324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0571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326456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44535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05043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23051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22070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856021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728250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04657" name="Rectangle 1"/>
          <p:cNvSpPr/>
          <p:nvPr/>
        </p:nvSpPr>
        <p:spPr bwMode="auto">
          <a:xfrm>
            <a:off x="731520" y="630936"/>
            <a:ext cx="493776" cy="82296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6497888" name="Rectangle 2"/>
          <p:cNvSpPr/>
          <p:nvPr/>
        </p:nvSpPr>
        <p:spPr bwMode="auto">
          <a:xfrm>
            <a:off x="1307592" y="630936"/>
            <a:ext cx="228600" cy="82296"/>
          </a:xfrm>
          <a:prstGeom prst="rect">
            <a:avLst/>
          </a:prstGeom>
          <a:solidFill>
            <a:srgbClr val="64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271381" name="TextBox 3"/>
          <p:cNvSpPr txBox="1"/>
          <p:nvPr/>
        </p:nvSpPr>
        <p:spPr bwMode="auto">
          <a:xfrm>
            <a:off x="731520" y="1005840"/>
            <a:ext cx="76809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1">
                <a:solidFill>
                  <a:srgbClr val="647386"/>
                </a:solidFill>
                <a:latin typeface="Arial"/>
              </a:rPr>
              <a:t>FIVE CONTROLLED CHECKS ON ITERATIVE GUIDELINE REFINEMENT</a:t>
            </a:r>
            <a:endParaRPr/>
          </a:p>
        </p:txBody>
      </p:sp>
      <p:sp>
        <p:nvSpPr>
          <p:cNvPr id="1385700642" name="TextBox 4"/>
          <p:cNvSpPr txBox="1"/>
          <p:nvPr/>
        </p:nvSpPr>
        <p:spPr bwMode="auto">
          <a:xfrm>
            <a:off x="731520" y="164592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800" b="1">
                <a:solidFill>
                  <a:srgbClr val="24364A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270960712" name="TextBox 5"/>
          <p:cNvSpPr txBox="1"/>
          <p:nvPr/>
        </p:nvSpPr>
        <p:spPr bwMode="auto">
          <a:xfrm>
            <a:off x="731520" y="3172968"/>
            <a:ext cx="7682399" cy="366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>
                <a:solidFill>
                  <a:srgbClr val="647386"/>
                </a:solidFill>
                <a:latin typeface="Arial"/>
              </a:rPr>
              <a:t>One failure case, five follow-up experiments</a:t>
            </a:r>
            <a:endParaRPr/>
          </a:p>
        </p:txBody>
      </p:sp>
      <p:sp>
        <p:nvSpPr>
          <p:cNvPr id="891547040" name="TextBox 7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133427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01</a:t>
            </a:r>
            <a:endParaRPr/>
          </a:p>
        </p:txBody>
      </p:sp>
      <p:sp>
        <p:nvSpPr>
          <p:cNvPr id="504844427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0234117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SETUP</a:t>
            </a:r>
            <a:endParaRPr/>
          </a:p>
        </p:txBody>
      </p:sp>
      <p:sp>
        <p:nvSpPr>
          <p:cNvPr id="823183967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The refinement loop, and the warning sign that started this</a:t>
            </a:r>
            <a:endParaRPr/>
          </a:p>
        </p:txBody>
      </p:sp>
      <p:sp>
        <p:nvSpPr>
          <p:cNvPr id="545539906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1038631342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2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251056" name="TextBox 1"/>
          <p:cNvSpPr txBox="1"/>
          <p:nvPr/>
        </p:nvSpPr>
        <p:spPr bwMode="auto">
          <a:xfrm>
            <a:off x="731520" y="4645152"/>
            <a:ext cx="7409519" cy="2822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Each round </a:t>
            </a:r>
            <a:r>
              <a:rPr lang="zh-CN" sz="1250" b="0">
                <a:solidFill>
                  <a:srgbClr val="24364A"/>
                </a:solidFill>
                <a:latin typeface="Arial"/>
              </a:rPr>
              <a:t>only </a:t>
            </a:r>
            <a:r>
              <a:rPr sz="1250" b="0">
                <a:solidFill>
                  <a:srgbClr val="24364A"/>
                </a:solidFill>
                <a:latin typeface="Arial"/>
              </a:rPr>
              <a:t>sees one error group and the already-correct cases.</a:t>
            </a:r>
            <a:endParaRPr/>
          </a:p>
        </p:txBody>
      </p:sp>
      <p:sp>
        <p:nvSpPr>
          <p:cNvPr id="949967838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3 / 23</a:t>
            </a:r>
            <a:endParaRPr/>
          </a:p>
        </p:txBody>
      </p:sp>
      <p:sp>
        <p:nvSpPr>
          <p:cNvPr id="1430520284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01 — SETUP / THE LOOP</a:t>
            </a:r>
            <a:endParaRPr/>
          </a:p>
        </p:txBody>
      </p:sp>
      <p:sp>
        <p:nvSpPr>
          <p:cNvPr id="1714768259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One error group per round, accepted if dev F1 rises</a:t>
            </a:r>
            <a:endParaRPr/>
          </a:p>
        </p:txBody>
      </p:sp>
      <p:sp>
        <p:nvSpPr>
          <p:cNvPr id="1311743992" name="TextBox 20"/>
          <p:cNvSpPr txBox="1"/>
          <p:nvPr/>
        </p:nvSpPr>
        <p:spPr bwMode="auto">
          <a:xfrm>
            <a:off x="731520" y="347472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24364A"/>
                </a:solidFill>
                <a:latin typeface="Arial"/>
              </a:rPr>
              <a:t>Reference run: dev F1 0.7972 → 0.9091 in 4 rounds (stop at F1 ≥ 0.90).</a:t>
            </a:r>
            <a:endParaRPr/>
          </a:p>
        </p:txBody>
      </p:sp>
      <p:sp>
        <p:nvSpPr>
          <p:cNvPr id="1827345097" name="TextBox 21"/>
          <p:cNvSpPr txBox="1"/>
          <p:nvPr/>
        </p:nvSpPr>
        <p:spPr bwMode="auto">
          <a:xfrm>
            <a:off x="731520" y="3877056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The warning sign: </a:t>
            </a:r>
            <a:r>
              <a:rPr sz="1400" b="0">
                <a:solidFill>
                  <a:srgbClr val="24364A"/>
                </a:solidFill>
                <a:latin typeface="Arial"/>
              </a:rPr>
              <a:t>the refined guideline came to contain </a:t>
            </a:r>
            <a:r>
              <a:rPr sz="1400" b="1">
                <a:solidFill>
                  <a:srgbClr val="B32D2D"/>
                </a:solidFill>
                <a:latin typeface="Arial"/>
              </a:rPr>
              <a:t>do-not-annotate examples that gold actually annotates</a:t>
            </a:r>
            <a:r>
              <a:rPr sz="1400" b="0">
                <a:solidFill>
                  <a:srgbClr val="24364A"/>
                </a:solidFill>
                <a:latin typeface="Arial"/>
              </a:rPr>
              <a:t>.</a:t>
            </a:r>
            <a:endParaRPr/>
          </a:p>
        </p:txBody>
      </p:sp>
      <p:pic>
        <p:nvPicPr>
          <p:cNvPr id="6556531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01391" y="1110572"/>
            <a:ext cx="5741216" cy="2318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033675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Both strings are gold mentions in the dev documents the loop was shown.</a:t>
            </a:r>
            <a:endParaRPr/>
          </a:p>
        </p:txBody>
      </p:sp>
      <p:sp>
        <p:nvSpPr>
          <p:cNvPr id="1021696427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4 / 23</a:t>
            </a:r>
            <a:endParaRPr/>
          </a:p>
        </p:txBody>
      </p:sp>
      <p:sp>
        <p:nvSpPr>
          <p:cNvPr id="638521089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01 — SETUP / THE WARNING SIGN</a:t>
            </a:r>
            <a:endParaRPr/>
          </a:p>
        </p:txBody>
      </p:sp>
      <p:sp>
        <p:nvSpPr>
          <p:cNvPr id="1456073846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Two exclusions that contradict gold</a:t>
            </a:r>
            <a:endParaRPr/>
          </a:p>
        </p:txBody>
      </p:sp>
      <p:sp>
        <p:nvSpPr>
          <p:cNvPr id="1554486622" name="TextBox 5"/>
          <p:cNvSpPr txBox="1"/>
          <p:nvPr/>
        </p:nvSpPr>
        <p:spPr bwMode="auto">
          <a:xfrm>
            <a:off x="731520" y="1325880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WRITTEN INTO THE GUIDELINE (EXAMPLE 27)</a:t>
            </a:r>
            <a:endParaRPr/>
          </a:p>
        </p:txBody>
      </p:sp>
      <p:sp>
        <p:nvSpPr>
          <p:cNvPr id="2069551253" name="Rectangle 6"/>
          <p:cNvSpPr/>
          <p:nvPr/>
        </p:nvSpPr>
        <p:spPr bwMode="auto">
          <a:xfrm>
            <a:off x="731520" y="1600200"/>
            <a:ext cx="7680960" cy="9601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8198546" name="TextBox 7"/>
          <p:cNvSpPr txBox="1"/>
          <p:nvPr/>
        </p:nvSpPr>
        <p:spPr bwMode="auto">
          <a:xfrm>
            <a:off x="932688" y="1728216"/>
            <a:ext cx="72786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50" b="0">
                <a:solidFill>
                  <a:srgbClr val="24364A"/>
                </a:solidFill>
                <a:latin typeface="Arial"/>
              </a:rPr>
              <a:t>“Do not automatically annotate ‘deficient activity of fatty aldehyde dehydrogenase’ when it is only a biochemical/molecular abnormality or enzyme-activity readout…”</a:t>
            </a:r>
            <a:endParaRPr/>
          </a:p>
        </p:txBody>
      </p:sp>
      <p:sp>
        <p:nvSpPr>
          <p:cNvPr id="784353291" name="TextBox 8"/>
          <p:cNvSpPr txBox="1"/>
          <p:nvPr/>
        </p:nvSpPr>
        <p:spPr bwMode="auto">
          <a:xfrm>
            <a:off x="731520" y="263347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>
                <a:solidFill>
                  <a:srgbClr val="24364A"/>
                </a:solidFill>
                <a:latin typeface="Arial"/>
              </a:rPr>
              <a:t>gold: </a:t>
            </a:r>
            <a:r>
              <a:rPr sz="1250" b="1">
                <a:solidFill>
                  <a:srgbClr val="B32D2D"/>
                </a:solidFill>
                <a:latin typeface="Arial"/>
              </a:rPr>
              <a:t>SpecificDisease</a:t>
            </a:r>
            <a:r>
              <a:rPr sz="1250" b="0">
                <a:solidFill>
                  <a:srgbClr val="647386"/>
                </a:solidFill>
                <a:latin typeface="Arial"/>
              </a:rPr>
              <a:t>  ·  doc 10577908  ·  model misses it in every arm we tested</a:t>
            </a:r>
            <a:endParaRPr/>
          </a:p>
        </p:txBody>
      </p:sp>
      <p:sp>
        <p:nvSpPr>
          <p:cNvPr id="211039049" name="TextBox 9"/>
          <p:cNvSpPr txBox="1"/>
          <p:nvPr/>
        </p:nvSpPr>
        <p:spPr bwMode="auto">
          <a:xfrm>
            <a:off x="731520" y="3072384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WRITTEN INTO THE GUIDELINE (COATS EXAMPLE)</a:t>
            </a:r>
            <a:endParaRPr/>
          </a:p>
        </p:txBody>
      </p:sp>
      <p:sp>
        <p:nvSpPr>
          <p:cNvPr id="1530889526" name="Rectangle 10"/>
          <p:cNvSpPr/>
          <p:nvPr/>
        </p:nvSpPr>
        <p:spPr bwMode="auto">
          <a:xfrm>
            <a:off x="731520" y="3346704"/>
            <a:ext cx="7680960" cy="9601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0404787" name="TextBox 11"/>
          <p:cNvSpPr txBox="1"/>
          <p:nvPr/>
        </p:nvSpPr>
        <p:spPr bwMode="auto">
          <a:xfrm>
            <a:off x="932688" y="3474720"/>
            <a:ext cx="7278624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50" b="0">
                <a:solidFill>
                  <a:srgbClr val="24364A"/>
                </a:solidFill>
                <a:latin typeface="Arial"/>
              </a:rPr>
              <a:t>“Do not annotate ‘abnormal retinal vascular development’ when it is used only as a mechanistic/process description rather than the condition mention itself.”</a:t>
            </a:r>
            <a:endParaRPr/>
          </a:p>
        </p:txBody>
      </p:sp>
      <p:sp>
        <p:nvSpPr>
          <p:cNvPr id="1166828830" name="TextBox 12"/>
          <p:cNvSpPr txBox="1"/>
          <p:nvPr/>
        </p:nvSpPr>
        <p:spPr bwMode="auto">
          <a:xfrm>
            <a:off x="731520" y="4379976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>
                <a:solidFill>
                  <a:srgbClr val="24364A"/>
                </a:solidFill>
                <a:latin typeface="Arial"/>
              </a:rPr>
              <a:t>gold: </a:t>
            </a:r>
            <a:r>
              <a:rPr sz="1250" b="1">
                <a:solidFill>
                  <a:srgbClr val="B32D2D"/>
                </a:solidFill>
                <a:latin typeface="Arial"/>
              </a:rPr>
              <a:t>DiseaseClass</a:t>
            </a:r>
            <a:r>
              <a:rPr sz="1250" b="0">
                <a:solidFill>
                  <a:srgbClr val="647386"/>
                </a:solidFill>
                <a:latin typeface="Arial"/>
              </a:rPr>
              <a:t>  ·  doc 10484772  ·  also never recovered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722691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P0 establishes the facts; P1–P4 each vary exactly one thing.</a:t>
            </a:r>
            <a:endParaRPr/>
          </a:p>
        </p:txBody>
      </p:sp>
      <p:sp>
        <p:nvSpPr>
          <p:cNvPr id="501391006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5 / 23</a:t>
            </a:r>
            <a:endParaRPr/>
          </a:p>
        </p:txBody>
      </p:sp>
      <p:sp>
        <p:nvSpPr>
          <p:cNvPr id="990304174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01 — SETUP / THE PLAN</a:t>
            </a:r>
            <a:endParaRPr/>
          </a:p>
        </p:txBody>
      </p:sp>
      <p:sp>
        <p:nvSpPr>
          <p:cNvPr id="65009952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Five checks, one variable each</a:t>
            </a:r>
            <a:endParaRPr/>
          </a:p>
        </p:txBody>
      </p:sp>
      <p:sp>
        <p:nvSpPr>
          <p:cNvPr id="85988680" name="Rectangle 5"/>
          <p:cNvSpPr/>
          <p:nvPr/>
        </p:nvSpPr>
        <p:spPr bwMode="auto">
          <a:xfrm>
            <a:off x="731520" y="1417320"/>
            <a:ext cx="566928" cy="475488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7480226" name="TextBox 6"/>
          <p:cNvSpPr txBox="1"/>
          <p:nvPr/>
        </p:nvSpPr>
        <p:spPr bwMode="auto">
          <a:xfrm>
            <a:off x="731520" y="1508759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Arial"/>
              </a:rPr>
              <a:t>P0</a:t>
            </a:r>
            <a:endParaRPr/>
          </a:p>
        </p:txBody>
      </p:sp>
      <p:sp>
        <p:nvSpPr>
          <p:cNvPr id="2095737752" name="TextBox 7"/>
          <p:cNvSpPr txBox="1"/>
          <p:nvPr/>
        </p:nvSpPr>
        <p:spPr bwMode="auto">
          <a:xfrm>
            <a:off x="1517904" y="143560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What did Round 4 actually change?</a:t>
            </a:r>
            <a:endParaRPr/>
          </a:p>
        </p:txBody>
      </p:sp>
      <p:sp>
        <p:nvSpPr>
          <p:cNvPr id="779978517" name="TextBox 8"/>
          <p:cNvSpPr txBox="1"/>
          <p:nvPr/>
        </p:nvSpPr>
        <p:spPr bwMode="auto">
          <a:xfrm>
            <a:off x="1517904" y="1691640"/>
            <a:ext cx="6949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Replay the scoring; per-entity history</a:t>
            </a:r>
            <a:endParaRPr/>
          </a:p>
        </p:txBody>
      </p:sp>
      <p:sp>
        <p:nvSpPr>
          <p:cNvPr id="1422373510" name="Rectangle 9"/>
          <p:cNvSpPr/>
          <p:nvPr/>
        </p:nvSpPr>
        <p:spPr bwMode="auto">
          <a:xfrm>
            <a:off x="731520" y="2039112"/>
            <a:ext cx="566928" cy="475488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353450" name="TextBox 10"/>
          <p:cNvSpPr txBox="1"/>
          <p:nvPr/>
        </p:nvSpPr>
        <p:spPr bwMode="auto">
          <a:xfrm>
            <a:off x="731520" y="21305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Arial"/>
              </a:rPr>
              <a:t>P1</a:t>
            </a:r>
            <a:endParaRPr/>
          </a:p>
        </p:txBody>
      </p:sp>
      <p:sp>
        <p:nvSpPr>
          <p:cNvPr id="1638368994" name="TextBox 11"/>
          <p:cNvSpPr txBox="1"/>
          <p:nvPr/>
        </p:nvSpPr>
        <p:spPr bwMode="auto">
          <a:xfrm>
            <a:off x="1517904" y="20574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Is the safety clause to blame?</a:t>
            </a:r>
            <a:endParaRPr/>
          </a:p>
        </p:txBody>
      </p:sp>
      <p:sp>
        <p:nvSpPr>
          <p:cNvPr id="465477756" name="TextBox 12"/>
          <p:cNvSpPr txBox="1"/>
          <p:nvPr/>
        </p:nvSpPr>
        <p:spPr bwMode="auto">
          <a:xfrm>
            <a:off x="1517904" y="2313432"/>
            <a:ext cx="6949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Delete it, change nothing else</a:t>
            </a:r>
            <a:endParaRPr/>
          </a:p>
        </p:txBody>
      </p:sp>
      <p:sp>
        <p:nvSpPr>
          <p:cNvPr id="34191715" name="Rectangle 13"/>
          <p:cNvSpPr/>
          <p:nvPr/>
        </p:nvSpPr>
        <p:spPr bwMode="auto">
          <a:xfrm>
            <a:off x="731520" y="2660904"/>
            <a:ext cx="566928" cy="475488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7128317" name="TextBox 14"/>
          <p:cNvSpPr txBox="1"/>
          <p:nvPr/>
        </p:nvSpPr>
        <p:spPr bwMode="auto">
          <a:xfrm>
            <a:off x="731520" y="2752343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Arial"/>
              </a:rPr>
              <a:t>P2</a:t>
            </a:r>
            <a:endParaRPr/>
          </a:p>
        </p:txBody>
      </p:sp>
      <p:sp>
        <p:nvSpPr>
          <p:cNvPr id="291860803" name="TextBox 15"/>
          <p:cNvSpPr txBox="1"/>
          <p:nvPr/>
        </p:nvSpPr>
        <p:spPr bwMode="auto">
          <a:xfrm>
            <a:off x="1517904" y="267919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What if the clause only scopes its own rule?</a:t>
            </a:r>
            <a:endParaRPr/>
          </a:p>
        </p:txBody>
      </p:sp>
      <p:sp>
        <p:nvSpPr>
          <p:cNvPr id="1154265322" name="TextBox 16"/>
          <p:cNvSpPr txBox="1"/>
          <p:nvPr/>
        </p:nvSpPr>
        <p:spPr bwMode="auto">
          <a:xfrm>
            <a:off x="1517904" y="2935224"/>
            <a:ext cx="6949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Rewrite it scoped, same everything</a:t>
            </a:r>
            <a:endParaRPr/>
          </a:p>
        </p:txBody>
      </p:sp>
      <p:sp>
        <p:nvSpPr>
          <p:cNvPr id="1347987664" name="Rectangle 17"/>
          <p:cNvSpPr/>
          <p:nvPr/>
        </p:nvSpPr>
        <p:spPr bwMode="auto">
          <a:xfrm>
            <a:off x="731520" y="3282696"/>
            <a:ext cx="566928" cy="475488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3168708" name="TextBox 18"/>
          <p:cNvSpPr txBox="1"/>
          <p:nvPr/>
        </p:nvSpPr>
        <p:spPr bwMode="auto">
          <a:xfrm>
            <a:off x="731520" y="3374136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Arial"/>
              </a:rPr>
              <a:t>P3</a:t>
            </a:r>
            <a:endParaRPr/>
          </a:p>
        </p:txBody>
      </p:sp>
      <p:sp>
        <p:nvSpPr>
          <p:cNvPr id="1971154578" name="TextBox 19"/>
          <p:cNvSpPr txBox="1"/>
          <p:nvPr/>
        </p:nvSpPr>
        <p:spPr bwMode="auto">
          <a:xfrm>
            <a:off x="1517904" y="330098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Does moderating 4 groups at once help?</a:t>
            </a:r>
            <a:endParaRPr/>
          </a:p>
        </p:txBody>
      </p:sp>
      <p:sp>
        <p:nvSpPr>
          <p:cNvPr id="318752453" name="TextBox 20"/>
          <p:cNvSpPr txBox="1"/>
          <p:nvPr/>
        </p:nvSpPr>
        <p:spPr bwMode="auto">
          <a:xfrm>
            <a:off x="1517904" y="3557015"/>
            <a:ext cx="6949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Top-4 vs Top-1, then a 100-doc validation</a:t>
            </a:r>
            <a:endParaRPr/>
          </a:p>
        </p:txBody>
      </p:sp>
      <p:sp>
        <p:nvSpPr>
          <p:cNvPr id="1378069041" name="Rectangle 21"/>
          <p:cNvSpPr/>
          <p:nvPr/>
        </p:nvSpPr>
        <p:spPr bwMode="auto">
          <a:xfrm>
            <a:off x="731520" y="3904488"/>
            <a:ext cx="566928" cy="475488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6408386" name="TextBox 22"/>
          <p:cNvSpPr txBox="1"/>
          <p:nvPr/>
        </p:nvSpPr>
        <p:spPr bwMode="auto">
          <a:xfrm>
            <a:off x="731520" y="3995928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Arial"/>
              </a:rPr>
              <a:t>P4</a:t>
            </a:r>
            <a:endParaRPr/>
          </a:p>
        </p:txBody>
      </p:sp>
      <p:sp>
        <p:nvSpPr>
          <p:cNvPr id="1344390033" name="TextBox 23"/>
          <p:cNvSpPr txBox="1"/>
          <p:nvPr/>
        </p:nvSpPr>
        <p:spPr bwMode="auto">
          <a:xfrm>
            <a:off x="1517904" y="392277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>
                <a:solidFill>
                  <a:srgbClr val="24364A"/>
                </a:solidFill>
                <a:latin typeface="Arial"/>
              </a:rPr>
              <a:t>Does more development data help?</a:t>
            </a:r>
            <a:endParaRPr/>
          </a:p>
        </p:txBody>
      </p:sp>
      <p:sp>
        <p:nvSpPr>
          <p:cNvPr id="503872307" name="TextBox 24"/>
          <p:cNvSpPr txBox="1"/>
          <p:nvPr/>
        </p:nvSpPr>
        <p:spPr bwMode="auto">
          <a:xfrm>
            <a:off x="1517904" y="4178808"/>
            <a:ext cx="6949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10 vs 20 vs 30 docs; hardcoding vs valid F1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421410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02</a:t>
            </a:r>
            <a:endParaRPr/>
          </a:p>
        </p:txBody>
      </p:sp>
      <p:sp>
        <p:nvSpPr>
          <p:cNvPr id="422354659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77880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P0 · WHAT DID ROUND 4 CHANGE?</a:t>
            </a:r>
            <a:endParaRPr/>
          </a:p>
        </p:txBody>
      </p:sp>
      <p:sp>
        <p:nvSpPr>
          <p:cNvPr id="2037020044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Full scoring replay, per-entity, before blaming the round</a:t>
            </a:r>
            <a:endParaRPr/>
          </a:p>
        </p:txBody>
      </p:sp>
      <p:sp>
        <p:nvSpPr>
          <p:cNvPr id="1746833632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1385613508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6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171707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norrin and FALDH were missed before Round 4 — they are pre-existing misses, not new regressions.</a:t>
            </a:r>
            <a:endParaRPr/>
          </a:p>
        </p:txBody>
      </p:sp>
      <p:sp>
        <p:nvSpPr>
          <p:cNvPr id="1605893437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7 / 23</a:t>
            </a:r>
            <a:endParaRPr/>
          </a:p>
        </p:txBody>
      </p:sp>
      <p:sp>
        <p:nvSpPr>
          <p:cNvPr id="371169007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02 — P0 / ROUND 4 REPLAY</a:t>
            </a:r>
            <a:endParaRPr/>
          </a:p>
        </p:txBody>
      </p:sp>
      <p:sp>
        <p:nvSpPr>
          <p:cNvPr id="78484804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Round 4: +0.022, three fixes, one new regression</a:t>
            </a:r>
            <a:endParaRPr/>
          </a:p>
        </p:txBody>
      </p:sp>
      <p:sp>
        <p:nvSpPr>
          <p:cNvPr id="952030680" name="TextBox 5"/>
          <p:cNvSpPr txBox="1"/>
          <p:nvPr/>
        </p:nvSpPr>
        <p:spPr bwMode="auto">
          <a:xfrm>
            <a:off x="731520" y="13258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DEV F1 PER ROUND (10 DOCS)</a:t>
            </a:r>
            <a:endParaRPr/>
          </a:p>
        </p:txBody>
      </p:sp>
      <p:graphicFrame>
        <p:nvGraphicFramePr>
          <p:cNvPr id="1339652380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627632"/>
          <a:ext cx="3749039" cy="14630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49807"/>
                <a:gridCol w="749807"/>
                <a:gridCol w="749807"/>
                <a:gridCol w="749807"/>
                <a:gridCol w="749811"/>
              </a:tblGrid>
              <a:tr h="7315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start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R1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R2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R3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R4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7315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0.7972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0.8369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0.8592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0.8873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0.9091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758399961" name="TextBox 7"/>
          <p:cNvSpPr txBox="1"/>
          <p:nvPr/>
        </p:nvSpPr>
        <p:spPr bwMode="auto">
          <a:xfrm>
            <a:off x="731520" y="3246120"/>
            <a:ext cx="37490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1">
                <a:solidFill>
                  <a:srgbClr val="24364A"/>
                </a:solidFill>
                <a:latin typeface="Arial"/>
              </a:rPr>
              <a:t>Fixed: </a:t>
            </a:r>
            <a:r>
              <a:rPr sz="1200" b="0">
                <a:solidFill>
                  <a:srgbClr val="24364A"/>
                </a:solidFill>
                <a:latin typeface="Arial"/>
              </a:rPr>
              <a:t>spasticity + 2 more; </a:t>
            </a:r>
            <a:endParaRPr/>
          </a:p>
          <a:p>
            <a:pPr algn="l">
              <a:lnSpc>
                <a:spcPct val="114999"/>
              </a:lnSpc>
              <a:defRPr/>
            </a:pPr>
            <a:r>
              <a:rPr sz="1200" b="1">
                <a:solidFill>
                  <a:srgbClr val="24364A"/>
                </a:solidFill>
                <a:latin typeface="Arial"/>
              </a:rPr>
              <a:t>New regression: </a:t>
            </a:r>
            <a:r>
              <a:rPr sz="1200" b="0">
                <a:solidFill>
                  <a:srgbClr val="24364A"/>
                </a:solidFill>
                <a:latin typeface="Arial"/>
              </a:rPr>
              <a:t>1 case</a:t>
            </a:r>
            <a:endParaRPr/>
          </a:p>
          <a:p>
            <a:pPr algn="l">
              <a:lnSpc>
                <a:spcPct val="114999"/>
              </a:lnSpc>
              <a:defRPr/>
            </a:pPr>
            <a:r>
              <a:rPr sz="1200" b="1">
                <a:solidFill>
                  <a:srgbClr val="24364A"/>
                </a:solidFill>
                <a:latin typeface="Arial"/>
              </a:rPr>
              <a:t>Still missed: </a:t>
            </a:r>
            <a:r>
              <a:rPr sz="1200" b="0">
                <a:solidFill>
                  <a:srgbClr val="24364A"/>
                </a:solidFill>
                <a:latin typeface="Arial"/>
              </a:rPr>
              <a:t>norrin, FALDH — both already missed in Round 2</a:t>
            </a:r>
            <a:endParaRPr/>
          </a:p>
        </p:txBody>
      </p:sp>
      <p:sp>
        <p:nvSpPr>
          <p:cNvPr id="652109770" name="TextBox 8"/>
          <p:cNvSpPr txBox="1"/>
          <p:nvPr/>
        </p:nvSpPr>
        <p:spPr bwMode="auto">
          <a:xfrm>
            <a:off x="4846320" y="1325880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DISCREPANCY MATRIX, R4 IN → OUT</a:t>
            </a:r>
            <a:endParaRPr/>
          </a:p>
        </p:txBody>
      </p:sp>
      <p:sp>
        <p:nvSpPr>
          <p:cNvPr id="466121099" name="TextBox 9"/>
          <p:cNvSpPr txBox="1"/>
          <p:nvPr/>
        </p:nvSpPr>
        <p:spPr bwMode="auto">
          <a:xfrm>
            <a:off x="4846320" y="159105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>
                <a:solidFill>
                  <a:srgbClr val="647386"/>
                </a:solidFill>
                <a:latin typeface="Arial"/>
              </a:rPr>
              <a:t>before R4 (11)</a:t>
            </a:r>
            <a:endParaRPr/>
          </a:p>
        </p:txBody>
      </p:sp>
      <p:graphicFrame>
        <p:nvGraphicFramePr>
          <p:cNvPr id="1812482033" name="Table 10"/>
          <p:cNvGraphicFramePr>
            <a:graphicFrameLocks xmlns:a="http://schemas.openxmlformats.org/drawingml/2006/main" noGrp="1"/>
          </p:cNvGraphicFramePr>
          <p:nvPr/>
        </p:nvGraphicFramePr>
        <p:xfrm rot="0">
          <a:off x="4846320" y="1792224"/>
          <a:ext cx="1874519" cy="115214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12419"/>
                <a:gridCol w="312419"/>
                <a:gridCol w="312419"/>
                <a:gridCol w="312419"/>
                <a:gridCol w="312419"/>
                <a:gridCol w="312424"/>
              </a:tblGrid>
              <a:tr h="192024"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C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M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O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C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M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O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1821236725" name="TextBox 11"/>
          <p:cNvSpPr txBox="1"/>
          <p:nvPr/>
        </p:nvSpPr>
        <p:spPr bwMode="auto">
          <a:xfrm>
            <a:off x="6903720" y="159105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>
                <a:solidFill>
                  <a:srgbClr val="647386"/>
                </a:solidFill>
                <a:latin typeface="Arial"/>
              </a:rPr>
              <a:t>after R4 (9)</a:t>
            </a:r>
            <a:endParaRPr/>
          </a:p>
        </p:txBody>
      </p:sp>
      <p:graphicFrame>
        <p:nvGraphicFramePr>
          <p:cNvPr id="396075300" name="Table 12"/>
          <p:cNvGraphicFramePr>
            <a:graphicFrameLocks xmlns:a="http://schemas.openxmlformats.org/drawingml/2006/main" noGrp="1"/>
          </p:cNvGraphicFramePr>
          <p:nvPr/>
        </p:nvGraphicFramePr>
        <p:xfrm rot="0">
          <a:off x="6903720" y="1792224"/>
          <a:ext cx="1874519" cy="115214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12419"/>
                <a:gridCol w="312419"/>
                <a:gridCol w="312419"/>
                <a:gridCol w="312419"/>
                <a:gridCol w="312419"/>
                <a:gridCol w="312424"/>
              </a:tblGrid>
              <a:tr h="192024"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C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M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1">
                          <a:solidFill>
                            <a:srgbClr val="00529B"/>
                          </a:solidFill>
                          <a:latin typeface="Arial"/>
                        </a:rPr>
                        <a:t>O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C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M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19202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O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00" b="0">
                          <a:solidFill>
                            <a:srgbClr val="24364A"/>
                          </a:solidFill>
                          <a:latin typeface="Arial"/>
                        </a:rPr>
                        <a:t>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1030252969" name="TextBox 13"/>
          <p:cNvSpPr txBox="1"/>
          <p:nvPr/>
        </p:nvSpPr>
        <p:spPr bwMode="auto">
          <a:xfrm>
            <a:off x="4846320" y="376732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100" b="0">
                <a:solidFill>
                  <a:srgbClr val="647386"/>
                </a:solidFill>
                <a:latin typeface="Arial"/>
              </a:rPr>
              <a:t>S→D label errors 2 → 3, S-span errors 1 → 0, missed S 3 → 2. Composite: 1 over-generation in both.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369564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03</a:t>
            </a:r>
            <a:endParaRPr/>
          </a:p>
        </p:txBody>
      </p:sp>
      <p:sp>
        <p:nvSpPr>
          <p:cNvPr id="667657163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04986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P1 · DELETE THE SAFETY CLAUSE?</a:t>
            </a:r>
            <a:endParaRPr/>
          </a:p>
        </p:txBody>
      </p:sp>
      <p:sp>
        <p:nvSpPr>
          <p:cNvPr id="350319495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Single-variable ablation of the “do not apply” half</a:t>
            </a:r>
            <a:endParaRPr/>
          </a:p>
        </p:txBody>
      </p:sp>
      <p:sp>
        <p:nvSpPr>
          <p:cNvPr id="2093133145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1052616378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8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028532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Same prompt, same documents, same model — the only change is the cut.</a:t>
            </a:r>
            <a:endParaRPr/>
          </a:p>
        </p:txBody>
      </p:sp>
      <p:sp>
        <p:nvSpPr>
          <p:cNvPr id="1022587480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9 / 23</a:t>
            </a:r>
            <a:endParaRPr/>
          </a:p>
        </p:txBody>
      </p:sp>
      <p:sp>
        <p:nvSpPr>
          <p:cNvPr id="1226049406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03 — P1 / WHAT WAS CUT</a:t>
            </a:r>
            <a:endParaRPr/>
          </a:p>
        </p:txBody>
      </p:sp>
      <p:sp>
        <p:nvSpPr>
          <p:cNvPr id="2008553196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The Round-3 principle has two halves</a:t>
            </a:r>
            <a:endParaRPr/>
          </a:p>
        </p:txBody>
      </p:sp>
      <p:sp>
        <p:nvSpPr>
          <p:cNvPr id="1979805442" name="TextBox 5"/>
          <p:cNvSpPr txBox="1"/>
          <p:nvPr/>
        </p:nvSpPr>
        <p:spPr bwMode="auto">
          <a:xfrm>
            <a:off x="731520" y="1371600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RECALL HALF — KEPT</a:t>
            </a:r>
            <a:endParaRPr/>
          </a:p>
        </p:txBody>
      </p:sp>
      <p:sp>
        <p:nvSpPr>
          <p:cNvPr id="1767391264" name="Rectangle 6"/>
          <p:cNvSpPr/>
          <p:nvPr/>
        </p:nvSpPr>
        <p:spPr bwMode="auto">
          <a:xfrm>
            <a:off x="731520" y="1645920"/>
            <a:ext cx="7680960" cy="86868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1993928" name="TextBox 7"/>
          <p:cNvSpPr txBox="1"/>
          <p:nvPr/>
        </p:nvSpPr>
        <p:spPr bwMode="auto">
          <a:xfrm>
            <a:off x="932688" y="1773936"/>
            <a:ext cx="727862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“IF a noun phrase in a definitional, characterization, or causal/etiologic context denotes an abnormal clinical or pathological state … THEN annotate it as DiseaseClass”</a:t>
            </a:r>
            <a:endParaRPr/>
          </a:p>
        </p:txBody>
      </p:sp>
      <p:sp>
        <p:nvSpPr>
          <p:cNvPr id="437753251" name="TextBox 8"/>
          <p:cNvSpPr txBox="1"/>
          <p:nvPr/>
        </p:nvSpPr>
        <p:spPr bwMode="auto">
          <a:xfrm>
            <a:off x="731520" y="2724911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B32D2D"/>
                </a:solidFill>
                <a:latin typeface="Arial"/>
              </a:rPr>
              <a:t>SAFETY HALF — REMOVED</a:t>
            </a:r>
            <a:endParaRPr/>
          </a:p>
        </p:txBody>
      </p:sp>
      <p:sp>
        <p:nvSpPr>
          <p:cNvPr id="1832769917" name="Rectangle 9"/>
          <p:cNvSpPr/>
          <p:nvPr/>
        </p:nvSpPr>
        <p:spPr bwMode="auto">
          <a:xfrm>
            <a:off x="731520" y="2999232"/>
            <a:ext cx="7680960" cy="86868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32394" name="TextBox 10"/>
          <p:cNvSpPr txBox="1"/>
          <p:nvPr/>
        </p:nvSpPr>
        <p:spPr bwMode="auto">
          <a:xfrm>
            <a:off x="932688" y="3127248"/>
            <a:ext cx="727862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“do not apply this rule when the phrase refers only to a normal biological process, a molecular/substance entity or level, or an isolated descriptive finding…”</a:t>
            </a:r>
            <a:endParaRPr/>
          </a:p>
        </p:txBody>
      </p:sp>
      <p:sp>
        <p:nvSpPr>
          <p:cNvPr id="1069427610" name="TextBox 11"/>
          <p:cNvSpPr txBox="1"/>
          <p:nvPr/>
        </p:nvSpPr>
        <p:spPr bwMode="auto">
          <a:xfrm>
            <a:off x="731520" y="4041648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0">
                <a:solidFill>
                  <a:srgbClr val="24364A"/>
                </a:solidFill>
                <a:latin typeface="Arial"/>
              </a:rPr>
              <a:t>Hypothesis: the clause over-excludes, causing the norrin/FALDH-type misses.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756507" name="TextBox 1"/>
          <p:cNvSpPr txBox="1"/>
          <p:nvPr/>
        </p:nvSpPr>
        <p:spPr bwMode="auto">
          <a:xfrm flipH="0" flipV="0">
            <a:off x="758951" y="4355231"/>
            <a:ext cx="7407360" cy="472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The model re-wrote an equivalent restriction on its own — the clause reflects its judgment, not its instructions.</a:t>
            </a:r>
            <a:endParaRPr/>
          </a:p>
        </p:txBody>
      </p:sp>
      <p:sp>
        <p:nvSpPr>
          <p:cNvPr id="1126187018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10 / 23</a:t>
            </a:r>
            <a:endParaRPr/>
          </a:p>
        </p:txBody>
      </p:sp>
      <p:sp>
        <p:nvSpPr>
          <p:cNvPr id="884707710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03 — P1 / RESULT</a:t>
            </a:r>
            <a:endParaRPr/>
          </a:p>
        </p:txBody>
      </p:sp>
      <p:sp>
        <p:nvSpPr>
          <p:cNvPr id="178461102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Misses do not come back; errors get worse</a:t>
            </a:r>
            <a:endParaRPr/>
          </a:p>
        </p:txBody>
      </p:sp>
      <p:graphicFrame>
        <p:nvGraphicFramePr>
          <p:cNvPr id="326719484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17320"/>
          <a:ext cx="7680960" cy="16916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566160"/>
                <a:gridCol w="2011680"/>
                <a:gridCol w="2103120"/>
              </a:tblGrid>
              <a:tr h="338328"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original clause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clause removed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832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dev F1 (R3 replay)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0.8873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0.8671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832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focal misses recovered (norrin / FALDH / retinal vascular)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—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 of 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832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S→D label errors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4  (doubled)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832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equivalent restriction in output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yes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re-generated by the model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679913940" name="TextBox 6"/>
          <p:cNvSpPr txBox="1"/>
          <p:nvPr/>
        </p:nvSpPr>
        <p:spPr bwMode="auto">
          <a:xfrm>
            <a:off x="731520" y="3383280"/>
            <a:ext cx="7680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00529B"/>
                </a:solidFill>
                <a:latin typeface="Arial"/>
              </a:rPr>
              <a:t>Verdict: </a:t>
            </a:r>
            <a:r>
              <a:rPr sz="1400" b="0">
                <a:solidFill>
                  <a:srgbClr val="24364A"/>
                </a:solidFill>
                <a:latin typeface="Arial"/>
              </a:rPr>
              <a:t>the “do not apply” clause is a precision guardrail. The misses are the model’s own reading of these contexts; deleting the clause only removes the guardrail.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22946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04</a:t>
            </a:r>
            <a:endParaRPr/>
          </a:p>
        </p:txBody>
      </p:sp>
      <p:sp>
        <p:nvSpPr>
          <p:cNvPr id="2033781170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6406581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P2 · RESCOPE THE CLAUSE?</a:t>
            </a:r>
            <a:endParaRPr/>
          </a:p>
        </p:txBody>
      </p:sp>
      <p:sp>
        <p:nvSpPr>
          <p:cNvPr id="1480349218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Same edit, but the clause is rewritten to bind only its own rule</a:t>
            </a:r>
            <a:endParaRPr/>
          </a:p>
        </p:txBody>
      </p:sp>
      <p:sp>
        <p:nvSpPr>
          <p:cNvPr id="1492829661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2137362238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11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5407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All three principle variants leave the same three gold mentions missed.</a:t>
            </a:r>
            <a:endParaRPr/>
          </a:p>
        </p:txBody>
      </p:sp>
      <p:sp>
        <p:nvSpPr>
          <p:cNvPr id="1927943218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12 / 23</a:t>
            </a:r>
            <a:endParaRPr/>
          </a:p>
        </p:txBody>
      </p:sp>
      <p:sp>
        <p:nvSpPr>
          <p:cNvPr id="1595441482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04 — P2 / RESULT</a:t>
            </a:r>
            <a:endParaRPr/>
          </a:p>
        </p:txBody>
      </p:sp>
      <p:sp>
        <p:nvSpPr>
          <p:cNvPr id="66429900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Scoping is even weaker — and still no misses return</a:t>
            </a:r>
            <a:endParaRPr/>
          </a:p>
        </p:txBody>
      </p:sp>
      <p:graphicFrame>
        <p:nvGraphicFramePr>
          <p:cNvPr id="1713592577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17320"/>
          <a:ext cx="7680960" cy="14630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43200"/>
                <a:gridCol w="3108960"/>
                <a:gridCol w="1828800"/>
              </a:tblGrid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principle variant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dev F1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focal misses recovered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original (R3)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0.8873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 of 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P1 · clause removed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0.8671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 of 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P2 · clause rescoped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0.8511  (below baseline → reverted)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 of 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1640538949" name="TextBox 6"/>
          <p:cNvSpPr txBox="1"/>
          <p:nvPr/>
        </p:nvSpPr>
        <p:spPr bwMode="auto">
          <a:xfrm>
            <a:off x="731520" y="3154680"/>
            <a:ext cx="7682759" cy="827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1">
                <a:solidFill>
                  <a:srgbClr val="00529B"/>
                </a:solidFill>
                <a:latin typeface="Arial"/>
              </a:rPr>
              <a:t>Verdict: </a:t>
            </a:r>
            <a:r>
              <a:rPr sz="1400" b="0">
                <a:solidFill>
                  <a:srgbClr val="24364A"/>
                </a:solidFill>
                <a:latin typeface="Arial"/>
              </a:rPr>
              <a:t>the gold-contradicting examples are a </a:t>
            </a:r>
            <a:r>
              <a:rPr sz="1400" b="1">
                <a:solidFill>
                  <a:srgbClr val="24364A"/>
                </a:solidFill>
                <a:latin typeface="Arial"/>
              </a:rPr>
              <a:t>symptom</a:t>
            </a:r>
            <a:r>
              <a:rPr sz="1400" b="0">
                <a:solidFill>
                  <a:srgbClr val="24364A"/>
                </a:solidFill>
                <a:latin typeface="Arial"/>
              </a:rPr>
              <a:t> of the model’s upstream judgment, not the cause. Wording edits</a:t>
            </a:r>
            <a:r>
              <a:rPr lang="zh-CN" sz="1400" b="0">
                <a:solidFill>
                  <a:srgbClr val="24364A"/>
                </a:solidFill>
                <a:latin typeface="Arial"/>
              </a:rPr>
              <a:t>:</a:t>
            </a:r>
            <a:r>
              <a:rPr sz="1400" b="0">
                <a:solidFill>
                  <a:srgbClr val="24364A"/>
                </a:solidFill>
                <a:latin typeface="Arial"/>
              </a:rPr>
              <a:t> delete or re-scope cannot recover these mentions, and only trade away precision.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731636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05</a:t>
            </a:r>
            <a:endParaRPr/>
          </a:p>
        </p:txBody>
      </p:sp>
      <p:sp>
        <p:nvSpPr>
          <p:cNvPr id="1140631148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237684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P3 · MODERATE 4 GROUPS AT ONCE?</a:t>
            </a:r>
            <a:endParaRPr/>
          </a:p>
        </p:txBody>
      </p:sp>
      <p:sp>
        <p:nvSpPr>
          <p:cNvPr id="1122874657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Top-4 versus Top-1, then a 100-document validation</a:t>
            </a:r>
            <a:endParaRPr/>
          </a:p>
        </p:txBody>
      </p:sp>
      <p:sp>
        <p:nvSpPr>
          <p:cNvPr id="1835132247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1188421441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13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906617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Parallelizing the rewrite does not turn into more answer-key copying.</a:t>
            </a:r>
            <a:endParaRPr/>
          </a:p>
        </p:txBody>
      </p:sp>
      <p:sp>
        <p:nvSpPr>
          <p:cNvPr id="912231322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14 / 23</a:t>
            </a:r>
            <a:endParaRPr/>
          </a:p>
        </p:txBody>
      </p:sp>
      <p:sp>
        <p:nvSpPr>
          <p:cNvPr id="1647496107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05 — P3 / DEV RESULT + HARD-CODING CHECK</a:t>
            </a:r>
            <a:endParaRPr/>
          </a:p>
        </p:txBody>
      </p:sp>
      <p:sp>
        <p:nvSpPr>
          <p:cNvPr id="1729289800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Faster, not more memorized</a:t>
            </a:r>
            <a:endParaRPr/>
          </a:p>
        </p:txBody>
      </p:sp>
      <p:graphicFrame>
        <p:nvGraphicFramePr>
          <p:cNvPr id="327188806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417320"/>
          <a:ext cx="7680960" cy="14630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43200"/>
                <a:gridCol w="2651760"/>
                <a:gridCol w="2286000"/>
              </a:tblGrid>
              <a:tr h="365760">
                <a:tc>
                  <a:txBody>
                    <a:bodyPr/>
                    <a:p>
                      <a:pPr algn="l">
                        <a:defRPr/>
                      </a:pP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Top-1 (reference)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Top-4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dev F1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0.7972 → 0.9091 (4 rounds)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0.8028 → 0.9155 (2 rounds, threshold)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gold strings absorbed into guideline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15 / 37  (41%)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12 / 37  (32%)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657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new lines quoting already-correct cases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15%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11%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1228323640" name="TextBox 6"/>
          <p:cNvSpPr txBox="1"/>
          <p:nvPr/>
        </p:nvSpPr>
        <p:spPr bwMode="auto">
          <a:xfrm>
            <a:off x="731520" y="320040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200" b="0">
                <a:solidFill>
                  <a:srgbClr val="647386"/>
                </a:solidFill>
                <a:latin typeface="Arial"/>
              </a:rPr>
              <a:t>Absorption = share of distinct dev gold strings that appear verbatim in the final guideline (and were not in the shipped one). The dev gap 0.9155 vs 0.9091 is inside the dev-10 noise band — the validation set decides.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479369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Gain concentrates in Modifier recall; SpecificDisease over-predicts more than Top-1.</a:t>
            </a:r>
            <a:endParaRPr/>
          </a:p>
        </p:txBody>
      </p:sp>
      <p:sp>
        <p:nvSpPr>
          <p:cNvPr id="1099954875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15 / 23</a:t>
            </a:r>
            <a:endParaRPr/>
          </a:p>
        </p:txBody>
      </p:sp>
      <p:sp>
        <p:nvSpPr>
          <p:cNvPr id="735940219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05 — P3 / 100 UNSEEN DOCUMENTS</a:t>
            </a:r>
            <a:endParaRPr/>
          </a:p>
        </p:txBody>
      </p:sp>
      <p:sp>
        <p:nvSpPr>
          <p:cNvPr id="1734382035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The dev gain holds up on validation — barely</a:t>
            </a:r>
            <a:endParaRPr/>
          </a:p>
        </p:txBody>
      </p:sp>
      <p:graphicFrame>
        <p:nvGraphicFramePr>
          <p:cNvPr id="260969992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371600"/>
          <a:ext cx="7680960" cy="12344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108960"/>
                <a:gridCol w="1463040"/>
                <a:gridCol w="1463040"/>
                <a:gridCol w="1645920"/>
              </a:tblGrid>
              <a:tr h="3086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1">
                          <a:solidFill>
                            <a:srgbClr val="00529B"/>
                          </a:solidFill>
                          <a:latin typeface="Arial"/>
                        </a:rPr>
                        <a:t>guideline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1">
                          <a:solidFill>
                            <a:srgbClr val="00529B"/>
                          </a:solidFill>
                          <a:latin typeface="Arial"/>
                        </a:rPr>
                        <a:t>P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1">
                          <a:solidFill>
                            <a:srgbClr val="00529B"/>
                          </a:solidFill>
                          <a:latin typeface="Arial"/>
                        </a:rPr>
                        <a:t>R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1">
                          <a:solidFill>
                            <a:srgbClr val="00529B"/>
                          </a:solidFill>
                          <a:latin typeface="Arial"/>
                        </a:rPr>
                        <a:t>F1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086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shipped (original)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0.8011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0.7585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0.7792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086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Top-1 refined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0.8121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0.7649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0.7878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086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Top-4 refined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0.8095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0.7952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50" b="0">
                          <a:solidFill>
                            <a:srgbClr val="24364A"/>
                          </a:solidFill>
                          <a:latin typeface="Arial"/>
                        </a:rPr>
                        <a:t>0.8023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graphicFrame>
        <p:nvGraphicFramePr>
          <p:cNvPr id="1131320566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2788920"/>
          <a:ext cx="7680960" cy="1051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1097280"/>
              </a:tblGrid>
              <a:tr h="5257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per label, Top-1 → Top-4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Modifier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SpecificDisease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DiseaseClass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5257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F1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0.765 → 0.851  (TP +26)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0.851 → 0.824  (FP 58 → 83)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0.650 → 0.637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947586968" name="TextBox 7"/>
          <p:cNvSpPr txBox="1"/>
          <p:nvPr/>
        </p:nvSpPr>
        <p:spPr bwMode="auto">
          <a:xfrm>
            <a:off x="731520" y="4041648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Paired bootstrap on the 100 documents: Top-4 − Top-1 = +0.0145, 95% CI [−0.021, +0.050] — a real but not-yet-significant edge.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513484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Evidence reaches the analysis calls but never the call that writes the guideline.</a:t>
            </a:r>
            <a:endParaRPr/>
          </a:p>
        </p:txBody>
      </p:sp>
      <p:sp>
        <p:nvSpPr>
          <p:cNvPr id="1538682055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16 / 23</a:t>
            </a:r>
            <a:endParaRPr/>
          </a:p>
        </p:txBody>
      </p:sp>
      <p:sp>
        <p:nvSpPr>
          <p:cNvPr id="1830057803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05 — P3 / SIDE EFFECT, TRACED</a:t>
            </a:r>
            <a:endParaRPr/>
          </a:p>
        </p:txBody>
      </p:sp>
      <p:sp>
        <p:nvSpPr>
          <p:cNvPr id="620066919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Gold shown — the exclusion was written anyway</a:t>
            </a:r>
            <a:endParaRPr/>
          </a:p>
        </p:txBody>
      </p:sp>
      <p:sp>
        <p:nvSpPr>
          <p:cNvPr id="1950597501" name="Rectangle 5"/>
          <p:cNvSpPr/>
          <p:nvPr/>
        </p:nvSpPr>
        <p:spPr bwMode="auto">
          <a:xfrm>
            <a:off x="731520" y="1371600"/>
            <a:ext cx="7680960" cy="694944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6973457" name="TextBox 6"/>
          <p:cNvSpPr txBox="1"/>
          <p:nvPr/>
        </p:nvSpPr>
        <p:spPr bwMode="auto">
          <a:xfrm>
            <a:off x="932688" y="1435608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>
                <a:solidFill>
                  <a:srgbClr val="24364A"/>
                </a:solidFill>
                <a:latin typeface="Arial"/>
              </a:rPr>
              <a:t>SHOWN (round 1, analysis call)</a:t>
            </a:r>
            <a:endParaRPr/>
          </a:p>
        </p:txBody>
      </p:sp>
      <p:sp>
        <p:nvSpPr>
          <p:cNvPr id="1694855179" name="TextBox 7"/>
          <p:cNvSpPr txBox="1"/>
          <p:nvPr/>
        </p:nvSpPr>
        <p:spPr bwMode="auto">
          <a:xfrm>
            <a:off x="932688" y="1664208"/>
            <a:ext cx="7278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24364A"/>
                </a:solidFill>
                <a:latin typeface="Arial"/>
              </a:rPr>
              <a:t>Gold: SpecificDisease, LLM: O, Entity Text: “deficient activity of fatty aldehyde dehydrogenase”</a:t>
            </a:r>
            <a:endParaRPr/>
          </a:p>
        </p:txBody>
      </p:sp>
      <p:sp>
        <p:nvSpPr>
          <p:cNvPr id="452804175" name="Rectangle 8"/>
          <p:cNvSpPr/>
          <p:nvPr/>
        </p:nvSpPr>
        <p:spPr bwMode="auto">
          <a:xfrm>
            <a:off x="731520" y="2176272"/>
            <a:ext cx="7680960" cy="694944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8898783" name="TextBox 9"/>
          <p:cNvSpPr txBox="1"/>
          <p:nvPr/>
        </p:nvSpPr>
        <p:spPr bwMode="auto">
          <a:xfrm>
            <a:off x="932688" y="2240279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>
                <a:solidFill>
                  <a:srgbClr val="24364A"/>
                </a:solidFill>
                <a:latin typeface="Arial"/>
              </a:rPr>
              <a:t>DROPPED (principle step)</a:t>
            </a:r>
            <a:endParaRPr/>
          </a:p>
        </p:txBody>
      </p:sp>
      <p:sp>
        <p:nvSpPr>
          <p:cNvPr id="969313581" name="TextBox 10"/>
          <p:cNvSpPr txBox="1"/>
          <p:nvPr/>
        </p:nvSpPr>
        <p:spPr bwMode="auto">
          <a:xfrm>
            <a:off x="932688" y="2468879"/>
            <a:ext cx="7278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24364A"/>
                </a:solidFill>
                <a:latin typeface="Arial"/>
              </a:rPr>
              <a:t>The generated principle abstracts the case away — the entity name does not survive into the principle text.</a:t>
            </a:r>
            <a:endParaRPr/>
          </a:p>
        </p:txBody>
      </p:sp>
      <p:sp>
        <p:nvSpPr>
          <p:cNvPr id="2132919489" name="Rectangle 11"/>
          <p:cNvSpPr/>
          <p:nvPr/>
        </p:nvSpPr>
        <p:spPr bwMode="auto">
          <a:xfrm>
            <a:off x="731520" y="2980944"/>
            <a:ext cx="7680960" cy="694944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3782796" name="TextBox 12"/>
          <p:cNvSpPr txBox="1"/>
          <p:nvPr/>
        </p:nvSpPr>
        <p:spPr bwMode="auto">
          <a:xfrm>
            <a:off x="932688" y="3044951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>
                <a:solidFill>
                  <a:srgbClr val="24364A"/>
                </a:solidFill>
                <a:latin typeface="Arial"/>
              </a:rPr>
              <a:t>NEVER SEEN (rewrite call)</a:t>
            </a:r>
            <a:endParaRPr/>
          </a:p>
        </p:txBody>
      </p:sp>
      <p:sp>
        <p:nvSpPr>
          <p:cNvPr id="1142097004" name="TextBox 13"/>
          <p:cNvSpPr txBox="1"/>
          <p:nvPr/>
        </p:nvSpPr>
        <p:spPr bwMode="auto">
          <a:xfrm>
            <a:off x="932688" y="3273551"/>
            <a:ext cx="7278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24364A"/>
                </a:solidFill>
                <a:latin typeface="Arial"/>
              </a:rPr>
              <a:t>refine_guidelines receives only the principles and the already-correct cases — no gold-labeled discrepancies.</a:t>
            </a:r>
            <a:endParaRPr/>
          </a:p>
        </p:txBody>
      </p:sp>
      <p:sp>
        <p:nvSpPr>
          <p:cNvPr id="764302691" name="Rectangle 14"/>
          <p:cNvSpPr/>
          <p:nvPr/>
        </p:nvSpPr>
        <p:spPr bwMode="auto">
          <a:xfrm>
            <a:off x="731520" y="3785616"/>
            <a:ext cx="7680960" cy="694944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7371083" name="TextBox 15"/>
          <p:cNvSpPr txBox="1"/>
          <p:nvPr/>
        </p:nvSpPr>
        <p:spPr bwMode="auto">
          <a:xfrm>
            <a:off x="932688" y="3849624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1">
                <a:solidFill>
                  <a:srgbClr val="B32D2D"/>
                </a:solidFill>
                <a:latin typeface="Arial"/>
              </a:rPr>
              <a:t>WRITTEN (final guideline)</a:t>
            </a:r>
            <a:endParaRPr/>
          </a:p>
        </p:txBody>
      </p:sp>
      <p:sp>
        <p:nvSpPr>
          <p:cNvPr id="1226532739" name="TextBox 16"/>
          <p:cNvSpPr txBox="1"/>
          <p:nvPr/>
        </p:nvSpPr>
        <p:spPr bwMode="auto">
          <a:xfrm>
            <a:off x="932688" y="4078224"/>
            <a:ext cx="7278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0">
                <a:solidFill>
                  <a:srgbClr val="24364A"/>
                </a:solidFill>
                <a:latin typeface="Arial"/>
              </a:rPr>
              <a:t>The do-not-annotate example for FALDH appears in round 1 and survives to the final guideline.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343225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06</a:t>
            </a:r>
            <a:endParaRPr/>
          </a:p>
        </p:txBody>
      </p:sp>
      <p:sp>
        <p:nvSpPr>
          <p:cNvPr id="472117014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5908875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P4 · MORE DEVELOPMENT DATA?</a:t>
            </a:r>
            <a:endParaRPr/>
          </a:p>
        </p:txBody>
      </p:sp>
      <p:sp>
        <p:nvSpPr>
          <p:cNvPr id="438797746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10 vs 20 vs 30 dev documents; hardcoding count vs validation</a:t>
            </a:r>
            <a:endParaRPr/>
          </a:p>
        </p:txBody>
      </p:sp>
      <p:sp>
        <p:nvSpPr>
          <p:cNvPr id="648028863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845981967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17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169215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Less copying does not turn into better unseen-document performance.</a:t>
            </a:r>
            <a:endParaRPr/>
          </a:p>
        </p:txBody>
      </p:sp>
      <p:sp>
        <p:nvSpPr>
          <p:cNvPr id="788013965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18 / 23</a:t>
            </a:r>
            <a:endParaRPr/>
          </a:p>
        </p:txBody>
      </p:sp>
      <p:sp>
        <p:nvSpPr>
          <p:cNvPr id="1019948333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06 — P4 / SCALE 10 / 20 / 30</a:t>
            </a:r>
            <a:endParaRPr/>
          </a:p>
        </p:txBody>
      </p:sp>
      <p:sp>
        <p:nvSpPr>
          <p:cNvPr id="1562828036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Hardcoding collapses; validation does not follow</a:t>
            </a:r>
            <a:endParaRPr/>
          </a:p>
        </p:txBody>
      </p:sp>
      <p:graphicFrame>
        <p:nvGraphicFramePr>
          <p:cNvPr id="1439337613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371600"/>
          <a:ext cx="7680960" cy="16916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188720"/>
                <a:gridCol w="2286000"/>
                <a:gridCol w="1920240"/>
                <a:gridCol w="2286000"/>
              </a:tblGrid>
              <a:tr h="4229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dev size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dev F1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absorbed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1">
                          <a:solidFill>
                            <a:srgbClr val="00529B"/>
                          </a:solidFill>
                          <a:latin typeface="Arial"/>
                        </a:rPr>
                        <a:t>valid F1 (100 docs)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229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0.7972 → 0.9091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15 / 37  (41%)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0.7878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229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20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0.7821 → 0.8105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6 / 68  (9%)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0.7745  (below original 0.7792)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2291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30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0.8092 → 0.8577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3 / 115  (3%)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200" b="0">
                          <a:solidFill>
                            <a:srgbClr val="24364A"/>
                          </a:solidFill>
                          <a:latin typeface="Arial"/>
                        </a:rPr>
                        <a:t>0.8050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  <p:sp>
        <p:nvSpPr>
          <p:cNvPr id="824801596" name="TextBox 6"/>
          <p:cNvSpPr txBox="1"/>
          <p:nvPr/>
        </p:nvSpPr>
        <p:spPr bwMode="auto">
          <a:xfrm>
            <a:off x="731520" y="3310127"/>
            <a:ext cx="76809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1150" b="0">
                <a:solidFill>
                  <a:srgbClr val="647386"/>
                </a:solidFill>
                <a:latin typeface="Arial"/>
              </a:rPr>
              <a:t>Paired bootstrap: only dev30 vs original is near-significant (+0.026, one-sided 97%); every arm-to-arm difference has a 95% CI crossing 0. Correction to earlier notes: all three runs used n_examples = 5 (verified in configs and prompts) — no example-count confound. One trajectory per size; replicate runs were designed but not executed.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534796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The dev-30 guideline excludes norrin — whose home document is inside the dev-30 split.</a:t>
            </a:r>
            <a:endParaRPr/>
          </a:p>
        </p:txBody>
      </p:sp>
      <p:sp>
        <p:nvSpPr>
          <p:cNvPr id="872934813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19 / 23</a:t>
            </a:r>
            <a:endParaRPr/>
          </a:p>
        </p:txBody>
      </p:sp>
      <p:sp>
        <p:nvSpPr>
          <p:cNvPr id="20164321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06 — P4 / SAME-KIND GOLD CHECK</a:t>
            </a:r>
            <a:endParaRPr/>
          </a:p>
        </p:txBody>
      </p:sp>
      <p:sp>
        <p:nvSpPr>
          <p:cNvPr id="2027691017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Scale does not stop gold-contradicting exclusions</a:t>
            </a:r>
            <a:endParaRPr/>
          </a:p>
        </p:txBody>
      </p:sp>
      <p:sp>
        <p:nvSpPr>
          <p:cNvPr id="367342144" name="TextBox 5"/>
          <p:cNvSpPr txBox="1"/>
          <p:nvPr/>
        </p:nvSpPr>
        <p:spPr bwMode="auto">
          <a:xfrm>
            <a:off x="731520" y="1371600"/>
            <a:ext cx="3657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1">
                <a:solidFill>
                  <a:srgbClr val="00529B"/>
                </a:solidFill>
                <a:latin typeface="Arial"/>
              </a:rPr>
              <a:t>WRITTEN INTO THE DEV-30 GUIDELINE</a:t>
            </a:r>
            <a:endParaRPr/>
          </a:p>
        </p:txBody>
      </p:sp>
      <p:sp>
        <p:nvSpPr>
          <p:cNvPr id="1149250481" name="Rectangle 6"/>
          <p:cNvSpPr/>
          <p:nvPr/>
        </p:nvSpPr>
        <p:spPr bwMode="auto">
          <a:xfrm>
            <a:off x="731520" y="1645920"/>
            <a:ext cx="7680960" cy="86868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2322896" name="TextBox 7"/>
          <p:cNvSpPr txBox="1"/>
          <p:nvPr/>
        </p:nvSpPr>
        <p:spPr bwMode="auto">
          <a:xfrm>
            <a:off x="932688" y="1773936"/>
            <a:ext cx="7278624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300" b="0">
                <a:solidFill>
                  <a:srgbClr val="24364A"/>
                </a:solidFill>
                <a:latin typeface="Arial"/>
              </a:rPr>
              <a:t>“‘BRCA1 alterations’, ‘PEX1 mutations’, and ‘deficiency of norrin’ are not annotated merely because they contain gene/protein or deficiency language.”</a:t>
            </a:r>
            <a:endParaRPr/>
          </a:p>
        </p:txBody>
      </p:sp>
      <p:sp>
        <p:nvSpPr>
          <p:cNvPr id="313820330" name="TextBox 8"/>
          <p:cNvSpPr txBox="1"/>
          <p:nvPr/>
        </p:nvSpPr>
        <p:spPr bwMode="auto">
          <a:xfrm>
            <a:off x="731520" y="263347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>
                <a:solidFill>
                  <a:srgbClr val="24364A"/>
                </a:solidFill>
                <a:latin typeface="Arial"/>
              </a:rPr>
              <a:t>gold: </a:t>
            </a:r>
            <a:r>
              <a:rPr sz="1250" b="1">
                <a:solidFill>
                  <a:srgbClr val="B32D2D"/>
                </a:solidFill>
                <a:latin typeface="Arial"/>
              </a:rPr>
              <a:t>DiseaseClass</a:t>
            </a:r>
            <a:r>
              <a:rPr sz="1250" b="0">
                <a:solidFill>
                  <a:srgbClr val="647386"/>
                </a:solidFill>
                <a:latin typeface="Arial"/>
              </a:rPr>
              <a:t>  ·  doc 10484772 — inside dev30  ·  still missed</a:t>
            </a:r>
            <a:endParaRPr/>
          </a:p>
        </p:txBody>
      </p:sp>
      <p:graphicFrame>
        <p:nvGraphicFramePr>
          <p:cNvPr id="1871569485" name="Table 9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3127248"/>
          <a:ext cx="7680960" cy="10058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554480"/>
                <a:gridCol w="4297680"/>
                <a:gridCol w="1828800"/>
              </a:tblGrid>
              <a:tr h="3352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guideline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conflicting exclusion examples (manual audit)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valid F1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52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dev10 / dev20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 at the flat-example level  (dev20 has zero gold overlap at all)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0.7878 / 0.7745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3352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dev30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1 real (norrin) + inherited conditional rules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0.8050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356447" name="TextBox 1"/>
          <p:cNvSpPr txBox="1"/>
          <p:nvPr/>
        </p:nvSpPr>
        <p:spPr bwMode="auto">
          <a:xfrm>
            <a:off x="731520" y="82296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000" b="1">
                <a:solidFill>
                  <a:srgbClr val="00529B"/>
                </a:solidFill>
                <a:latin typeface="Arial"/>
              </a:rPr>
              <a:t>07</a:t>
            </a:r>
            <a:endParaRPr/>
          </a:p>
        </p:txBody>
      </p:sp>
      <p:sp>
        <p:nvSpPr>
          <p:cNvPr id="457574491" name="Rectangle 2"/>
          <p:cNvSpPr/>
          <p:nvPr/>
        </p:nvSpPr>
        <p:spPr bwMode="auto">
          <a:xfrm>
            <a:off x="731520" y="2423160"/>
            <a:ext cx="640080" cy="27432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277245" name="TextBox 3"/>
          <p:cNvSpPr txBox="1"/>
          <p:nvPr/>
        </p:nvSpPr>
        <p:spPr bwMode="auto">
          <a:xfrm>
            <a:off x="731520" y="26060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600" b="1">
                <a:solidFill>
                  <a:srgbClr val="24364A"/>
                </a:solidFill>
                <a:latin typeface="Arial"/>
              </a:rPr>
              <a:t>WHAT FIVE CHECKS RULE OUT</a:t>
            </a:r>
            <a:endParaRPr/>
          </a:p>
        </p:txBody>
      </p:sp>
      <p:sp>
        <p:nvSpPr>
          <p:cNvPr id="1769302379" name="TextBox 4"/>
          <p:cNvSpPr txBox="1"/>
          <p:nvPr/>
        </p:nvSpPr>
        <p:spPr bwMode="auto"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0">
                <a:solidFill>
                  <a:srgbClr val="647386"/>
                </a:solidFill>
                <a:latin typeface="Arial"/>
              </a:rPr>
              <a:t>Every wording- and evidence-side lever was tried</a:t>
            </a:r>
            <a:endParaRPr/>
          </a:p>
        </p:txBody>
      </p:sp>
      <p:sp>
        <p:nvSpPr>
          <p:cNvPr id="1693995311" name="TextBox 5"/>
          <p:cNvSpPr txBox="1"/>
          <p:nvPr/>
        </p:nvSpPr>
        <p:spPr bwMode="auto">
          <a:xfrm>
            <a:off x="731520" y="4736592"/>
            <a:ext cx="7040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850" b="0">
                <a:solidFill>
                  <a:srgbClr val="647386"/>
                </a:solidFill>
                <a:latin typeface="Arial"/>
              </a:rPr>
              <a:t>When Refinement Writes the Wrong Rule</a:t>
            </a:r>
            <a:endParaRPr/>
          </a:p>
        </p:txBody>
      </p:sp>
      <p:sp>
        <p:nvSpPr>
          <p:cNvPr id="1118191201" name="TextBox 6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20 / 23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33013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Edit the wording (P1/P2), add parallel evidence (P3), add data (P4) — none of it reaches this call.</a:t>
            </a:r>
            <a:endParaRPr/>
          </a:p>
        </p:txBody>
      </p:sp>
      <p:sp>
        <p:nvSpPr>
          <p:cNvPr id="595648769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21 / 23</a:t>
            </a:r>
            <a:endParaRPr/>
          </a:p>
        </p:txBody>
      </p:sp>
      <p:sp>
        <p:nvSpPr>
          <p:cNvPr id="1169685944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07 — SYNTHESIS / THE GAP</a:t>
            </a:r>
            <a:endParaRPr/>
          </a:p>
        </p:txBody>
      </p:sp>
      <p:sp>
        <p:nvSpPr>
          <p:cNvPr id="36792555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The evidence never reaches the call that writes the rule</a:t>
            </a:r>
            <a:endParaRPr/>
          </a:p>
        </p:txBody>
      </p:sp>
      <p:sp>
        <p:nvSpPr>
          <p:cNvPr id="843301622" name="Rectangle 5"/>
          <p:cNvSpPr/>
          <p:nvPr/>
        </p:nvSpPr>
        <p:spPr bwMode="auto">
          <a:xfrm>
            <a:off x="246887" y="1603014"/>
            <a:ext cx="1645920" cy="13716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6818126" name="TextBox 6"/>
          <p:cNvSpPr txBox="1"/>
          <p:nvPr/>
        </p:nvSpPr>
        <p:spPr bwMode="auto">
          <a:xfrm>
            <a:off x="338327" y="1712742"/>
            <a:ext cx="146304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050" b="0">
                <a:solidFill>
                  <a:srgbClr val="24364A"/>
                </a:solidFill>
                <a:latin typeface="Arial"/>
              </a:rPr>
              <a:t>annotate + score dev docs</a:t>
            </a:r>
            <a:endParaRPr/>
          </a:p>
        </p:txBody>
      </p:sp>
      <p:sp>
        <p:nvSpPr>
          <p:cNvPr id="2013924542" name="Rectangle 7"/>
          <p:cNvSpPr/>
          <p:nvPr/>
        </p:nvSpPr>
        <p:spPr bwMode="auto">
          <a:xfrm>
            <a:off x="2020823" y="1603014"/>
            <a:ext cx="1645920" cy="13716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705282" name="TextBox 8"/>
          <p:cNvSpPr txBox="1"/>
          <p:nvPr/>
        </p:nvSpPr>
        <p:spPr bwMode="auto">
          <a:xfrm>
            <a:off x="2112263" y="1712742"/>
            <a:ext cx="146304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050" b="0">
                <a:solidFill>
                  <a:srgbClr val="24364A"/>
                </a:solidFill>
                <a:latin typeface="Arial"/>
              </a:rPr>
              <a:t>cluster mismatches</a:t>
            </a:r>
            <a:endParaRPr/>
          </a:p>
        </p:txBody>
      </p:sp>
      <p:sp>
        <p:nvSpPr>
          <p:cNvPr id="1994549766" name="Rectangle 9"/>
          <p:cNvSpPr/>
          <p:nvPr/>
        </p:nvSpPr>
        <p:spPr bwMode="auto">
          <a:xfrm>
            <a:off x="3794758" y="1603014"/>
            <a:ext cx="1645920" cy="13716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0238344" name="TextBox 10"/>
          <p:cNvSpPr txBox="1"/>
          <p:nvPr/>
        </p:nvSpPr>
        <p:spPr bwMode="auto">
          <a:xfrm>
            <a:off x="3886198" y="1712742"/>
            <a:ext cx="146304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050" b="0">
                <a:solidFill>
                  <a:srgbClr val="24364A"/>
                </a:solidFill>
                <a:latin typeface="Arial"/>
              </a:rPr>
              <a:t>per-cluster analysis — gold labels visible here</a:t>
            </a:r>
            <a:endParaRPr/>
          </a:p>
        </p:txBody>
      </p:sp>
      <p:sp>
        <p:nvSpPr>
          <p:cNvPr id="1514466560" name="Rectangle 11"/>
          <p:cNvSpPr/>
          <p:nvPr/>
        </p:nvSpPr>
        <p:spPr bwMode="auto">
          <a:xfrm>
            <a:off x="5568695" y="1603014"/>
            <a:ext cx="1645920" cy="13716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350859" name="TextBox 12"/>
          <p:cNvSpPr txBox="1"/>
          <p:nvPr/>
        </p:nvSpPr>
        <p:spPr bwMode="auto">
          <a:xfrm>
            <a:off x="5660135" y="1712742"/>
            <a:ext cx="146304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050" b="0">
                <a:solidFill>
                  <a:srgbClr val="24364A"/>
                </a:solidFill>
                <a:latin typeface="Arial"/>
              </a:rPr>
              <a:t>principles — entity names dropped</a:t>
            </a:r>
            <a:endParaRPr/>
          </a:p>
        </p:txBody>
      </p:sp>
      <p:sp>
        <p:nvSpPr>
          <p:cNvPr id="1518977143" name="Rectangle 13"/>
          <p:cNvSpPr/>
          <p:nvPr/>
        </p:nvSpPr>
        <p:spPr bwMode="auto">
          <a:xfrm>
            <a:off x="7342632" y="1603014"/>
            <a:ext cx="1645920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251669" name="TextBox 14"/>
          <p:cNvSpPr txBox="1"/>
          <p:nvPr/>
        </p:nvSpPr>
        <p:spPr bwMode="auto">
          <a:xfrm>
            <a:off x="7434071" y="1712742"/>
            <a:ext cx="146304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050" b="1">
                <a:solidFill>
                  <a:srgbClr val="FFFFFF"/>
                </a:solidFill>
                <a:latin typeface="Arial"/>
              </a:rPr>
              <a:t>rewrite guideline — sees principles + already-correct cases only</a:t>
            </a:r>
            <a:endParaRPr/>
          </a:p>
        </p:txBody>
      </p:sp>
      <p:sp>
        <p:nvSpPr>
          <p:cNvPr id="770558742" name="TextBox 15"/>
          <p:cNvSpPr txBox="1"/>
          <p:nvPr/>
        </p:nvSpPr>
        <p:spPr bwMode="auto">
          <a:xfrm>
            <a:off x="731520" y="3246120"/>
            <a:ext cx="7680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defRPr/>
            </a:pPr>
            <a:r>
              <a:rPr sz="1350" b="1">
                <a:solidFill>
                  <a:srgbClr val="00529B"/>
                </a:solidFill>
                <a:latin typeface="Arial"/>
              </a:rPr>
              <a:t>Ruled out: </a:t>
            </a:r>
            <a:r>
              <a:rPr sz="1350" b="0">
                <a:solidFill>
                  <a:srgbClr val="24364A"/>
                </a:solidFill>
                <a:latin typeface="Arial"/>
              </a:rPr>
              <a:t>the safety clause (P1), its scope (P2), parallel evidence to the analysis calls (P3), and dev-set size (P4).</a:t>
            </a:r>
            <a:endParaRPr/>
          </a:p>
          <a:p>
            <a:pPr algn="l">
              <a:lnSpc>
                <a:spcPct val="125000"/>
              </a:lnSpc>
              <a:defRPr/>
            </a:pPr>
            <a:r>
              <a:rPr sz="1350" b="1">
                <a:solidFill>
                  <a:srgbClr val="00529B"/>
                </a:solidFill>
                <a:latin typeface="Arial"/>
              </a:rPr>
              <a:t>Located: </a:t>
            </a:r>
            <a:r>
              <a:rPr sz="1350" b="0">
                <a:solidFill>
                  <a:srgbClr val="24364A"/>
                </a:solidFill>
                <a:latin typeface="Arial"/>
              </a:rPr>
              <a:t>gold-labeled discrepancy evidence is dropped at the principle step and never shown to the rewrite call.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402877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Validate on the small split first; only then spend the 100-document evaluation.</a:t>
            </a:r>
            <a:endParaRPr/>
          </a:p>
        </p:txBody>
      </p:sp>
      <p:sp>
        <p:nvSpPr>
          <p:cNvPr id="982249205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22 / 23</a:t>
            </a:r>
            <a:endParaRPr/>
          </a:p>
        </p:txBody>
      </p:sp>
      <p:sp>
        <p:nvSpPr>
          <p:cNvPr id="606854304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07 — SYNTHESIS / NEXT</a:t>
            </a:r>
            <a:endParaRPr/>
          </a:p>
        </p:txBody>
      </p:sp>
      <p:sp>
        <p:nvSpPr>
          <p:cNvPr id="145762188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Two candidate fixes, aimed at the gap</a:t>
            </a:r>
            <a:endParaRPr/>
          </a:p>
        </p:txBody>
      </p:sp>
      <p:sp>
        <p:nvSpPr>
          <p:cNvPr id="1982631278" name="Rectangle 5"/>
          <p:cNvSpPr/>
          <p:nvPr/>
        </p:nvSpPr>
        <p:spPr bwMode="auto">
          <a:xfrm>
            <a:off x="731520" y="1417320"/>
            <a:ext cx="3703320" cy="21031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0748440" name="TextBox 6"/>
          <p:cNvSpPr txBox="1"/>
          <p:nvPr/>
        </p:nvSpPr>
        <p:spPr bwMode="auto">
          <a:xfrm>
            <a:off x="932688" y="155448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>
                <a:solidFill>
                  <a:srgbClr val="00529B"/>
                </a:solidFill>
                <a:latin typeface="Arial"/>
              </a:rPr>
              <a:t>A · FEED THE REWRITE</a:t>
            </a:r>
            <a:endParaRPr/>
          </a:p>
        </p:txBody>
      </p:sp>
      <p:sp>
        <p:nvSpPr>
          <p:cNvPr id="205454713" name="TextBox 7"/>
          <p:cNvSpPr txBox="1"/>
          <p:nvPr/>
        </p:nvSpPr>
        <p:spPr bwMode="auto">
          <a:xfrm>
            <a:off x="932688" y="1883664"/>
            <a:ext cx="3337560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>
                <a:solidFill>
                  <a:srgbClr val="24364A"/>
                </a:solidFill>
                <a:latin typeface="Arial"/>
              </a:rPr>
              <a:t>Inject the gold-labeled discrepancy cases into the rewrite call itself (“new rules must not contradict these”), not only into the analysis calls.</a:t>
            </a:r>
            <a:endParaRPr/>
          </a:p>
        </p:txBody>
      </p:sp>
      <p:sp>
        <p:nvSpPr>
          <p:cNvPr id="42903291" name="Rectangle 8"/>
          <p:cNvSpPr/>
          <p:nvPr/>
        </p:nvSpPr>
        <p:spPr bwMode="auto">
          <a:xfrm>
            <a:off x="4709160" y="1417320"/>
            <a:ext cx="3703320" cy="210312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1971531" name="TextBox 9"/>
          <p:cNvSpPr txBox="1"/>
          <p:nvPr/>
        </p:nvSpPr>
        <p:spPr bwMode="auto">
          <a:xfrm>
            <a:off x="4910328" y="155448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>
                <a:solidFill>
                  <a:srgbClr val="00529B"/>
                </a:solidFill>
                <a:latin typeface="Arial"/>
              </a:rPr>
              <a:t>B · VERIFY AFTER WRITING</a:t>
            </a:r>
            <a:endParaRPr/>
          </a:p>
        </p:txBody>
      </p:sp>
      <p:sp>
        <p:nvSpPr>
          <p:cNvPr id="367030358" name="TextBox 10"/>
          <p:cNvSpPr txBox="1"/>
          <p:nvPr/>
        </p:nvSpPr>
        <p:spPr bwMode="auto">
          <a:xfrm>
            <a:off x="4910328" y="1883664"/>
            <a:ext cx="3337560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>
                <a:solidFill>
                  <a:srgbClr val="24364A"/>
                </a:solidFill>
                <a:latin typeface="Arial"/>
              </a:rPr>
              <a:t>Check every new do-not-annotate example against gold before accepting the guideline; reject or rewrite contradicting ones (post-verify probe direction).</a:t>
            </a:r>
            <a:endParaRPr/>
          </a:p>
        </p:txBody>
      </p:sp>
      <p:sp>
        <p:nvSpPr>
          <p:cNvPr id="555008358" name="TextBox 11"/>
          <p:cNvSpPr txBox="1"/>
          <p:nvPr/>
        </p:nvSpPr>
        <p:spPr bwMode="auto"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647386"/>
                </a:solidFill>
                <a:latin typeface="Arial"/>
              </a:rPr>
              <a:t>Either arm is a one-variable replay of the Round-3 boundary — same cost class as P1/P2.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187758" name="TextBox 1"/>
          <p:cNvSpPr txBox="1"/>
          <p:nvPr/>
        </p:nvSpPr>
        <p:spPr bwMode="auto">
          <a:xfrm>
            <a:off x="731520" y="4645152"/>
            <a:ext cx="7406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>
                <a:solidFill>
                  <a:srgbClr val="24364A"/>
                </a:solidFill>
                <a:latin typeface="Arial"/>
              </a:rPr>
              <a:t>The failure is structural: the rewrite call is blind to labeled evidence.</a:t>
            </a:r>
            <a:endParaRPr/>
          </a:p>
        </p:txBody>
      </p:sp>
      <p:sp>
        <p:nvSpPr>
          <p:cNvPr id="50847540" name="TextBox 2"/>
          <p:cNvSpPr txBox="1"/>
          <p:nvPr/>
        </p:nvSpPr>
        <p:spPr bwMode="auto">
          <a:xfrm>
            <a:off x="8165592" y="4700016"/>
            <a:ext cx="7040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50" b="0">
                <a:solidFill>
                  <a:srgbClr val="647386"/>
                </a:solidFill>
                <a:latin typeface="Arial"/>
              </a:rPr>
              <a:t>23 / 23</a:t>
            </a:r>
            <a:endParaRPr/>
          </a:p>
        </p:txBody>
      </p:sp>
      <p:sp>
        <p:nvSpPr>
          <p:cNvPr id="1686168519" name="TextBox 3"/>
          <p:cNvSpPr txBox="1"/>
          <p:nvPr/>
        </p:nvSpPr>
        <p:spPr bwMode="auto">
          <a:xfrm>
            <a:off x="731520" y="320040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900" b="0">
                <a:solidFill>
                  <a:srgbClr val="647386"/>
                </a:solidFill>
                <a:latin typeface="Arial"/>
              </a:rPr>
              <a:t>SUMMARY</a:t>
            </a:r>
            <a:endParaRPr/>
          </a:p>
        </p:txBody>
      </p:sp>
      <p:sp>
        <p:nvSpPr>
          <p:cNvPr id="1585662375" name="TextBox 4"/>
          <p:cNvSpPr txBox="1"/>
          <p:nvPr/>
        </p:nvSpPr>
        <p:spPr bwMode="auto">
          <a:xfrm>
            <a:off x="731520" y="6858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>
                <a:solidFill>
                  <a:srgbClr val="24364A"/>
                </a:solidFill>
                <a:latin typeface="Arial"/>
              </a:rPr>
              <a:t>Five questions, five answers</a:t>
            </a:r>
            <a:endParaRPr/>
          </a:p>
        </p:txBody>
      </p:sp>
      <p:graphicFrame>
        <p:nvGraphicFramePr>
          <p:cNvPr id="1482507222" name="Table 5"/>
          <p:cNvGraphicFramePr>
            <a:graphicFrameLocks xmlns:a="http://schemas.openxmlformats.org/drawingml/2006/main" noGrp="1"/>
          </p:cNvGraphicFramePr>
          <p:nvPr/>
        </p:nvGraphicFramePr>
        <p:xfrm rot="0">
          <a:off x="731520" y="1371600"/>
          <a:ext cx="7680960" cy="29260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31520"/>
                <a:gridCol w="2651760"/>
                <a:gridCol w="4297680"/>
              </a:tblGrid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check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question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1">
                          <a:solidFill>
                            <a:srgbClr val="00529B"/>
                          </a:solidFill>
                          <a:latin typeface="Arial"/>
                        </a:rPr>
                        <a:t>answer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P0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What did Round 4 change?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+0.022 F1; 3 fixes, 1 regression; the famous misses pre-date it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P1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Blame the safety clause?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No — a precision guardrail; deleting it doubles S→D errors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P2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Rescope the clause?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No — misses stay; wording is symptom, not cause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P3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Top-4 over Top-1?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Yes on validation (0.8023 vs 0.7878), not yet significant; same wrong examples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  <a:tr h="4876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P4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More dev data?</a:t>
                      </a:r>
                      <a:endParaRPr/>
                    </a:p>
                  </a:txBody>
                  <a:tcPr marL="76200" marR="76200" marT="25400" marB="25400"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50" b="0">
                          <a:solidFill>
                            <a:srgbClr val="24364A"/>
                          </a:solidFill>
                          <a:latin typeface="Arial"/>
                        </a:rPr>
                        <a:t>Hardcoding collapses 41%→3%; validation flat; exclusions persist</a:t>
                      </a:r>
                      <a:endParaRPr/>
                    </a:p>
                  </a:txBody>
                  <a:tcPr marL="76200" marR="76200" marT="25400" marB="2540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2026-10-09T00:57:07Z</dcterms:modified>
  <cp:category/>
</cp:coreProperties>
</file>