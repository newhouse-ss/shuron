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Masters/notesMaster1.xml" ContentType="application/vnd.openxmlformats-officedocument.presentationml.notesMaster+xml"/>
  <Override PartName="/ppt/slides/slide3.xml" ContentType="application/vnd.openxmlformats-officedocument.presentationml.slide+xml"/>
  <Override PartName="/ppt/theme/theme1.xml" ContentType="application/vnd.openxmlformats-officedocument.theme+xml"/>
  <Override PartName="/ppt/slides/slide6.xml" ContentType="application/vnd.openxmlformats-officedocument.presentationml.slide+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slides/slide4.xml" ContentType="application/vnd.openxmlformats-officedocument.presentationml.slide+xml"/>
  <Override PartName="/ppt/slides/slide5.xml" ContentType="application/vnd.openxmlformats-officedocument.presentationml.slide+xml"/>
  <Override PartName="/ppt/notesSlides/notesSlide8.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notesSlides/notesSlide1.xml" ContentType="application/vnd.openxmlformats-officedocument.presentationml.notesSlide+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1"/>
  </p:notesMasterIdLst>
  <p:sldIdLst>
    <p:sldId id="256" r:id="rId3"/>
    <p:sldId id="257" r:id="rId4"/>
    <p:sldId id="258" r:id="rId5"/>
    <p:sldId id="259" r:id="rId6"/>
    <p:sldId id="260" r:id="rId7"/>
    <p:sldId id="261" r:id="rId8"/>
    <p:sldId id="262" r:id="rId9"/>
    <p:sldId id="263" r:id="rId10"/>
  </p:sldIdLst>
  <p:sldSz cx="9144000" cy="5143500"/>
  <p:notesSz cx="5143500" cy="9144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2880"/>
        <p:guide pos="162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notesMaster" Target="notesMasters/notesMaster1.xml"/><Relationship Id="rId12" Type="http://schemas.openxmlformats.org/officeDocument/2006/relationships/presProps" Target="presProps.xml" /><Relationship Id="rId13" Type="http://schemas.openxmlformats.org/officeDocument/2006/relationships/tableStyles" Target="tableStyles.xml" /><Relationship Id="rId14"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462160105"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820469531"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1496935296"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929357559"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813337718"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442360632"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0876136" name="Slide Image Placeholder 1"/>
          <p:cNvSpPr>
            <a:spLocks noChangeAspect="1" noGrp="1" noRot="1"/>
          </p:cNvSpPr>
          <p:nvPr>
            <p:ph type="sldImg"/>
          </p:nvPr>
        </p:nvSpPr>
        <p:spPr bwMode="auto"/>
      </p:sp>
      <p:sp>
        <p:nvSpPr>
          <p:cNvPr id="464691612" name="Notes Placeholder 2"/>
          <p:cNvSpPr>
            <a:spLocks noGrp="1"/>
          </p:cNvSpPr>
          <p:nvPr>
            <p:ph type="body" idx="1"/>
          </p:nvPr>
        </p:nvSpPr>
        <p:spPr bwMode="auto"/>
        <p:txBody>
          <a:bodyPr/>
          <a:lstStyle/>
          <a:p>
            <a:pPr>
              <a:defRPr/>
            </a:pPr>
            <a:r>
              <a:rPr lang="en-US"/>
              <a:t>Purpose: establish a clear expert annotation benchmark for the study on optimizing LLM annotation guideline refinement.,The report addresses the need to measure expert performance. It does not claim that the model can already replace experts.,Primary context: the supplied research paper and the supplied Mid-term Presentation Feedback and Next Steps document dated 2026/09/15.</a:t>
            </a:r>
            <a:endParaRPr lang="en-US"/>
          </a:p>
        </p:txBody>
      </p:sp>
      <p:sp>
        <p:nvSpPr>
          <p:cNvPr id="1530725815"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14382651" name="Slide Image Placeholder 1"/>
          <p:cNvSpPr>
            <a:spLocks noChangeAspect="1" noGrp="1" noRot="1"/>
          </p:cNvSpPr>
          <p:nvPr>
            <p:ph type="sldImg"/>
          </p:nvPr>
        </p:nvSpPr>
        <p:spPr bwMode="auto"/>
      </p:sp>
      <p:sp>
        <p:nvSpPr>
          <p:cNvPr id="718250779" name="Notes Placeholder 2"/>
          <p:cNvSpPr>
            <a:spLocks noGrp="1"/>
          </p:cNvSpPr>
          <p:nvPr>
            <p:ph type="body" idx="1"/>
          </p:nvPr>
        </p:nvSpPr>
        <p:spPr bwMode="auto"/>
        <p:txBody>
          <a:bodyPr/>
          <a:lstStyle/>
          <a:p>
            <a:pPr>
              <a:defRPr/>
            </a:pPr>
            <a:r>
              <a:rPr lang="en-US"/>
              <a:t>The missing benchmark is an expert F1 score that is directly comparable with the LLM score in this study.,This does not assert that no expert annotation data exist anywhere. It states that a suitable expert performance benchmark has not been established for the present comparison.</a:t>
            </a:r>
            <a:endParaRPr lang="en-US"/>
          </a:p>
        </p:txBody>
      </p:sp>
      <p:sp>
        <p:nvSpPr>
          <p:cNvPr id="1847415247"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75033289" name="Slide Image Placeholder 1"/>
          <p:cNvSpPr>
            <a:spLocks noChangeAspect="1" noGrp="1" noRot="1"/>
          </p:cNvSpPr>
          <p:nvPr>
            <p:ph type="sldImg"/>
          </p:nvPr>
        </p:nvSpPr>
        <p:spPr bwMode="auto"/>
      </p:sp>
      <p:sp>
        <p:nvSpPr>
          <p:cNvPr id="2006924477" name="Notes Placeholder 2"/>
          <p:cNvSpPr>
            <a:spLocks noGrp="1"/>
          </p:cNvSpPr>
          <p:nvPr>
            <p:ph type="body" idx="1"/>
          </p:nvPr>
        </p:nvSpPr>
        <p:spPr bwMode="auto"/>
        <p:txBody>
          <a:bodyPr/>
          <a:lstStyle/>
          <a:p>
            <a:pPr>
              <a:defRPr/>
            </a:pPr>
            <a:r>
              <a:rPr lang="en-US"/>
              <a:t>IAA means inter annotator agreement. It describes consistency between annotators rather than one uniquely defined statistic.,For annotation sets A and B under one exact matching rule, F1 equals twice the number of matching annotations divided by the sum of the sizes of A and B. The formula assumes one to one matching and nonempty sets.,The source paper defines its evaluation in Section 3.3 as exact entity boundary and entity type matching between LLM predictions and gold labels. It calls this score an IAA measure.,General reference: Artstein, R., and Poesio, M. 2008. Inter-Coder Agreement for Computational Linguistics. Computational Linguistics 34(4), 555 to 596. DOI 10.1162/coli.07-034-R2.</a:t>
            </a:r>
            <a:endParaRPr lang="en-US"/>
          </a:p>
        </p:txBody>
      </p:sp>
      <p:sp>
        <p:nvSpPr>
          <p:cNvPr id="172466749"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991342" name="Slide Image Placeholder 1"/>
          <p:cNvSpPr>
            <a:spLocks noChangeAspect="1" noGrp="1" noRot="1"/>
          </p:cNvSpPr>
          <p:nvPr>
            <p:ph type="sldImg"/>
          </p:nvPr>
        </p:nvSpPr>
        <p:spPr bwMode="auto"/>
      </p:sp>
      <p:sp>
        <p:nvSpPr>
          <p:cNvPr id="191099989" name="Notes Placeholder 2"/>
          <p:cNvSpPr>
            <a:spLocks noGrp="1"/>
          </p:cNvSpPr>
          <p:nvPr>
            <p:ph type="body" idx="1"/>
          </p:nvPr>
        </p:nvSpPr>
        <p:spPr bwMode="auto"/>
        <p:txBody>
          <a:bodyPr/>
          <a:lstStyle/>
          <a:p>
            <a:pPr>
              <a:defRPr/>
            </a:pPr>
            <a:r>
              <a:rPr lang="en-US"/>
              <a:t>Values are transcribed from the supplied paper's Appendix on page 10: BC5CDR disease 87.49%; BC5CDR chemical 96.05%; BioRED entity agreement 97.01%; NCBI Disease mention agreement approximately 87.5%.,The full dataset labels and precise reported values are listed beside the chart. A, B, C and D are chart keys, not shortened dataset names.,The appendix cites Li et al. 2016 for BC5CDR, Luo et al. 2022 for BioRED, and Leaman et al. 2013 for the NCBI value. These are reported source values, not newly verified measurements or recalculated F1 scores.,The source paper does not establish a common task and scoring protocol that would make these values a directly comparable expert versus gold benchmark for its LLM evaluation.,These percentages are shown as source context. They are not a model performance target or a ceiling on model performance.</a:t>
            </a:r>
            <a:endParaRPr lang="en-US"/>
          </a:p>
        </p:txBody>
      </p:sp>
      <p:sp>
        <p:nvSpPr>
          <p:cNvPr id="532182708"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1212064" name="Slide Image Placeholder 1"/>
          <p:cNvSpPr>
            <a:spLocks noChangeAspect="1" noGrp="1" noRot="1"/>
          </p:cNvSpPr>
          <p:nvPr>
            <p:ph type="sldImg"/>
          </p:nvPr>
        </p:nvSpPr>
        <p:spPr bwMode="auto"/>
      </p:sp>
      <p:sp>
        <p:nvSpPr>
          <p:cNvPr id="1719854059" name="Notes Placeholder 2"/>
          <p:cNvSpPr>
            <a:spLocks noGrp="1"/>
          </p:cNvSpPr>
          <p:nvPr>
            <p:ph type="body" idx="1"/>
          </p:nvPr>
        </p:nvSpPr>
        <p:spPr bwMode="auto"/>
        <p:txBody>
          <a:bodyPr/>
          <a:lstStyle/>
          <a:p>
            <a:pPr>
              <a:defRPr/>
            </a:pPr>
            <a:r>
              <a:rPr lang="en-US"/>
              <a:t>The required human benchmark is expert annotation performance against the same gold reference used to assess the LLM.,Human versus human agreement and model versus gold performance compare different pairs of label sets, even if both use F1.,The diagram is a conceptual comparison, not a complete experiment protocol. No sample size, training requirement, consensus procedure, or statistical decision rule is specified.</a:t>
            </a:r>
            <a:endParaRPr lang="en-US"/>
          </a:p>
        </p:txBody>
      </p:sp>
      <p:sp>
        <p:nvSpPr>
          <p:cNvPr id="2085933266"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02298818" name="Slide Image Placeholder 1"/>
          <p:cNvSpPr>
            <a:spLocks noChangeAspect="1" noGrp="1" noRot="1"/>
          </p:cNvSpPr>
          <p:nvPr>
            <p:ph type="sldImg"/>
          </p:nvPr>
        </p:nvSpPr>
        <p:spPr bwMode="auto"/>
      </p:sp>
      <p:sp>
        <p:nvSpPr>
          <p:cNvPr id="1992663428" name="Notes Placeholder 2"/>
          <p:cNvSpPr>
            <a:spLocks noGrp="1"/>
          </p:cNvSpPr>
          <p:nvPr>
            <p:ph type="body" idx="1"/>
          </p:nvPr>
        </p:nvSpPr>
        <p:spPr bwMode="auto"/>
        <p:txBody>
          <a:bodyPr/>
          <a:lstStyle/>
          <a:p>
            <a:pPr>
              <a:defRPr/>
            </a:pPr>
            <a:r>
              <a:rPr lang="en-US"/>
              <a:t>This slide states the minimum information needed to establish the benchmark. It intentionally stops short of an experiment design.,The expert and LLM scores must use the same set of evaluation texts. A whole dataset model score should not be compared directly with an expert score from a different subset.,Existing gold labels by themselves do not provide a separate expert performance score. The plan therefore requires expert annotations rather than assuming a usable public set of individual expert annotations is available.</a:t>
            </a:r>
            <a:endParaRPr lang="en-US"/>
          </a:p>
        </p:txBody>
      </p:sp>
      <p:sp>
        <p:nvSpPr>
          <p:cNvPr id="615066873"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03763723" name="Slide Image Placeholder 1"/>
          <p:cNvSpPr>
            <a:spLocks noChangeAspect="1" noGrp="1" noRot="1"/>
          </p:cNvSpPr>
          <p:nvPr>
            <p:ph type="sldImg"/>
          </p:nvPr>
        </p:nvSpPr>
        <p:spPr bwMode="auto"/>
      </p:sp>
      <p:sp>
        <p:nvSpPr>
          <p:cNvPr id="2032407442" name="Notes Placeholder 2"/>
          <p:cNvSpPr>
            <a:spLocks noGrp="1"/>
          </p:cNvSpPr>
          <p:nvPr>
            <p:ph type="body" idx="1"/>
          </p:nvPr>
        </p:nvSpPr>
        <p:spPr bwMode="auto"/>
        <p:txBody>
          <a:bodyPr/>
          <a:lstStyle/>
          <a:p>
            <a:pPr>
              <a:defRPr/>
            </a:pPr>
            <a:r>
              <a:rPr lang="en-US"/>
              <a:t>The study uses BioBERT on NCBI Disease with F1 0.86 as its stated SOTA comparison reference. This value is retained from the research context supplied by the user; it is not presented as a newly verified universal best result across all scoring protocols.,Human in the loop is a possible direction toward expert quality, but no particular division of work between the LLM and experts is specified.,The immediate need is an expert F1 score measured against the same gold labels and under the same scoring rules as the model score.,The deck contains no separate resource alternatives slide and no reference list slide. Necessary source attribution remains in slide footers and notes.</a:t>
            </a:r>
            <a:endParaRPr lang="en-US"/>
          </a:p>
        </p:txBody>
      </p:sp>
      <p:sp>
        <p:nvSpPr>
          <p:cNvPr id="1147622899"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96592754" name="Slide Image Placeholder 1"/>
          <p:cNvSpPr>
            <a:spLocks noChangeAspect="1" noGrp="1" noRot="1"/>
          </p:cNvSpPr>
          <p:nvPr>
            <p:ph type="sldImg"/>
          </p:nvPr>
        </p:nvSpPr>
        <p:spPr bwMode="auto"/>
      </p:sp>
      <p:sp>
        <p:nvSpPr>
          <p:cNvPr id="1429547955" name="Notes Placeholder 2"/>
          <p:cNvSpPr>
            <a:spLocks noGrp="1"/>
          </p:cNvSpPr>
          <p:nvPr>
            <p:ph type="body" idx="1"/>
          </p:nvPr>
        </p:nvSpPr>
        <p:spPr bwMode="auto"/>
        <p:txBody>
          <a:bodyPr/>
          <a:lstStyle/>
          <a:p>
            <a:pPr>
              <a:defRPr/>
            </a:pPr>
            <a:r>
              <a:rPr lang="en-US"/>
              <a:t>This appendix summarizes published human agreement results. It does not identify these scores as expert performance against gold under the model's evaluation protocol.,The numerical values are quoted in the user-supplied manuscript, Refining and Reusing Annotation Guidelines for LLM Annotation, Appendix, PDF page 10. The BC5CDR agreement measure is described as Jaccard in the source information supplied in the conversation.,Sources: Leaman, R., Islamaj Dogan, R., and Lu, Z. (2013). DNorm: disease name normalization with pairwise learning to rank. Bioinformatics, 29(22), 2909-2917. The supplied manuscript cites this paper for approximately 87.5% agreement on NCBI Disease.,Li, J., et al. (2016). BioCreative V CDR task corpus: a resource for chemical disease relation extraction. Database, 2016, baw068. DOI: 10.1093/database/baw068.,Luo, L., et al. (2022). BioRED: a rich biomedical relation extraction dataset. Briefings in Bioinformatics, 23(5), bbac282. DOI: 10.1093/bib/bbac282.,This summary is not evidence that separately recorded expert annotations do not exist. A comparable expert F1 or the paired expert labels needed to calculate it has not been established by the supplied agreement scores.</a:t>
            </a:r>
            <a:endParaRPr lang="en-US"/>
          </a:p>
        </p:txBody>
      </p:sp>
      <p:sp>
        <p:nvSpPr>
          <p:cNvPr id="76075040" name="Slide Number Placeholder 3"/>
          <p:cNvSpPr>
            <a:spLocks noGrp="1"/>
          </p:cNvSpPr>
          <p:nvPr>
            <p:ph type="sldNum" sz="quarter" idx="10"/>
          </p:nvPr>
        </p:nvSpPr>
        <p:spPr bwMode="auto"/>
        <p:txBody>
          <a:bodyPr/>
          <a:lstStyle/>
          <a:p>
            <a:pPr>
              <a:defRPr/>
            </a:pPr>
            <a:fld id="{509770C7-5D22-5CDF-BF6A-7FD05E605187}" type="slidenum">
              <a:rPr lang="en-US"/>
              <a:t>1</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FFFFFF"/>
        </a:solidFill>
      </p:bgPr>
    </p:bg>
    <p:spTree>
      <p:nvGrpSpPr>
        <p:cNvPr id="1" name=""/>
        <p:cNvGrpSpPr/>
        <p:nvPr/>
      </p:nvGrpSpPr>
      <p:grpSpPr bwMode="auto">
        <a:xfrm>
          <a:off x="0" y="0"/>
          <a:ext cx="0" cy="0"/>
          <a:chOff x="0" y="0"/>
          <a:chExt cx="0" cy="0"/>
        </a:xfrm>
      </p:grpSpPr>
      <p:sp>
        <p:nvSpPr>
          <p:cNvPr id="1414903914" name="Text 0"/>
          <p:cNvSpPr/>
          <p:nvPr/>
        </p:nvSpPr>
        <p:spPr bwMode="auto">
          <a:xfrm>
            <a:off x="731520" y="566928"/>
            <a:ext cx="7680960" cy="320040"/>
          </a:xfrm>
          <a:prstGeom prst="rect">
            <a:avLst/>
          </a:prstGeom>
          <a:noFill/>
          <a:ln/>
        </p:spPr>
        <p:txBody>
          <a:bodyPr wrap="square" lIns="0" tIns="0" rIns="0" bIns="0" rtlCol="0" anchor="t">
            <a:spAutoFit/>
          </a:bodyPr>
          <a:lstStyle/>
          <a:p>
            <a:pPr marL="0" indent="0" algn="l">
              <a:buNone/>
              <a:defRPr/>
            </a:pPr>
            <a:r>
              <a:rPr lang="en-US" sz="1000" spc="250">
                <a:solidFill>
                  <a:srgbClr val="8D94A1"/>
                </a:solidFill>
                <a:latin typeface="Arial"/>
                <a:ea typeface="Arial"/>
                <a:cs typeface="Arial"/>
              </a:rPr>
              <a:t>LLM ANNOTATION GUIDELINE REFINEMENT</a:t>
            </a:r>
            <a:endParaRPr lang="en-US" sz="1000"/>
          </a:p>
        </p:txBody>
      </p:sp>
      <p:sp>
        <p:nvSpPr>
          <p:cNvPr id="64425385" name="Text 1"/>
          <p:cNvSpPr/>
          <p:nvPr/>
        </p:nvSpPr>
        <p:spPr bwMode="auto">
          <a:xfrm>
            <a:off x="731520" y="1645920"/>
            <a:ext cx="7680960" cy="1280160"/>
          </a:xfrm>
          <a:prstGeom prst="rect">
            <a:avLst/>
          </a:prstGeom>
          <a:noFill/>
          <a:ln/>
        </p:spPr>
        <p:txBody>
          <a:bodyPr wrap="square" lIns="0" tIns="0" rIns="0" bIns="0" rtlCol="0" anchor="ctr">
            <a:spAutoFit/>
          </a:bodyPr>
          <a:lstStyle/>
          <a:p>
            <a:pPr marL="0" indent="0" algn="l">
              <a:lnSpc>
                <a:spcPct val="105000"/>
              </a:lnSpc>
              <a:buNone/>
              <a:defRPr/>
            </a:pPr>
            <a:r>
              <a:rPr lang="en-US" sz="3800" b="1" spc="-40">
                <a:solidFill>
                  <a:srgbClr val="2E3542"/>
                </a:solidFill>
                <a:latin typeface="Arial"/>
                <a:ea typeface="Arial"/>
                <a:cs typeface="Arial"/>
              </a:rPr>
              <a:t>Setting an Expert</a:t>
            </a:r>
            <a:endParaRPr lang="en-US" sz="3800"/>
          </a:p>
          <a:p>
            <a:pPr marL="0" indent="0" algn="l">
              <a:lnSpc>
                <a:spcPct val="105000"/>
              </a:lnSpc>
              <a:buNone/>
              <a:defRPr/>
            </a:pPr>
            <a:r>
              <a:rPr lang="en-US" sz="3800" b="1" spc="-40">
                <a:solidFill>
                  <a:srgbClr val="2E3542"/>
                </a:solidFill>
                <a:latin typeface="Arial"/>
                <a:ea typeface="Arial"/>
                <a:cs typeface="Arial"/>
              </a:rPr>
              <a:t>Annotation Benchmark</a:t>
            </a:r>
            <a:endParaRPr lang="en-US" sz="3800"/>
          </a:p>
        </p:txBody>
      </p:sp>
      <p:sp>
        <p:nvSpPr>
          <p:cNvPr id="2141585322" name="Text 2"/>
          <p:cNvSpPr/>
          <p:nvPr/>
        </p:nvSpPr>
        <p:spPr bwMode="auto">
          <a:xfrm>
            <a:off x="731520" y="3108960"/>
            <a:ext cx="7680960" cy="594360"/>
          </a:xfrm>
          <a:prstGeom prst="rect">
            <a:avLst/>
          </a:prstGeom>
          <a:noFill/>
          <a:ln/>
        </p:spPr>
        <p:txBody>
          <a:bodyPr wrap="square" lIns="0" tIns="0" rIns="0" bIns="0" rtlCol="0" anchor="t">
            <a:spAutoFit/>
          </a:bodyPr>
          <a:lstStyle/>
          <a:p>
            <a:pPr marL="0" indent="0" algn="l">
              <a:buNone/>
              <a:defRPr/>
            </a:pPr>
            <a:r>
              <a:rPr lang="en-US" sz="1800">
                <a:solidFill>
                  <a:srgbClr val="8D94A1"/>
                </a:solidFill>
                <a:latin typeface="Arial"/>
                <a:ea typeface="Arial"/>
                <a:cs typeface="Arial"/>
              </a:rPr>
              <a:t>What is missing and how to measure it</a:t>
            </a:r>
            <a:endParaRPr lang="en-US" sz="1800"/>
          </a:p>
        </p:txBody>
      </p:sp>
      <p:pic>
        <p:nvPicPr>
          <p:cNvPr id="1110993677" name="Image 0" descr="preencoded.png"/>
          <p:cNvPicPr>
            <a:picLocks noChangeAspect="1"/>
          </p:cNvPicPr>
          <p:nvPr/>
        </p:nvPicPr>
        <p:blipFill rotWithShape="1">
          <a:blip r:embed="rId3"/>
          <a:stretch/>
        </p:blipFill>
        <p:spPr bwMode="auto">
          <a:xfrm>
            <a:off x="731520" y="4041648"/>
            <a:ext cx="310896" cy="310896"/>
          </a:xfrm>
          <a:prstGeom prst="rect">
            <a:avLst/>
          </a:prstGeom>
        </p:spPr>
      </p:pic>
      <p:sp>
        <p:nvSpPr>
          <p:cNvPr id="1381057520" name="Text 3"/>
          <p:cNvSpPr/>
          <p:nvPr/>
        </p:nvSpPr>
        <p:spPr bwMode="auto">
          <a:xfrm>
            <a:off x="1188720" y="4050792"/>
            <a:ext cx="1691640" cy="292608"/>
          </a:xfrm>
          <a:prstGeom prst="rect">
            <a:avLst/>
          </a:prstGeom>
          <a:noFill/>
          <a:ln/>
        </p:spPr>
        <p:txBody>
          <a:bodyPr wrap="square" lIns="0" tIns="0" rIns="0" bIns="0" rtlCol="0" anchor="t">
            <a:spAutoFit/>
          </a:bodyPr>
          <a:lstStyle/>
          <a:p>
            <a:pPr marL="0" indent="0" algn="l">
              <a:buNone/>
              <a:defRPr/>
            </a:pPr>
            <a:r>
              <a:rPr lang="en-US" sz="1500">
                <a:solidFill>
                  <a:srgbClr val="2E3542"/>
                </a:solidFill>
                <a:latin typeface="Arial"/>
                <a:ea typeface="Arial"/>
                <a:cs typeface="Arial"/>
              </a:rPr>
              <a:t>Expert labels</a:t>
            </a:r>
            <a:endParaRPr lang="en-US" sz="1500"/>
          </a:p>
        </p:txBody>
      </p:sp>
      <p:pic>
        <p:nvPicPr>
          <p:cNvPr id="1562124352" name="Image 1" descr="preencoded.png"/>
          <p:cNvPicPr>
            <a:picLocks noChangeAspect="1"/>
          </p:cNvPicPr>
          <p:nvPr/>
        </p:nvPicPr>
        <p:blipFill rotWithShape="1">
          <a:blip r:embed="rId4"/>
          <a:stretch/>
        </p:blipFill>
        <p:spPr bwMode="auto">
          <a:xfrm>
            <a:off x="3017519" y="4105656"/>
            <a:ext cx="173736" cy="173736"/>
          </a:xfrm>
          <a:prstGeom prst="rect">
            <a:avLst/>
          </a:prstGeom>
        </p:spPr>
      </p:pic>
      <p:pic>
        <p:nvPicPr>
          <p:cNvPr id="1085073126" name="Image 2" descr="preencoded.png"/>
          <p:cNvPicPr>
            <a:picLocks noChangeAspect="1"/>
          </p:cNvPicPr>
          <p:nvPr/>
        </p:nvPicPr>
        <p:blipFill rotWithShape="1">
          <a:blip r:embed="rId5"/>
          <a:stretch/>
        </p:blipFill>
        <p:spPr bwMode="auto">
          <a:xfrm>
            <a:off x="3630168" y="4041648"/>
            <a:ext cx="310896" cy="310896"/>
          </a:xfrm>
          <a:prstGeom prst="rect">
            <a:avLst/>
          </a:prstGeom>
        </p:spPr>
      </p:pic>
      <p:sp>
        <p:nvSpPr>
          <p:cNvPr id="1613036324" name="Text 4"/>
          <p:cNvSpPr/>
          <p:nvPr/>
        </p:nvSpPr>
        <p:spPr bwMode="auto">
          <a:xfrm>
            <a:off x="4087368" y="4050792"/>
            <a:ext cx="1554480" cy="292608"/>
          </a:xfrm>
          <a:prstGeom prst="rect">
            <a:avLst/>
          </a:prstGeom>
          <a:noFill/>
          <a:ln/>
        </p:spPr>
        <p:txBody>
          <a:bodyPr wrap="square" lIns="0" tIns="0" rIns="0" bIns="0" rtlCol="0" anchor="t">
            <a:spAutoFit/>
          </a:bodyPr>
          <a:lstStyle/>
          <a:p>
            <a:pPr marL="0" indent="0" algn="l">
              <a:buNone/>
              <a:defRPr/>
            </a:pPr>
            <a:r>
              <a:rPr lang="en-US" sz="1500">
                <a:solidFill>
                  <a:srgbClr val="2E3542"/>
                </a:solidFill>
                <a:latin typeface="Arial"/>
                <a:ea typeface="Arial"/>
                <a:cs typeface="Arial"/>
              </a:rPr>
              <a:t>Gold labels</a:t>
            </a:r>
            <a:endParaRPr lang="en-US" sz="1500"/>
          </a:p>
        </p:txBody>
      </p:sp>
      <p:pic>
        <p:nvPicPr>
          <p:cNvPr id="691120592" name="Image 3" descr="preencoded.png"/>
          <p:cNvPicPr>
            <a:picLocks noChangeAspect="1"/>
          </p:cNvPicPr>
          <p:nvPr/>
        </p:nvPicPr>
        <p:blipFill rotWithShape="1">
          <a:blip r:embed="rId6"/>
          <a:stretch/>
        </p:blipFill>
        <p:spPr bwMode="auto">
          <a:xfrm>
            <a:off x="5961888" y="4105656"/>
            <a:ext cx="173736" cy="173736"/>
          </a:xfrm>
          <a:prstGeom prst="rect">
            <a:avLst/>
          </a:prstGeom>
        </p:spPr>
      </p:pic>
      <p:pic>
        <p:nvPicPr>
          <p:cNvPr id="1072407701" name="Image 4" descr="preencoded.png"/>
          <p:cNvPicPr>
            <a:picLocks noChangeAspect="1"/>
          </p:cNvPicPr>
          <p:nvPr/>
        </p:nvPicPr>
        <p:blipFill rotWithShape="1">
          <a:blip r:embed="rId7"/>
          <a:stretch/>
        </p:blipFill>
        <p:spPr bwMode="auto">
          <a:xfrm>
            <a:off x="6492240" y="4041648"/>
            <a:ext cx="310896" cy="310896"/>
          </a:xfrm>
          <a:prstGeom prst="rect">
            <a:avLst/>
          </a:prstGeom>
        </p:spPr>
      </p:pic>
      <p:sp>
        <p:nvSpPr>
          <p:cNvPr id="213305971" name="Text 5"/>
          <p:cNvSpPr/>
          <p:nvPr/>
        </p:nvSpPr>
        <p:spPr bwMode="auto">
          <a:xfrm>
            <a:off x="6949440" y="4050792"/>
            <a:ext cx="1463040" cy="292608"/>
          </a:xfrm>
          <a:prstGeom prst="rect">
            <a:avLst/>
          </a:prstGeom>
          <a:noFill/>
          <a:ln/>
        </p:spPr>
        <p:txBody>
          <a:bodyPr wrap="square" lIns="0" tIns="0" rIns="0" bIns="0" rtlCol="0" anchor="t">
            <a:spAutoFit/>
          </a:bodyPr>
          <a:lstStyle/>
          <a:p>
            <a:pPr marL="0" indent="0" algn="l">
              <a:buNone/>
              <a:defRPr/>
            </a:pPr>
            <a:r>
              <a:rPr lang="en-US" sz="1500">
                <a:solidFill>
                  <a:srgbClr val="2E3542"/>
                </a:solidFill>
                <a:latin typeface="Arial"/>
                <a:ea typeface="Arial"/>
                <a:cs typeface="Arial"/>
              </a:rPr>
              <a:t>Expert F1</a:t>
            </a:r>
            <a:endParaRPr lang="en-US" sz="1500"/>
          </a:p>
        </p:txBody>
      </p:sp>
      <p:sp>
        <p:nvSpPr>
          <p:cNvPr id="2045657518" name="Text 6"/>
          <p:cNvSpPr/>
          <p:nvPr/>
        </p:nvSpPr>
        <p:spPr bwMode="auto">
          <a:xfrm>
            <a:off x="731520" y="4645152"/>
            <a:ext cx="7360920" cy="274320"/>
          </a:xfrm>
          <a:prstGeom prst="rect">
            <a:avLst/>
          </a:prstGeom>
          <a:noFill/>
          <a:ln/>
        </p:spPr>
        <p:txBody>
          <a:bodyPr wrap="square" lIns="0" tIns="0" rIns="0" bIns="0" rtlCol="0" anchor="ctr">
            <a:spAutoFit/>
          </a:bodyPr>
          <a:lstStyle/>
          <a:p>
            <a:pPr marL="0" indent="0" algn="l">
              <a:buNone/>
              <a:defRPr/>
            </a:pPr>
            <a:r>
              <a:rPr lang="en-US" sz="850">
                <a:solidFill>
                  <a:srgbClr val="8D94A1"/>
                </a:solidFill>
                <a:latin typeface="Arial"/>
                <a:ea typeface="Arial"/>
                <a:cs typeface="Arial"/>
              </a:rPr>
              <a:t>NCBI Disease | Expert annotation benchmark</a:t>
            </a:r>
            <a:endParaRPr lang="en-US" sz="850"/>
          </a:p>
        </p:txBody>
      </p:sp>
      <p:sp>
        <p:nvSpPr>
          <p:cNvPr id="42297395" name="Text 7"/>
          <p:cNvSpPr/>
          <p:nvPr/>
        </p:nvSpPr>
        <p:spPr bwMode="auto">
          <a:xfrm>
            <a:off x="8412480" y="4645152"/>
            <a:ext cx="457200" cy="274320"/>
          </a:xfrm>
          <a:prstGeom prst="rect">
            <a:avLst/>
          </a:prstGeom>
          <a:noFill/>
          <a:ln/>
        </p:spPr>
        <p:txBody>
          <a:bodyPr wrap="square" lIns="0" tIns="0" rIns="0" bIns="0" rtlCol="0" anchor="ctr">
            <a:spAutoFit/>
          </a:bodyPr>
          <a:lstStyle/>
          <a:p>
            <a:pPr marL="0" indent="0" algn="r">
              <a:buNone/>
              <a:defRPr/>
            </a:pPr>
            <a:r>
              <a:rPr lang="en-US" sz="900">
                <a:solidFill>
                  <a:srgbClr val="8D94A1"/>
                </a:solidFill>
                <a:latin typeface="Arial"/>
                <a:ea typeface="Arial"/>
                <a:cs typeface="Arial"/>
              </a:rPr>
              <a:t>01</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FFFFF"/>
        </a:solidFill>
      </p:bgPr>
    </p:bg>
    <p:spTree>
      <p:nvGrpSpPr>
        <p:cNvPr id="1" name=""/>
        <p:cNvGrpSpPr/>
        <p:nvPr/>
      </p:nvGrpSpPr>
      <p:grpSpPr bwMode="auto">
        <a:xfrm>
          <a:off x="0" y="0"/>
          <a:ext cx="0" cy="0"/>
          <a:chOff x="0" y="0"/>
          <a:chExt cx="0" cy="0"/>
        </a:xfrm>
      </p:grpSpPr>
      <p:sp>
        <p:nvSpPr>
          <p:cNvPr id="1005432270" name="Text 0"/>
          <p:cNvSpPr/>
          <p:nvPr/>
        </p:nvSpPr>
        <p:spPr bwMode="auto">
          <a:xfrm>
            <a:off x="731520" y="822960"/>
            <a:ext cx="7680960" cy="1463040"/>
          </a:xfrm>
          <a:prstGeom prst="rect">
            <a:avLst/>
          </a:prstGeom>
          <a:noFill/>
          <a:ln/>
        </p:spPr>
        <p:txBody>
          <a:bodyPr wrap="square" lIns="0" tIns="0" rIns="0" bIns="0" rtlCol="0" anchor="t">
            <a:spAutoFit/>
          </a:bodyPr>
          <a:lstStyle/>
          <a:p>
            <a:pPr marL="0" indent="0" algn="l">
              <a:buNone/>
              <a:defRPr/>
            </a:pPr>
            <a:r>
              <a:rPr lang="en-US" sz="8000" b="1" spc="-200">
                <a:solidFill>
                  <a:srgbClr val="0F82EC"/>
                </a:solidFill>
                <a:latin typeface="Arial"/>
                <a:ea typeface="Arial"/>
                <a:cs typeface="Arial"/>
              </a:rPr>
              <a:t>01</a:t>
            </a:r>
            <a:endParaRPr lang="en-US" sz="8000"/>
          </a:p>
        </p:txBody>
      </p:sp>
      <p:sp>
        <p:nvSpPr>
          <p:cNvPr id="1439682382" name="Shape 1"/>
          <p:cNvSpPr/>
          <p:nvPr/>
        </p:nvSpPr>
        <p:spPr bwMode="auto">
          <a:xfrm>
            <a:off x="731520" y="2423160"/>
            <a:ext cx="640080" cy="22860"/>
          </a:xfrm>
          <a:prstGeom prst="rect">
            <a:avLst/>
          </a:prstGeom>
          <a:solidFill>
            <a:srgbClr val="0F82EC"/>
          </a:solidFill>
          <a:ln w="12700">
            <a:solidFill>
              <a:srgbClr val="0F82EC"/>
            </a:solidFill>
            <a:prstDash val="solid"/>
          </a:ln>
        </p:spPr>
      </p:sp>
      <p:sp>
        <p:nvSpPr>
          <p:cNvPr id="2092945589" name="Text 2"/>
          <p:cNvSpPr/>
          <p:nvPr/>
        </p:nvSpPr>
        <p:spPr bwMode="auto">
          <a:xfrm>
            <a:off x="731520" y="2606040"/>
            <a:ext cx="7680960" cy="914400"/>
          </a:xfrm>
          <a:prstGeom prst="rect">
            <a:avLst/>
          </a:prstGeom>
          <a:noFill/>
          <a:ln/>
        </p:spPr>
        <p:txBody>
          <a:bodyPr wrap="square" lIns="0" tIns="0" rIns="0" bIns="0" rtlCol="0" anchor="t">
            <a:spAutoFit/>
          </a:bodyPr>
          <a:lstStyle/>
          <a:p>
            <a:pPr marL="0" indent="0" algn="l">
              <a:buNone/>
              <a:defRPr/>
            </a:pPr>
            <a:r>
              <a:rPr lang="en-US" sz="3600" b="1" spc="-40">
                <a:solidFill>
                  <a:srgbClr val="2E3542"/>
                </a:solidFill>
                <a:latin typeface="Arial"/>
                <a:ea typeface="Arial"/>
                <a:cs typeface="Arial"/>
              </a:rPr>
              <a:t>The missing human benchmark</a:t>
            </a:r>
            <a:endParaRPr lang="en-US" sz="3600"/>
          </a:p>
        </p:txBody>
      </p:sp>
      <p:sp>
        <p:nvSpPr>
          <p:cNvPr id="1208399345" name="Text 3"/>
          <p:cNvSpPr/>
          <p:nvPr/>
        </p:nvSpPr>
        <p:spPr bwMode="auto">
          <a:xfrm>
            <a:off x="731520" y="3611880"/>
            <a:ext cx="7680960" cy="457200"/>
          </a:xfrm>
          <a:prstGeom prst="rect">
            <a:avLst/>
          </a:prstGeom>
          <a:noFill/>
          <a:ln/>
        </p:spPr>
        <p:txBody>
          <a:bodyPr wrap="square" lIns="0" tIns="0" rIns="0" bIns="0" rtlCol="0" anchor="t">
            <a:spAutoFit/>
          </a:bodyPr>
          <a:lstStyle/>
          <a:p>
            <a:pPr marL="0" indent="0" algn="l">
              <a:buNone/>
              <a:defRPr/>
            </a:pPr>
            <a:r>
              <a:rPr lang="en-US" sz="1400">
                <a:solidFill>
                  <a:srgbClr val="8D94A1"/>
                </a:solidFill>
                <a:latin typeface="Arial"/>
                <a:ea typeface="Arial"/>
                <a:cs typeface="Arial"/>
              </a:rPr>
              <a:t>Expert F1 under the same task and scoring rules still needs to be measured.</a:t>
            </a:r>
            <a:endParaRPr lang="en-US" sz="1400"/>
          </a:p>
        </p:txBody>
      </p:sp>
      <p:sp>
        <p:nvSpPr>
          <p:cNvPr id="905420608" name="Text 4"/>
          <p:cNvSpPr/>
          <p:nvPr/>
        </p:nvSpPr>
        <p:spPr bwMode="auto">
          <a:xfrm>
            <a:off x="731520" y="4645152"/>
            <a:ext cx="7360920" cy="274320"/>
          </a:xfrm>
          <a:prstGeom prst="rect">
            <a:avLst/>
          </a:prstGeom>
          <a:noFill/>
          <a:ln/>
        </p:spPr>
        <p:txBody>
          <a:bodyPr wrap="square" lIns="0" tIns="0" rIns="0" bIns="0" rtlCol="0" anchor="ctr">
            <a:spAutoFit/>
          </a:bodyPr>
          <a:lstStyle/>
          <a:p>
            <a:pPr marL="0" indent="0" algn="l">
              <a:buNone/>
              <a:defRPr/>
            </a:pPr>
            <a:r>
              <a:rPr lang="en-US" sz="850">
                <a:solidFill>
                  <a:srgbClr val="8D94A1"/>
                </a:solidFill>
                <a:latin typeface="Arial"/>
                <a:ea typeface="Arial"/>
                <a:cs typeface="Arial"/>
              </a:rPr>
              <a:t>NCBI Disease | Expert annotation benchmark</a:t>
            </a:r>
            <a:endParaRPr lang="en-US" sz="850"/>
          </a:p>
        </p:txBody>
      </p:sp>
      <p:sp>
        <p:nvSpPr>
          <p:cNvPr id="411664858" name="Text 5"/>
          <p:cNvSpPr/>
          <p:nvPr/>
        </p:nvSpPr>
        <p:spPr bwMode="auto">
          <a:xfrm>
            <a:off x="8412480" y="4645152"/>
            <a:ext cx="457200" cy="274320"/>
          </a:xfrm>
          <a:prstGeom prst="rect">
            <a:avLst/>
          </a:prstGeom>
          <a:noFill/>
          <a:ln/>
        </p:spPr>
        <p:txBody>
          <a:bodyPr wrap="square" lIns="0" tIns="0" rIns="0" bIns="0" rtlCol="0" anchor="ctr">
            <a:spAutoFit/>
          </a:bodyPr>
          <a:lstStyle/>
          <a:p>
            <a:pPr marL="0" indent="0" algn="r">
              <a:buNone/>
              <a:defRPr/>
            </a:pPr>
            <a:r>
              <a:rPr lang="en-US" sz="900">
                <a:solidFill>
                  <a:srgbClr val="8D94A1"/>
                </a:solidFill>
                <a:latin typeface="Arial"/>
                <a:ea typeface="Arial"/>
                <a:cs typeface="Arial"/>
              </a:rPr>
              <a:t>02</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FFFFF"/>
        </a:solidFill>
      </p:bgPr>
    </p:bg>
    <p:spTree>
      <p:nvGrpSpPr>
        <p:cNvPr id="1" name=""/>
        <p:cNvGrpSpPr/>
        <p:nvPr/>
      </p:nvGrpSpPr>
      <p:grpSpPr bwMode="auto">
        <a:xfrm>
          <a:off x="0" y="0"/>
          <a:ext cx="0" cy="0"/>
          <a:chOff x="0" y="0"/>
          <a:chExt cx="0" cy="0"/>
        </a:xfrm>
      </p:grpSpPr>
      <p:sp>
        <p:nvSpPr>
          <p:cNvPr id="1719916614" name="Text 0"/>
          <p:cNvSpPr/>
          <p:nvPr/>
        </p:nvSpPr>
        <p:spPr bwMode="auto">
          <a:xfrm>
            <a:off x="731520" y="320040"/>
            <a:ext cx="6400800" cy="274320"/>
          </a:xfrm>
          <a:prstGeom prst="rect">
            <a:avLst/>
          </a:prstGeom>
          <a:noFill/>
          <a:ln/>
        </p:spPr>
        <p:txBody>
          <a:bodyPr wrap="square" lIns="0" tIns="0" rIns="0" bIns="0" rtlCol="0" anchor="t">
            <a:spAutoFit/>
          </a:bodyPr>
          <a:lstStyle/>
          <a:p>
            <a:pPr marL="0" indent="0" algn="l">
              <a:buNone/>
              <a:defRPr/>
            </a:pPr>
            <a:r>
              <a:rPr lang="en-US" sz="900" spc="400">
                <a:solidFill>
                  <a:srgbClr val="8D94A1"/>
                </a:solidFill>
                <a:latin typeface="Arial"/>
                <a:ea typeface="Arial"/>
                <a:cs typeface="Arial"/>
              </a:rPr>
              <a:t>01  HUMAN BENCHMARK</a:t>
            </a:r>
            <a:endParaRPr lang="en-US" sz="900"/>
          </a:p>
        </p:txBody>
      </p:sp>
      <p:sp>
        <p:nvSpPr>
          <p:cNvPr id="493478837" name="Text 1"/>
          <p:cNvSpPr/>
          <p:nvPr/>
        </p:nvSpPr>
        <p:spPr bwMode="auto">
          <a:xfrm>
            <a:off x="731520" y="685800"/>
            <a:ext cx="7680960" cy="457200"/>
          </a:xfrm>
          <a:prstGeom prst="rect">
            <a:avLst/>
          </a:prstGeom>
          <a:noFill/>
          <a:ln/>
        </p:spPr>
        <p:txBody>
          <a:bodyPr wrap="square" lIns="0" tIns="0" rIns="0" bIns="0" rtlCol="0" anchor="t">
            <a:spAutoFit/>
          </a:bodyPr>
          <a:lstStyle/>
          <a:p>
            <a:pPr marL="0" indent="0" algn="l">
              <a:buNone/>
              <a:defRPr/>
            </a:pPr>
            <a:r>
              <a:rPr lang="en-US" sz="2400" b="1" spc="-40">
                <a:solidFill>
                  <a:srgbClr val="2E3542"/>
                </a:solidFill>
                <a:latin typeface="Arial"/>
                <a:ea typeface="Arial"/>
                <a:cs typeface="Arial"/>
              </a:rPr>
              <a:t>IAA measures agreement between annotators</a:t>
            </a:r>
            <a:endParaRPr lang="en-US" sz="2400"/>
          </a:p>
        </p:txBody>
      </p:sp>
      <p:sp>
        <p:nvSpPr>
          <p:cNvPr id="420634404" name="Text 2"/>
          <p:cNvSpPr/>
          <p:nvPr/>
        </p:nvSpPr>
        <p:spPr bwMode="auto">
          <a:xfrm>
            <a:off x="731520" y="4645152"/>
            <a:ext cx="7360920" cy="274320"/>
          </a:xfrm>
          <a:prstGeom prst="rect">
            <a:avLst/>
          </a:prstGeom>
          <a:noFill/>
          <a:ln/>
        </p:spPr>
        <p:txBody>
          <a:bodyPr wrap="square" lIns="0" tIns="0" rIns="0" bIns="0" rtlCol="0" anchor="ctr">
            <a:spAutoFit/>
          </a:bodyPr>
          <a:lstStyle/>
          <a:p>
            <a:pPr marL="0" indent="0" algn="l">
              <a:buNone/>
              <a:defRPr/>
            </a:pPr>
            <a:r>
              <a:rPr lang="en-US" sz="850">
                <a:solidFill>
                  <a:srgbClr val="8D94A1"/>
                </a:solidFill>
                <a:latin typeface="Arial"/>
                <a:ea typeface="Arial"/>
                <a:cs typeface="Arial"/>
              </a:rPr>
              <a:t>Sources: Artstein and Poesio, 2008; original paper, p. 3, Section 3.3.</a:t>
            </a:r>
            <a:endParaRPr lang="en-US" sz="850"/>
          </a:p>
        </p:txBody>
      </p:sp>
      <p:sp>
        <p:nvSpPr>
          <p:cNvPr id="571677465" name="Text 3"/>
          <p:cNvSpPr/>
          <p:nvPr/>
        </p:nvSpPr>
        <p:spPr bwMode="auto">
          <a:xfrm>
            <a:off x="8412480" y="4645152"/>
            <a:ext cx="457200" cy="274320"/>
          </a:xfrm>
          <a:prstGeom prst="rect">
            <a:avLst/>
          </a:prstGeom>
          <a:noFill/>
          <a:ln/>
        </p:spPr>
        <p:txBody>
          <a:bodyPr wrap="square" lIns="0" tIns="0" rIns="0" bIns="0" rtlCol="0" anchor="ctr">
            <a:spAutoFit/>
          </a:bodyPr>
          <a:lstStyle/>
          <a:p>
            <a:pPr marL="0" indent="0" algn="r">
              <a:buNone/>
              <a:defRPr/>
            </a:pPr>
            <a:r>
              <a:rPr lang="en-US" sz="900">
                <a:solidFill>
                  <a:srgbClr val="8D94A1"/>
                </a:solidFill>
                <a:latin typeface="Arial"/>
                <a:ea typeface="Arial"/>
                <a:cs typeface="Arial"/>
              </a:rPr>
              <a:t>03</a:t>
            </a:r>
            <a:endParaRPr lang="en-US" sz="900"/>
          </a:p>
        </p:txBody>
      </p:sp>
      <p:sp>
        <p:nvSpPr>
          <p:cNvPr id="430901134" name="Text 4"/>
          <p:cNvSpPr/>
          <p:nvPr/>
        </p:nvSpPr>
        <p:spPr bwMode="auto">
          <a:xfrm>
            <a:off x="731520" y="1280160"/>
            <a:ext cx="7680960" cy="384048"/>
          </a:xfrm>
          <a:prstGeom prst="rect">
            <a:avLst/>
          </a:prstGeom>
          <a:noFill/>
          <a:ln/>
        </p:spPr>
        <p:txBody>
          <a:bodyPr wrap="square" lIns="0" tIns="0" rIns="0" bIns="0" rtlCol="0" anchor="t">
            <a:spAutoFit/>
          </a:bodyPr>
          <a:lstStyle/>
          <a:p>
            <a:pPr marL="0" indent="0" algn="l">
              <a:buNone/>
              <a:defRPr/>
            </a:pPr>
            <a:r>
              <a:rPr lang="en-US" sz="1600">
                <a:solidFill>
                  <a:srgbClr val="2E3542"/>
                </a:solidFill>
                <a:latin typeface="Arial"/>
                <a:ea typeface="Arial"/>
                <a:cs typeface="Arial"/>
              </a:rPr>
              <a:t>IAA tells us how closely two people label the same texts.</a:t>
            </a:r>
            <a:endParaRPr lang="en-US" sz="1600"/>
          </a:p>
        </p:txBody>
      </p:sp>
      <p:sp>
        <p:nvSpPr>
          <p:cNvPr id="1764503272" name="Shape 5"/>
          <p:cNvSpPr/>
          <p:nvPr/>
        </p:nvSpPr>
        <p:spPr bwMode="auto">
          <a:xfrm>
            <a:off x="731520" y="1847088"/>
            <a:ext cx="2240280" cy="786384"/>
          </a:xfrm>
          <a:prstGeom prst="rect">
            <a:avLst/>
          </a:prstGeom>
          <a:solidFill>
            <a:srgbClr val="F1F3F6"/>
          </a:solidFill>
          <a:ln w="6350">
            <a:solidFill>
              <a:srgbClr val="F1F3F6"/>
            </a:solidFill>
            <a:prstDash val="solid"/>
          </a:ln>
        </p:spPr>
      </p:sp>
      <p:pic>
        <p:nvPicPr>
          <p:cNvPr id="2109698731" name="Image 0" descr="preencoded.png"/>
          <p:cNvPicPr>
            <a:picLocks noChangeAspect="1"/>
          </p:cNvPicPr>
          <p:nvPr/>
        </p:nvPicPr>
        <p:blipFill rotWithShape="1">
          <a:blip r:embed="rId3"/>
          <a:stretch/>
        </p:blipFill>
        <p:spPr bwMode="auto">
          <a:xfrm>
            <a:off x="932688" y="2057400"/>
            <a:ext cx="320040" cy="320040"/>
          </a:xfrm>
          <a:prstGeom prst="rect">
            <a:avLst/>
          </a:prstGeom>
        </p:spPr>
      </p:pic>
      <p:sp>
        <p:nvSpPr>
          <p:cNvPr id="1846422632" name="Text 6"/>
          <p:cNvSpPr/>
          <p:nvPr/>
        </p:nvSpPr>
        <p:spPr bwMode="auto">
          <a:xfrm>
            <a:off x="1435608" y="2048256"/>
            <a:ext cx="1325880" cy="329184"/>
          </a:xfrm>
          <a:prstGeom prst="rect">
            <a:avLst/>
          </a:prstGeom>
          <a:noFill/>
          <a:ln/>
        </p:spPr>
        <p:txBody>
          <a:bodyPr wrap="square" lIns="0" tIns="0" rIns="0" bIns="0" rtlCol="0" anchor="t">
            <a:spAutoFit/>
          </a:bodyPr>
          <a:lstStyle/>
          <a:p>
            <a:pPr marL="0" indent="0" algn="l">
              <a:buNone/>
              <a:defRPr/>
            </a:pPr>
            <a:r>
              <a:rPr lang="en-US" sz="1800" b="1">
                <a:solidFill>
                  <a:srgbClr val="2E3542"/>
                </a:solidFill>
                <a:latin typeface="Arial"/>
                <a:ea typeface="Arial"/>
                <a:cs typeface="Arial"/>
              </a:rPr>
              <a:t>Expert A</a:t>
            </a:r>
            <a:endParaRPr lang="en-US" sz="1800"/>
          </a:p>
        </p:txBody>
      </p:sp>
      <p:sp>
        <p:nvSpPr>
          <p:cNvPr id="1098382015" name="Shape 7"/>
          <p:cNvSpPr/>
          <p:nvPr/>
        </p:nvSpPr>
        <p:spPr bwMode="auto">
          <a:xfrm>
            <a:off x="6172200" y="1847088"/>
            <a:ext cx="2240280" cy="786384"/>
          </a:xfrm>
          <a:prstGeom prst="rect">
            <a:avLst/>
          </a:prstGeom>
          <a:solidFill>
            <a:srgbClr val="F1F3F6"/>
          </a:solidFill>
          <a:ln w="6350">
            <a:solidFill>
              <a:srgbClr val="F1F3F6"/>
            </a:solidFill>
            <a:prstDash val="solid"/>
          </a:ln>
        </p:spPr>
      </p:sp>
      <p:pic>
        <p:nvPicPr>
          <p:cNvPr id="1834028453" name="Image 1" descr="preencoded.png"/>
          <p:cNvPicPr>
            <a:picLocks noChangeAspect="1"/>
          </p:cNvPicPr>
          <p:nvPr/>
        </p:nvPicPr>
        <p:blipFill rotWithShape="1">
          <a:blip r:embed="rId4"/>
          <a:stretch/>
        </p:blipFill>
        <p:spPr bwMode="auto">
          <a:xfrm>
            <a:off x="6373368" y="2057400"/>
            <a:ext cx="320040" cy="320040"/>
          </a:xfrm>
          <a:prstGeom prst="rect">
            <a:avLst/>
          </a:prstGeom>
        </p:spPr>
      </p:pic>
      <p:sp>
        <p:nvSpPr>
          <p:cNvPr id="397288230" name="Text 8"/>
          <p:cNvSpPr/>
          <p:nvPr/>
        </p:nvSpPr>
        <p:spPr bwMode="auto">
          <a:xfrm>
            <a:off x="6876288" y="2048256"/>
            <a:ext cx="1325880" cy="329184"/>
          </a:xfrm>
          <a:prstGeom prst="rect">
            <a:avLst/>
          </a:prstGeom>
          <a:noFill/>
          <a:ln/>
        </p:spPr>
        <p:txBody>
          <a:bodyPr wrap="square" lIns="0" tIns="0" rIns="0" bIns="0" rtlCol="0" anchor="t">
            <a:spAutoFit/>
          </a:bodyPr>
          <a:lstStyle/>
          <a:p>
            <a:pPr marL="0" indent="0" algn="l">
              <a:buNone/>
              <a:defRPr/>
            </a:pPr>
            <a:r>
              <a:rPr lang="en-US" sz="1800" b="1">
                <a:solidFill>
                  <a:srgbClr val="2E3542"/>
                </a:solidFill>
                <a:latin typeface="Arial"/>
                <a:ea typeface="Arial"/>
                <a:cs typeface="Arial"/>
              </a:rPr>
              <a:t>Expert B</a:t>
            </a:r>
            <a:endParaRPr lang="en-US" sz="1800"/>
          </a:p>
        </p:txBody>
      </p:sp>
      <p:pic>
        <p:nvPicPr>
          <p:cNvPr id="664374793" name="Image 2" descr="preencoded.png"/>
          <p:cNvPicPr>
            <a:picLocks noChangeAspect="1"/>
          </p:cNvPicPr>
          <p:nvPr/>
        </p:nvPicPr>
        <p:blipFill rotWithShape="1">
          <a:blip r:embed="rId5"/>
          <a:stretch/>
        </p:blipFill>
        <p:spPr bwMode="auto">
          <a:xfrm>
            <a:off x="3246120" y="2103120"/>
            <a:ext cx="228600" cy="228600"/>
          </a:xfrm>
          <a:prstGeom prst="rect">
            <a:avLst/>
          </a:prstGeom>
        </p:spPr>
      </p:pic>
      <p:pic>
        <p:nvPicPr>
          <p:cNvPr id="1275264603" name="Image 3" descr="preencoded.png"/>
          <p:cNvPicPr>
            <a:picLocks noChangeAspect="1"/>
          </p:cNvPicPr>
          <p:nvPr/>
        </p:nvPicPr>
        <p:blipFill rotWithShape="1">
          <a:blip r:embed="rId6"/>
          <a:stretch/>
        </p:blipFill>
        <p:spPr bwMode="auto">
          <a:xfrm flipH="1">
            <a:off x="5669280" y="2103120"/>
            <a:ext cx="228600" cy="228600"/>
          </a:xfrm>
          <a:prstGeom prst="rect">
            <a:avLst/>
          </a:prstGeom>
        </p:spPr>
      </p:pic>
      <p:sp>
        <p:nvSpPr>
          <p:cNvPr id="1680072243" name="Text 9"/>
          <p:cNvSpPr/>
          <p:nvPr/>
        </p:nvSpPr>
        <p:spPr bwMode="auto">
          <a:xfrm>
            <a:off x="3675888" y="2057400"/>
            <a:ext cx="1792224" cy="338328"/>
          </a:xfrm>
          <a:prstGeom prst="rect">
            <a:avLst/>
          </a:prstGeom>
          <a:noFill/>
          <a:ln/>
        </p:spPr>
        <p:txBody>
          <a:bodyPr wrap="square" lIns="0" tIns="0" rIns="0" bIns="0" rtlCol="0" anchor="t">
            <a:spAutoFit/>
          </a:bodyPr>
          <a:lstStyle/>
          <a:p>
            <a:pPr marL="0" indent="0" algn="ctr">
              <a:buNone/>
              <a:defRPr/>
            </a:pPr>
            <a:r>
              <a:rPr lang="en-US" sz="1800" b="1">
                <a:solidFill>
                  <a:srgbClr val="0F82EC"/>
                </a:solidFill>
                <a:latin typeface="Arial"/>
                <a:ea typeface="Arial"/>
                <a:cs typeface="Arial"/>
              </a:rPr>
              <a:t>Agreement</a:t>
            </a:r>
            <a:endParaRPr lang="en-US" sz="1800"/>
          </a:p>
        </p:txBody>
      </p:sp>
      <p:sp>
        <p:nvSpPr>
          <p:cNvPr id="1486379185" name="Text 10"/>
          <p:cNvSpPr/>
          <p:nvPr/>
        </p:nvSpPr>
        <p:spPr bwMode="auto">
          <a:xfrm>
            <a:off x="731520" y="2953512"/>
            <a:ext cx="7680960" cy="310896"/>
          </a:xfrm>
          <a:prstGeom prst="rect">
            <a:avLst/>
          </a:prstGeom>
          <a:noFill/>
          <a:ln/>
        </p:spPr>
        <p:txBody>
          <a:bodyPr wrap="square" lIns="0" tIns="0" rIns="0" bIns="0" rtlCol="0" anchor="t">
            <a:spAutoFit/>
          </a:bodyPr>
          <a:lstStyle/>
          <a:p>
            <a:pPr marL="0" indent="0" algn="l">
              <a:buNone/>
              <a:defRPr/>
            </a:pPr>
            <a:r>
              <a:rPr lang="en-US" sz="1400">
                <a:solidFill>
                  <a:srgbClr val="2E3542"/>
                </a:solidFill>
                <a:latin typeface="Arial"/>
                <a:ea typeface="Arial"/>
                <a:cs typeface="Arial"/>
              </a:rPr>
              <a:t>One way to measure agreement is exact match F1:</a:t>
            </a:r>
            <a:endParaRPr lang="en-US" sz="1400"/>
          </a:p>
        </p:txBody>
      </p:sp>
      <p:sp>
        <p:nvSpPr>
          <p:cNvPr id="500665995" name="Text 11"/>
          <p:cNvSpPr/>
          <p:nvPr/>
        </p:nvSpPr>
        <p:spPr bwMode="auto">
          <a:xfrm>
            <a:off x="731520" y="3355848"/>
            <a:ext cx="7680960" cy="384048"/>
          </a:xfrm>
          <a:prstGeom prst="rect">
            <a:avLst/>
          </a:prstGeom>
          <a:noFill/>
          <a:ln/>
        </p:spPr>
        <p:txBody>
          <a:bodyPr wrap="square" lIns="0" tIns="0" rIns="0" bIns="0" rtlCol="0" anchor="t">
            <a:spAutoFit/>
          </a:bodyPr>
          <a:lstStyle/>
          <a:p>
            <a:pPr marL="0" indent="0" algn="l">
              <a:buNone/>
              <a:defRPr/>
            </a:pPr>
            <a:r>
              <a:rPr lang="en-US" sz="1800" b="1">
                <a:solidFill>
                  <a:srgbClr val="2E3542"/>
                </a:solidFill>
                <a:latin typeface="Arial"/>
                <a:ea typeface="Arial"/>
                <a:cs typeface="Arial"/>
              </a:rPr>
              <a:t>F1 = 2 × exact matches / (labels by A + labels by B)</a:t>
            </a:r>
            <a:endParaRPr lang="en-US" sz="1800"/>
          </a:p>
        </p:txBody>
      </p:sp>
      <p:sp>
        <p:nvSpPr>
          <p:cNvPr id="1103292324" name="Text 12"/>
          <p:cNvSpPr/>
          <p:nvPr/>
        </p:nvSpPr>
        <p:spPr bwMode="auto">
          <a:xfrm>
            <a:off x="731520" y="3813048"/>
            <a:ext cx="7680960" cy="283464"/>
          </a:xfrm>
          <a:prstGeom prst="rect">
            <a:avLst/>
          </a:prstGeom>
          <a:noFill/>
          <a:ln/>
        </p:spPr>
        <p:txBody>
          <a:bodyPr wrap="square" lIns="0" tIns="0" rIns="0" bIns="0" rtlCol="0" anchor="t">
            <a:spAutoFit/>
          </a:bodyPr>
          <a:lstStyle/>
          <a:p>
            <a:pPr marL="0" indent="0" algn="l">
              <a:buNone/>
              <a:defRPr/>
            </a:pPr>
            <a:r>
              <a:rPr lang="en-US" sz="1400">
                <a:solidFill>
                  <a:srgbClr val="2E3542"/>
                </a:solidFill>
                <a:latin typeface="Arial"/>
                <a:ea typeface="Arial"/>
                <a:cs typeface="Arial"/>
              </a:rPr>
              <a:t>An exact match has the same text span and entity type.</a:t>
            </a:r>
            <a:endParaRPr lang="en-US" sz="1400"/>
          </a:p>
        </p:txBody>
      </p:sp>
      <p:sp>
        <p:nvSpPr>
          <p:cNvPr id="879431588" name="Text 13"/>
          <p:cNvSpPr/>
          <p:nvPr/>
        </p:nvSpPr>
        <p:spPr bwMode="auto">
          <a:xfrm>
            <a:off x="731520" y="4224528"/>
            <a:ext cx="7680960" cy="301752"/>
          </a:xfrm>
          <a:prstGeom prst="rect">
            <a:avLst/>
          </a:prstGeom>
          <a:noFill/>
          <a:ln/>
        </p:spPr>
        <p:txBody>
          <a:bodyPr wrap="square" lIns="0" tIns="0" rIns="0" bIns="0" rtlCol="0" anchor="t">
            <a:spAutoFit/>
          </a:bodyPr>
          <a:lstStyle/>
          <a:p>
            <a:pPr marL="0" indent="0" algn="l">
              <a:buNone/>
              <a:defRPr/>
            </a:pPr>
            <a:r>
              <a:rPr lang="en-US" sz="1400">
                <a:solidFill>
                  <a:srgbClr val="2E3542"/>
                </a:solidFill>
                <a:latin typeface="Arial"/>
                <a:ea typeface="Arial"/>
                <a:cs typeface="Arial"/>
              </a:rPr>
              <a:t>IAA can use different scoring rules, so the rule must be checked before comparing scores.</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FFFFF"/>
        </a:solidFill>
      </p:bgPr>
    </p:bg>
    <p:spTree>
      <p:nvGrpSpPr>
        <p:cNvPr id="1" name=""/>
        <p:cNvGrpSpPr/>
        <p:nvPr/>
      </p:nvGrpSpPr>
      <p:grpSpPr bwMode="auto">
        <a:xfrm>
          <a:off x="0" y="0"/>
          <a:ext cx="0" cy="0"/>
          <a:chOff x="0" y="0"/>
          <a:chExt cx="0" cy="0"/>
        </a:xfrm>
      </p:grpSpPr>
      <p:sp>
        <p:nvSpPr>
          <p:cNvPr id="143204067" name="Text 0"/>
          <p:cNvSpPr/>
          <p:nvPr/>
        </p:nvSpPr>
        <p:spPr bwMode="auto">
          <a:xfrm>
            <a:off x="731520" y="320040"/>
            <a:ext cx="6400800" cy="274320"/>
          </a:xfrm>
          <a:prstGeom prst="rect">
            <a:avLst/>
          </a:prstGeom>
          <a:noFill/>
          <a:ln/>
        </p:spPr>
        <p:txBody>
          <a:bodyPr wrap="square" lIns="0" tIns="0" rIns="0" bIns="0" rtlCol="0" anchor="t">
            <a:spAutoFit/>
          </a:bodyPr>
          <a:lstStyle/>
          <a:p>
            <a:pPr marL="0" indent="0" algn="l">
              <a:buNone/>
              <a:defRPr/>
            </a:pPr>
            <a:r>
              <a:rPr lang="en-US" sz="900" spc="400">
                <a:solidFill>
                  <a:srgbClr val="8D94A1"/>
                </a:solidFill>
                <a:latin typeface="Arial"/>
                <a:ea typeface="Arial"/>
                <a:cs typeface="Arial"/>
              </a:rPr>
              <a:t>01  HUMAN BENCHMARK</a:t>
            </a:r>
            <a:endParaRPr lang="en-US" sz="900"/>
          </a:p>
        </p:txBody>
      </p:sp>
      <p:sp>
        <p:nvSpPr>
          <p:cNvPr id="429713335" name="Text 1"/>
          <p:cNvSpPr/>
          <p:nvPr/>
        </p:nvSpPr>
        <p:spPr bwMode="auto">
          <a:xfrm>
            <a:off x="731520" y="685800"/>
            <a:ext cx="7680960" cy="457200"/>
          </a:xfrm>
          <a:prstGeom prst="rect">
            <a:avLst/>
          </a:prstGeom>
          <a:noFill/>
          <a:ln/>
        </p:spPr>
        <p:txBody>
          <a:bodyPr wrap="square" lIns="0" tIns="0" rIns="0" bIns="0" rtlCol="0" anchor="t">
            <a:spAutoFit/>
          </a:bodyPr>
          <a:lstStyle/>
          <a:p>
            <a:pPr marL="0" indent="0" algn="l">
              <a:buNone/>
              <a:defRPr/>
            </a:pPr>
            <a:r>
              <a:rPr lang="en-US" sz="2400" b="1" spc="-40">
                <a:solidFill>
                  <a:srgbClr val="2E3542"/>
                </a:solidFill>
                <a:latin typeface="Arial"/>
                <a:ea typeface="Arial"/>
                <a:cs typeface="Arial"/>
              </a:rPr>
              <a:t>Published IAA does not give the expert score</a:t>
            </a:r>
            <a:endParaRPr lang="en-US" sz="2400"/>
          </a:p>
        </p:txBody>
      </p:sp>
      <p:sp>
        <p:nvSpPr>
          <p:cNvPr id="1900903975" name="Text 2"/>
          <p:cNvSpPr/>
          <p:nvPr/>
        </p:nvSpPr>
        <p:spPr bwMode="auto">
          <a:xfrm>
            <a:off x="731520" y="1188720"/>
            <a:ext cx="7680960" cy="320040"/>
          </a:xfrm>
          <a:prstGeom prst="rect">
            <a:avLst/>
          </a:prstGeom>
          <a:noFill/>
          <a:ln/>
        </p:spPr>
        <p:txBody>
          <a:bodyPr wrap="square" lIns="0" tIns="0" rIns="0" bIns="0" rtlCol="0" anchor="t">
            <a:spAutoFit/>
          </a:bodyPr>
          <a:lstStyle/>
          <a:p>
            <a:pPr marL="0" indent="0" algn="l">
              <a:buNone/>
              <a:defRPr/>
            </a:pPr>
            <a:r>
              <a:rPr lang="en-US" sz="1400">
                <a:solidFill>
                  <a:srgbClr val="2E3542"/>
                </a:solidFill>
                <a:latin typeface="Arial"/>
                <a:ea typeface="Arial"/>
                <a:cs typeface="Arial"/>
              </a:rPr>
              <a:t>The paper does not report expert F1 against the same gold under the same scoring rules.</a:t>
            </a:r>
            <a:endParaRPr lang="en-US" sz="1400"/>
          </a:p>
        </p:txBody>
      </p:sp>
      <p:sp>
        <p:nvSpPr>
          <p:cNvPr id="2140960684" name="Text 3"/>
          <p:cNvSpPr/>
          <p:nvPr/>
        </p:nvSpPr>
        <p:spPr bwMode="auto">
          <a:xfrm>
            <a:off x="731520" y="1618488"/>
            <a:ext cx="164592" cy="219456"/>
          </a:xfrm>
          <a:prstGeom prst="rect">
            <a:avLst/>
          </a:prstGeom>
          <a:noFill/>
          <a:ln/>
        </p:spPr>
        <p:txBody>
          <a:bodyPr wrap="square" lIns="0" tIns="0" rIns="0" bIns="0" rtlCol="0" anchor="t">
            <a:spAutoFit/>
          </a:bodyPr>
          <a:lstStyle/>
          <a:p>
            <a:pPr marL="0" indent="0" algn="l">
              <a:buNone/>
              <a:defRPr/>
            </a:pPr>
            <a:r>
              <a:rPr lang="en-US" sz="1100" b="1">
                <a:solidFill>
                  <a:srgbClr val="0F82EC"/>
                </a:solidFill>
                <a:latin typeface="Arial"/>
                <a:ea typeface="Arial"/>
                <a:cs typeface="Arial"/>
              </a:rPr>
              <a:t>A</a:t>
            </a:r>
            <a:endParaRPr lang="en-US" sz="1100"/>
          </a:p>
        </p:txBody>
      </p:sp>
      <p:sp>
        <p:nvSpPr>
          <p:cNvPr id="708515442" name="Text 4"/>
          <p:cNvSpPr/>
          <p:nvPr/>
        </p:nvSpPr>
        <p:spPr bwMode="auto">
          <a:xfrm>
            <a:off x="950976" y="1609344"/>
            <a:ext cx="1243584" cy="219456"/>
          </a:xfrm>
          <a:prstGeom prst="rect">
            <a:avLst/>
          </a:prstGeom>
          <a:noFill/>
          <a:ln/>
        </p:spPr>
        <p:txBody>
          <a:bodyPr wrap="square" lIns="0" tIns="0" rIns="0" bIns="0" rtlCol="0" anchor="t">
            <a:spAutoFit/>
          </a:bodyPr>
          <a:lstStyle/>
          <a:p>
            <a:pPr marL="0" indent="0" algn="l">
              <a:buNone/>
              <a:defRPr/>
            </a:pPr>
            <a:r>
              <a:rPr lang="en-US" sz="1400" b="1">
                <a:solidFill>
                  <a:srgbClr val="2E3542"/>
                </a:solidFill>
                <a:latin typeface="Arial"/>
                <a:ea typeface="Arial"/>
                <a:cs typeface="Arial"/>
              </a:rPr>
              <a:t>BC5CDR</a:t>
            </a:r>
            <a:endParaRPr lang="en-US" sz="1400"/>
          </a:p>
        </p:txBody>
      </p:sp>
      <p:sp>
        <p:nvSpPr>
          <p:cNvPr id="729404362" name="Text 5"/>
          <p:cNvSpPr/>
          <p:nvPr/>
        </p:nvSpPr>
        <p:spPr bwMode="auto">
          <a:xfrm>
            <a:off x="950976" y="1837944"/>
            <a:ext cx="1143000" cy="210312"/>
          </a:xfrm>
          <a:prstGeom prst="rect">
            <a:avLst/>
          </a:prstGeom>
          <a:noFill/>
          <a:ln/>
        </p:spPr>
        <p:txBody>
          <a:bodyPr wrap="square" lIns="0" tIns="0" rIns="0" bIns="0" rtlCol="0" anchor="t">
            <a:spAutoFit/>
          </a:bodyPr>
          <a:lstStyle/>
          <a:p>
            <a:pPr marL="0" indent="0" algn="l">
              <a:buNone/>
              <a:defRPr/>
            </a:pPr>
            <a:r>
              <a:rPr lang="en-US" sz="1400">
                <a:solidFill>
                  <a:srgbClr val="2E3542"/>
                </a:solidFill>
                <a:latin typeface="Arial"/>
                <a:ea typeface="Arial"/>
                <a:cs typeface="Arial"/>
              </a:rPr>
              <a:t>Disease</a:t>
            </a:r>
            <a:endParaRPr lang="en-US" sz="1400"/>
          </a:p>
        </p:txBody>
      </p:sp>
      <p:sp>
        <p:nvSpPr>
          <p:cNvPr id="578243429" name="Text 6"/>
          <p:cNvSpPr/>
          <p:nvPr/>
        </p:nvSpPr>
        <p:spPr bwMode="auto">
          <a:xfrm flipH="0" flipV="0">
            <a:off x="552690" y="114120"/>
            <a:ext cx="7718577" cy="686160"/>
          </a:xfrm>
          <a:prstGeom prst="rect">
            <a:avLst/>
          </a:prstGeom>
          <a:noFill/>
          <a:ln/>
        </p:spPr>
        <p:txBody>
          <a:bodyPr wrap="square" lIns="0" tIns="0" rIns="0" bIns="0" rtlCol="0" anchor="t">
            <a:spAutoFit/>
          </a:bodyPr>
          <a:lstStyle/>
          <a:p>
            <a:pPr marL="0" indent="0" algn="l">
              <a:buNone/>
              <a:defRPr/>
            </a:pPr>
            <a:r>
              <a:rPr lang="en-US" sz="1500" b="1">
                <a:solidFill>
                  <a:srgbClr val="FF0000"/>
                </a:solidFill>
                <a:latin typeface="Arial"/>
                <a:ea typeface="Arial"/>
                <a:cs typeface="Arial"/>
              </a:rPr>
              <a:t>87.49% (left 13%; any details of the discussion based on the expert annotation. check whether the aggrement part are right or not. If they are right, the IAA should be lower boundary of acc.)</a:t>
            </a:r>
            <a:endParaRPr sz="1500">
              <a:solidFill>
                <a:srgbClr val="FF0000"/>
              </a:solidFill>
            </a:endParaRPr>
          </a:p>
        </p:txBody>
      </p:sp>
      <p:sp>
        <p:nvSpPr>
          <p:cNvPr id="79161543" name="Text 7"/>
          <p:cNvSpPr/>
          <p:nvPr/>
        </p:nvSpPr>
        <p:spPr bwMode="auto">
          <a:xfrm>
            <a:off x="731520" y="2313432"/>
            <a:ext cx="164592" cy="219456"/>
          </a:xfrm>
          <a:prstGeom prst="rect">
            <a:avLst/>
          </a:prstGeom>
          <a:noFill/>
          <a:ln/>
        </p:spPr>
        <p:txBody>
          <a:bodyPr wrap="square" lIns="0" tIns="0" rIns="0" bIns="0" rtlCol="0" anchor="t">
            <a:spAutoFit/>
          </a:bodyPr>
          <a:lstStyle/>
          <a:p>
            <a:pPr marL="0" indent="0" algn="l">
              <a:buNone/>
              <a:defRPr/>
            </a:pPr>
            <a:r>
              <a:rPr lang="en-US" sz="1100" b="1">
                <a:solidFill>
                  <a:srgbClr val="0F82EC"/>
                </a:solidFill>
                <a:latin typeface="Arial"/>
                <a:ea typeface="Arial"/>
                <a:cs typeface="Arial"/>
              </a:rPr>
              <a:t>B</a:t>
            </a:r>
            <a:endParaRPr lang="en-US" sz="1100"/>
          </a:p>
        </p:txBody>
      </p:sp>
      <p:sp>
        <p:nvSpPr>
          <p:cNvPr id="1619635962" name="Text 8"/>
          <p:cNvSpPr/>
          <p:nvPr/>
        </p:nvSpPr>
        <p:spPr bwMode="auto">
          <a:xfrm>
            <a:off x="950976" y="2304288"/>
            <a:ext cx="1243584" cy="219456"/>
          </a:xfrm>
          <a:prstGeom prst="rect">
            <a:avLst/>
          </a:prstGeom>
          <a:noFill/>
          <a:ln/>
        </p:spPr>
        <p:txBody>
          <a:bodyPr wrap="square" lIns="0" tIns="0" rIns="0" bIns="0" rtlCol="0" anchor="t">
            <a:spAutoFit/>
          </a:bodyPr>
          <a:lstStyle/>
          <a:p>
            <a:pPr marL="0" indent="0" algn="l">
              <a:buNone/>
              <a:defRPr/>
            </a:pPr>
            <a:r>
              <a:rPr lang="en-US" sz="1400" b="1">
                <a:solidFill>
                  <a:srgbClr val="2E3542"/>
                </a:solidFill>
                <a:latin typeface="Arial"/>
                <a:ea typeface="Arial"/>
                <a:cs typeface="Arial"/>
              </a:rPr>
              <a:t>BC5CDR</a:t>
            </a:r>
            <a:endParaRPr lang="en-US" sz="1400"/>
          </a:p>
        </p:txBody>
      </p:sp>
      <p:sp>
        <p:nvSpPr>
          <p:cNvPr id="972804746" name="Text 9"/>
          <p:cNvSpPr/>
          <p:nvPr/>
        </p:nvSpPr>
        <p:spPr bwMode="auto">
          <a:xfrm>
            <a:off x="950976" y="2532888"/>
            <a:ext cx="1143000" cy="210312"/>
          </a:xfrm>
          <a:prstGeom prst="rect">
            <a:avLst/>
          </a:prstGeom>
          <a:noFill/>
          <a:ln/>
        </p:spPr>
        <p:txBody>
          <a:bodyPr wrap="square" lIns="0" tIns="0" rIns="0" bIns="0" rtlCol="0" anchor="t">
            <a:spAutoFit/>
          </a:bodyPr>
          <a:lstStyle/>
          <a:p>
            <a:pPr marL="0" indent="0" algn="l">
              <a:buNone/>
              <a:defRPr/>
            </a:pPr>
            <a:r>
              <a:rPr lang="en-US" sz="1400">
                <a:solidFill>
                  <a:srgbClr val="2E3542"/>
                </a:solidFill>
                <a:latin typeface="Arial"/>
                <a:ea typeface="Arial"/>
                <a:cs typeface="Arial"/>
              </a:rPr>
              <a:t>Chemical</a:t>
            </a:r>
            <a:endParaRPr lang="en-US" sz="1400"/>
          </a:p>
        </p:txBody>
      </p:sp>
      <p:sp>
        <p:nvSpPr>
          <p:cNvPr id="2074996952" name="Text 10"/>
          <p:cNvSpPr/>
          <p:nvPr/>
        </p:nvSpPr>
        <p:spPr bwMode="auto">
          <a:xfrm>
            <a:off x="950976" y="2752343"/>
            <a:ext cx="1143000" cy="228600"/>
          </a:xfrm>
          <a:prstGeom prst="rect">
            <a:avLst/>
          </a:prstGeom>
          <a:noFill/>
          <a:ln/>
        </p:spPr>
        <p:txBody>
          <a:bodyPr wrap="square" lIns="0" tIns="0" rIns="0" bIns="0" rtlCol="0" anchor="t">
            <a:spAutoFit/>
          </a:bodyPr>
          <a:lstStyle/>
          <a:p>
            <a:pPr marL="0" indent="0" algn="l">
              <a:buNone/>
              <a:defRPr/>
            </a:pPr>
            <a:r>
              <a:rPr lang="en-US" sz="1500" b="1">
                <a:solidFill>
                  <a:srgbClr val="0F82EC"/>
                </a:solidFill>
                <a:latin typeface="Arial"/>
                <a:ea typeface="Arial"/>
                <a:cs typeface="Arial"/>
              </a:rPr>
              <a:t>96.05%</a:t>
            </a:r>
            <a:endParaRPr lang="en-US" sz="1500"/>
          </a:p>
        </p:txBody>
      </p:sp>
      <p:sp>
        <p:nvSpPr>
          <p:cNvPr id="662397301" name="Text 11"/>
          <p:cNvSpPr/>
          <p:nvPr/>
        </p:nvSpPr>
        <p:spPr bwMode="auto">
          <a:xfrm>
            <a:off x="731520" y="3008376"/>
            <a:ext cx="164592" cy="219456"/>
          </a:xfrm>
          <a:prstGeom prst="rect">
            <a:avLst/>
          </a:prstGeom>
          <a:noFill/>
          <a:ln/>
        </p:spPr>
        <p:txBody>
          <a:bodyPr wrap="square" lIns="0" tIns="0" rIns="0" bIns="0" rtlCol="0" anchor="t">
            <a:spAutoFit/>
          </a:bodyPr>
          <a:lstStyle/>
          <a:p>
            <a:pPr marL="0" indent="0" algn="l">
              <a:buNone/>
              <a:defRPr/>
            </a:pPr>
            <a:r>
              <a:rPr lang="en-US" sz="1100" b="1">
                <a:solidFill>
                  <a:srgbClr val="0F82EC"/>
                </a:solidFill>
                <a:latin typeface="Arial"/>
                <a:ea typeface="Arial"/>
                <a:cs typeface="Arial"/>
              </a:rPr>
              <a:t>C</a:t>
            </a:r>
            <a:endParaRPr lang="en-US" sz="1100"/>
          </a:p>
        </p:txBody>
      </p:sp>
      <p:sp>
        <p:nvSpPr>
          <p:cNvPr id="1576231976" name="Text 12"/>
          <p:cNvSpPr/>
          <p:nvPr/>
        </p:nvSpPr>
        <p:spPr bwMode="auto">
          <a:xfrm>
            <a:off x="950976" y="2999232"/>
            <a:ext cx="1243584" cy="219456"/>
          </a:xfrm>
          <a:prstGeom prst="rect">
            <a:avLst/>
          </a:prstGeom>
          <a:noFill/>
          <a:ln/>
        </p:spPr>
        <p:txBody>
          <a:bodyPr wrap="square" lIns="0" tIns="0" rIns="0" bIns="0" rtlCol="0" anchor="t">
            <a:spAutoFit/>
          </a:bodyPr>
          <a:lstStyle/>
          <a:p>
            <a:pPr marL="0" indent="0" algn="l">
              <a:buNone/>
              <a:defRPr/>
            </a:pPr>
            <a:r>
              <a:rPr lang="en-US" sz="1400" b="1">
                <a:solidFill>
                  <a:srgbClr val="2E3542"/>
                </a:solidFill>
                <a:latin typeface="Arial"/>
                <a:ea typeface="Arial"/>
                <a:cs typeface="Arial"/>
              </a:rPr>
              <a:t>BioRED</a:t>
            </a:r>
            <a:endParaRPr lang="en-US" sz="1400"/>
          </a:p>
        </p:txBody>
      </p:sp>
      <p:sp>
        <p:nvSpPr>
          <p:cNvPr id="373250483" name="Text 13"/>
          <p:cNvSpPr/>
          <p:nvPr/>
        </p:nvSpPr>
        <p:spPr bwMode="auto">
          <a:xfrm>
            <a:off x="950976" y="3227832"/>
            <a:ext cx="1143000" cy="210312"/>
          </a:xfrm>
          <a:prstGeom prst="rect">
            <a:avLst/>
          </a:prstGeom>
          <a:noFill/>
          <a:ln/>
        </p:spPr>
        <p:txBody>
          <a:bodyPr wrap="square" lIns="0" tIns="0" rIns="0" bIns="0" rtlCol="0" anchor="t">
            <a:spAutoFit/>
          </a:bodyPr>
          <a:lstStyle/>
          <a:p>
            <a:pPr marL="0" indent="0" algn="l">
              <a:buNone/>
              <a:defRPr/>
            </a:pPr>
            <a:r>
              <a:rPr lang="en-US" sz="1400">
                <a:solidFill>
                  <a:srgbClr val="2E3542"/>
                </a:solidFill>
                <a:latin typeface="Arial"/>
                <a:ea typeface="Arial"/>
                <a:cs typeface="Arial"/>
              </a:rPr>
              <a:t>Entities</a:t>
            </a:r>
            <a:endParaRPr lang="en-US" sz="1400"/>
          </a:p>
        </p:txBody>
      </p:sp>
      <p:sp>
        <p:nvSpPr>
          <p:cNvPr id="136646027" name="Text 14"/>
          <p:cNvSpPr/>
          <p:nvPr/>
        </p:nvSpPr>
        <p:spPr bwMode="auto">
          <a:xfrm>
            <a:off x="950976" y="3447288"/>
            <a:ext cx="1143000" cy="228600"/>
          </a:xfrm>
          <a:prstGeom prst="rect">
            <a:avLst/>
          </a:prstGeom>
          <a:noFill/>
          <a:ln/>
        </p:spPr>
        <p:txBody>
          <a:bodyPr wrap="square" lIns="0" tIns="0" rIns="0" bIns="0" rtlCol="0" anchor="t">
            <a:spAutoFit/>
          </a:bodyPr>
          <a:lstStyle/>
          <a:p>
            <a:pPr marL="0" indent="0" algn="l">
              <a:buNone/>
              <a:defRPr/>
            </a:pPr>
            <a:r>
              <a:rPr lang="en-US" sz="1500" b="1">
                <a:solidFill>
                  <a:srgbClr val="0F82EC"/>
                </a:solidFill>
                <a:latin typeface="Arial"/>
                <a:ea typeface="Arial"/>
                <a:cs typeface="Arial"/>
              </a:rPr>
              <a:t>97.01%</a:t>
            </a:r>
            <a:endParaRPr lang="en-US" sz="1500"/>
          </a:p>
        </p:txBody>
      </p:sp>
      <p:sp>
        <p:nvSpPr>
          <p:cNvPr id="1942505743" name="Text 15"/>
          <p:cNvSpPr/>
          <p:nvPr/>
        </p:nvSpPr>
        <p:spPr bwMode="auto">
          <a:xfrm>
            <a:off x="731520" y="3703320"/>
            <a:ext cx="164592" cy="219456"/>
          </a:xfrm>
          <a:prstGeom prst="rect">
            <a:avLst/>
          </a:prstGeom>
          <a:noFill/>
          <a:ln/>
        </p:spPr>
        <p:txBody>
          <a:bodyPr wrap="square" lIns="0" tIns="0" rIns="0" bIns="0" rtlCol="0" anchor="t">
            <a:spAutoFit/>
          </a:bodyPr>
          <a:lstStyle/>
          <a:p>
            <a:pPr marL="0" indent="0" algn="l">
              <a:buNone/>
              <a:defRPr/>
            </a:pPr>
            <a:r>
              <a:rPr lang="en-US" sz="1100" b="1">
                <a:solidFill>
                  <a:srgbClr val="0F82EC"/>
                </a:solidFill>
                <a:latin typeface="Arial"/>
                <a:ea typeface="Arial"/>
                <a:cs typeface="Arial"/>
              </a:rPr>
              <a:t>D</a:t>
            </a:r>
            <a:endParaRPr lang="en-US" sz="1100"/>
          </a:p>
        </p:txBody>
      </p:sp>
      <p:sp>
        <p:nvSpPr>
          <p:cNvPr id="1769375275" name="Text 16"/>
          <p:cNvSpPr/>
          <p:nvPr/>
        </p:nvSpPr>
        <p:spPr bwMode="auto">
          <a:xfrm>
            <a:off x="950976" y="3694176"/>
            <a:ext cx="1243584" cy="219456"/>
          </a:xfrm>
          <a:prstGeom prst="rect">
            <a:avLst/>
          </a:prstGeom>
          <a:noFill/>
          <a:ln/>
        </p:spPr>
        <p:txBody>
          <a:bodyPr wrap="square" lIns="0" tIns="0" rIns="0" bIns="0" rtlCol="0" anchor="t">
            <a:spAutoFit/>
          </a:bodyPr>
          <a:lstStyle/>
          <a:p>
            <a:pPr marL="0" indent="0" algn="l">
              <a:buNone/>
              <a:defRPr/>
            </a:pPr>
            <a:r>
              <a:rPr lang="en-US" sz="1400" b="1">
                <a:solidFill>
                  <a:srgbClr val="2E3542"/>
                </a:solidFill>
                <a:latin typeface="Arial"/>
                <a:ea typeface="Arial"/>
                <a:cs typeface="Arial"/>
              </a:rPr>
              <a:t>NCBI Disease</a:t>
            </a:r>
            <a:endParaRPr lang="en-US" sz="1400"/>
          </a:p>
        </p:txBody>
      </p:sp>
      <p:sp>
        <p:nvSpPr>
          <p:cNvPr id="759985540" name="Text 17"/>
          <p:cNvSpPr/>
          <p:nvPr/>
        </p:nvSpPr>
        <p:spPr bwMode="auto">
          <a:xfrm>
            <a:off x="950976" y="3922776"/>
            <a:ext cx="1143000" cy="210312"/>
          </a:xfrm>
          <a:prstGeom prst="rect">
            <a:avLst/>
          </a:prstGeom>
          <a:noFill/>
          <a:ln/>
        </p:spPr>
        <p:txBody>
          <a:bodyPr wrap="square" lIns="0" tIns="0" rIns="0" bIns="0" rtlCol="0" anchor="t">
            <a:spAutoFit/>
          </a:bodyPr>
          <a:lstStyle/>
          <a:p>
            <a:pPr marL="0" indent="0" algn="l">
              <a:buNone/>
              <a:defRPr/>
            </a:pPr>
            <a:r>
              <a:rPr lang="en-US" sz="1400">
                <a:solidFill>
                  <a:srgbClr val="2E3542"/>
                </a:solidFill>
                <a:latin typeface="Arial"/>
                <a:ea typeface="Arial"/>
                <a:cs typeface="Arial"/>
              </a:rPr>
              <a:t>Mentions</a:t>
            </a:r>
            <a:endParaRPr lang="en-US" sz="1400"/>
          </a:p>
        </p:txBody>
      </p:sp>
      <p:sp>
        <p:nvSpPr>
          <p:cNvPr id="422593919" name="Text 18"/>
          <p:cNvSpPr/>
          <p:nvPr/>
        </p:nvSpPr>
        <p:spPr bwMode="auto">
          <a:xfrm>
            <a:off x="950976" y="4142232"/>
            <a:ext cx="1143000" cy="228600"/>
          </a:xfrm>
          <a:prstGeom prst="rect">
            <a:avLst/>
          </a:prstGeom>
          <a:noFill/>
          <a:ln/>
        </p:spPr>
        <p:txBody>
          <a:bodyPr wrap="square" lIns="0" tIns="0" rIns="0" bIns="0" rtlCol="0" anchor="t">
            <a:spAutoFit/>
          </a:bodyPr>
          <a:lstStyle/>
          <a:p>
            <a:pPr marL="0" indent="0" algn="l">
              <a:buNone/>
              <a:defRPr/>
            </a:pPr>
            <a:r>
              <a:rPr lang="en-US" sz="1500" b="1">
                <a:solidFill>
                  <a:srgbClr val="0F82EC"/>
                </a:solidFill>
                <a:latin typeface="Arial"/>
                <a:ea typeface="Arial"/>
                <a:cs typeface="Arial"/>
              </a:rPr>
              <a:t>87.5%*</a:t>
            </a:r>
            <a:endParaRPr lang="en-US" sz="1500"/>
          </a:p>
        </p:txBody>
      </p:sp>
      <p:sp>
        <p:nvSpPr>
          <p:cNvPr id="1314058738" name="Text 19"/>
          <p:cNvSpPr/>
          <p:nvPr/>
        </p:nvSpPr>
        <p:spPr bwMode="auto">
          <a:xfrm>
            <a:off x="731520" y="4645152"/>
            <a:ext cx="7360920" cy="274320"/>
          </a:xfrm>
          <a:prstGeom prst="rect">
            <a:avLst/>
          </a:prstGeom>
          <a:noFill/>
          <a:ln/>
        </p:spPr>
        <p:txBody>
          <a:bodyPr wrap="square" lIns="0" tIns="0" rIns="0" bIns="0" rtlCol="0" anchor="ctr">
            <a:spAutoFit/>
          </a:bodyPr>
          <a:lstStyle/>
          <a:p>
            <a:pPr marL="0" indent="0" algn="l">
              <a:buNone/>
              <a:defRPr/>
            </a:pPr>
            <a:r>
              <a:rPr lang="en-US" sz="850">
                <a:solidFill>
                  <a:srgbClr val="8D94A1"/>
                </a:solidFill>
                <a:latin typeface="Arial"/>
                <a:ea typeface="Arial"/>
                <a:cs typeface="Arial"/>
              </a:rPr>
              <a:t>Source: original paper, Appendix, p. 10. * Approximate value for NCBI Disease.</a:t>
            </a:r>
            <a:endParaRPr lang="en-US" sz="850"/>
          </a:p>
        </p:txBody>
      </p:sp>
      <p:sp>
        <p:nvSpPr>
          <p:cNvPr id="2132990927" name="Text 20"/>
          <p:cNvSpPr/>
          <p:nvPr/>
        </p:nvSpPr>
        <p:spPr bwMode="auto">
          <a:xfrm>
            <a:off x="8412480" y="4645152"/>
            <a:ext cx="457200" cy="274320"/>
          </a:xfrm>
          <a:prstGeom prst="rect">
            <a:avLst/>
          </a:prstGeom>
          <a:noFill/>
          <a:ln/>
        </p:spPr>
        <p:txBody>
          <a:bodyPr wrap="square" lIns="0" tIns="0" rIns="0" bIns="0" rtlCol="0" anchor="ctr">
            <a:spAutoFit/>
          </a:bodyPr>
          <a:lstStyle/>
          <a:p>
            <a:pPr marL="0" indent="0" algn="r">
              <a:buNone/>
              <a:defRPr/>
            </a:pPr>
            <a:r>
              <a:rPr lang="en-US" sz="900">
                <a:solidFill>
                  <a:srgbClr val="8D94A1"/>
                </a:solidFill>
                <a:latin typeface="Arial"/>
                <a:ea typeface="Arial"/>
                <a:cs typeface="Arial"/>
              </a:rPr>
              <a:t>04</a:t>
            </a:r>
            <a:endParaRPr lang="en-US" sz="900"/>
          </a:p>
        </p:txBody>
      </p:sp>
      <p:pic>
        <p:nvPicPr>
          <p:cNvPr id="1918032463" name=""/>
          <p:cNvPicPr>
            <a:picLocks noChangeAspect="1"/>
          </p:cNvPicPr>
          <p:nvPr/>
        </p:nvPicPr>
        <p:blipFill rotWithShape="1">
          <a:blip r:embed="rId3"/>
          <a:stretch/>
        </p:blipFill>
        <p:spPr bwMode="auto">
          <a:xfrm>
            <a:off x="2617142" y="1546288"/>
            <a:ext cx="5305424" cy="29241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FFFFF"/>
        </a:solidFill>
      </p:bgPr>
    </p:bg>
    <p:spTree>
      <p:nvGrpSpPr>
        <p:cNvPr id="1" name=""/>
        <p:cNvGrpSpPr/>
        <p:nvPr/>
      </p:nvGrpSpPr>
      <p:grpSpPr bwMode="auto">
        <a:xfrm>
          <a:off x="0" y="0"/>
          <a:ext cx="0" cy="0"/>
          <a:chOff x="0" y="0"/>
          <a:chExt cx="0" cy="0"/>
        </a:xfrm>
      </p:grpSpPr>
      <p:sp>
        <p:nvSpPr>
          <p:cNvPr id="243182868" name="Text 0"/>
          <p:cNvSpPr/>
          <p:nvPr/>
        </p:nvSpPr>
        <p:spPr bwMode="auto">
          <a:xfrm>
            <a:off x="731520" y="320040"/>
            <a:ext cx="6400800" cy="274320"/>
          </a:xfrm>
          <a:prstGeom prst="rect">
            <a:avLst/>
          </a:prstGeom>
          <a:noFill/>
          <a:ln/>
        </p:spPr>
        <p:txBody>
          <a:bodyPr wrap="square" lIns="0" tIns="0" rIns="0" bIns="0" rtlCol="0" anchor="t">
            <a:spAutoFit/>
          </a:bodyPr>
          <a:lstStyle/>
          <a:p>
            <a:pPr marL="0" indent="0" algn="l">
              <a:buNone/>
              <a:defRPr/>
            </a:pPr>
            <a:r>
              <a:rPr lang="en-US" sz="900" spc="400">
                <a:solidFill>
                  <a:srgbClr val="8D94A1"/>
                </a:solidFill>
                <a:latin typeface="Arial"/>
                <a:ea typeface="Arial"/>
                <a:cs typeface="Arial"/>
              </a:rPr>
              <a:t>01  HUMAN BENCHMARK</a:t>
            </a:r>
            <a:endParaRPr lang="en-US" sz="900"/>
          </a:p>
        </p:txBody>
      </p:sp>
      <p:sp>
        <p:nvSpPr>
          <p:cNvPr id="244182066" name="Text 1"/>
          <p:cNvSpPr/>
          <p:nvPr/>
        </p:nvSpPr>
        <p:spPr bwMode="auto">
          <a:xfrm>
            <a:off x="731520" y="685800"/>
            <a:ext cx="7680960" cy="457200"/>
          </a:xfrm>
          <a:prstGeom prst="rect">
            <a:avLst/>
          </a:prstGeom>
          <a:noFill/>
          <a:ln/>
        </p:spPr>
        <p:txBody>
          <a:bodyPr wrap="square" lIns="0" tIns="0" rIns="0" bIns="0" rtlCol="0" anchor="t">
            <a:spAutoFit/>
          </a:bodyPr>
          <a:lstStyle/>
          <a:p>
            <a:pPr marL="0" indent="0" algn="l">
              <a:buNone/>
              <a:defRPr/>
            </a:pPr>
            <a:r>
              <a:rPr lang="en-US" sz="2400" b="1" spc="-40">
                <a:solidFill>
                  <a:srgbClr val="2E3542"/>
                </a:solidFill>
                <a:latin typeface="Arial"/>
                <a:ea typeface="Arial"/>
                <a:cs typeface="Arial"/>
              </a:rPr>
              <a:t>The missing score is expert F1 against gold</a:t>
            </a:r>
            <a:endParaRPr lang="en-US" sz="2400"/>
          </a:p>
        </p:txBody>
      </p:sp>
      <p:sp>
        <p:nvSpPr>
          <p:cNvPr id="853992190" name="Text 2"/>
          <p:cNvSpPr/>
          <p:nvPr/>
        </p:nvSpPr>
        <p:spPr bwMode="auto">
          <a:xfrm>
            <a:off x="731520" y="4645152"/>
            <a:ext cx="7360920" cy="274320"/>
          </a:xfrm>
          <a:prstGeom prst="rect">
            <a:avLst/>
          </a:prstGeom>
          <a:noFill/>
          <a:ln/>
        </p:spPr>
        <p:txBody>
          <a:bodyPr wrap="square" lIns="0" tIns="0" rIns="0" bIns="0" rtlCol="0" anchor="ctr">
            <a:spAutoFit/>
          </a:bodyPr>
          <a:lstStyle/>
          <a:p>
            <a:pPr marL="0" indent="0" algn="l">
              <a:buNone/>
              <a:defRPr/>
            </a:pPr>
            <a:r>
              <a:rPr lang="en-US" sz="850">
                <a:solidFill>
                  <a:srgbClr val="8D94A1"/>
                </a:solidFill>
                <a:latin typeface="Arial"/>
                <a:ea typeface="Arial"/>
                <a:cs typeface="Arial"/>
              </a:rPr>
              <a:t>Task: exact entity span and type matching. Gold means the reference labels.</a:t>
            </a:r>
            <a:endParaRPr lang="en-US" sz="850"/>
          </a:p>
        </p:txBody>
      </p:sp>
      <p:sp>
        <p:nvSpPr>
          <p:cNvPr id="839777376" name="Text 3"/>
          <p:cNvSpPr/>
          <p:nvPr/>
        </p:nvSpPr>
        <p:spPr bwMode="auto">
          <a:xfrm>
            <a:off x="8412480" y="4645152"/>
            <a:ext cx="457200" cy="274320"/>
          </a:xfrm>
          <a:prstGeom prst="rect">
            <a:avLst/>
          </a:prstGeom>
          <a:noFill/>
          <a:ln/>
        </p:spPr>
        <p:txBody>
          <a:bodyPr wrap="square" lIns="0" tIns="0" rIns="0" bIns="0" rtlCol="0" anchor="ctr">
            <a:spAutoFit/>
          </a:bodyPr>
          <a:lstStyle/>
          <a:p>
            <a:pPr marL="0" indent="0" algn="r">
              <a:buNone/>
              <a:defRPr/>
            </a:pPr>
            <a:r>
              <a:rPr lang="en-US" sz="900">
                <a:solidFill>
                  <a:srgbClr val="8D94A1"/>
                </a:solidFill>
                <a:latin typeface="Arial"/>
                <a:ea typeface="Arial"/>
                <a:cs typeface="Arial"/>
              </a:rPr>
              <a:t>05</a:t>
            </a:r>
            <a:endParaRPr lang="en-US" sz="900"/>
          </a:p>
        </p:txBody>
      </p:sp>
      <p:sp>
        <p:nvSpPr>
          <p:cNvPr id="1533051481" name="Text 4"/>
          <p:cNvSpPr/>
          <p:nvPr/>
        </p:nvSpPr>
        <p:spPr bwMode="auto">
          <a:xfrm>
            <a:off x="731520" y="1280160"/>
            <a:ext cx="7680960" cy="384048"/>
          </a:xfrm>
          <a:prstGeom prst="rect">
            <a:avLst/>
          </a:prstGeom>
          <a:noFill/>
          <a:ln/>
        </p:spPr>
        <p:txBody>
          <a:bodyPr wrap="square" lIns="0" tIns="0" rIns="0" bIns="0" rtlCol="0" anchor="t">
            <a:spAutoFit/>
          </a:bodyPr>
          <a:lstStyle/>
          <a:p>
            <a:pPr marL="0" indent="0" algn="l">
              <a:buNone/>
              <a:defRPr/>
            </a:pPr>
            <a:r>
              <a:rPr lang="en-US" sz="1600">
                <a:solidFill>
                  <a:srgbClr val="2E3542"/>
                </a:solidFill>
                <a:latin typeface="Arial"/>
                <a:ea typeface="Arial"/>
                <a:cs typeface="Arial"/>
              </a:rPr>
              <a:t>Gold labels alone do not tell us how well an expert would score.</a:t>
            </a:r>
            <a:endParaRPr lang="en-US" sz="1600"/>
          </a:p>
        </p:txBody>
      </p:sp>
      <p:sp>
        <p:nvSpPr>
          <p:cNvPr id="1275649151" name="Shape 5"/>
          <p:cNvSpPr/>
          <p:nvPr/>
        </p:nvSpPr>
        <p:spPr bwMode="auto">
          <a:xfrm>
            <a:off x="731520" y="1856232"/>
            <a:ext cx="2148840" cy="704088"/>
          </a:xfrm>
          <a:prstGeom prst="rect">
            <a:avLst/>
          </a:prstGeom>
          <a:solidFill>
            <a:srgbClr val="F1F3F6"/>
          </a:solidFill>
          <a:ln w="6350">
            <a:solidFill>
              <a:srgbClr val="F1F3F6"/>
            </a:solidFill>
            <a:prstDash val="solid"/>
          </a:ln>
        </p:spPr>
      </p:sp>
      <p:pic>
        <p:nvPicPr>
          <p:cNvPr id="577172679" name="Image 0" descr="preencoded.png"/>
          <p:cNvPicPr>
            <a:picLocks noChangeAspect="1"/>
          </p:cNvPicPr>
          <p:nvPr/>
        </p:nvPicPr>
        <p:blipFill rotWithShape="1">
          <a:blip r:embed="rId3"/>
          <a:stretch/>
        </p:blipFill>
        <p:spPr bwMode="auto">
          <a:xfrm>
            <a:off x="932688" y="2057400"/>
            <a:ext cx="310896" cy="310896"/>
          </a:xfrm>
          <a:prstGeom prst="rect">
            <a:avLst/>
          </a:prstGeom>
        </p:spPr>
      </p:pic>
      <p:sp>
        <p:nvSpPr>
          <p:cNvPr id="1452696778" name="Text 6"/>
          <p:cNvSpPr/>
          <p:nvPr/>
        </p:nvSpPr>
        <p:spPr bwMode="auto">
          <a:xfrm>
            <a:off x="1426464" y="2066544"/>
            <a:ext cx="1234440" cy="292608"/>
          </a:xfrm>
          <a:prstGeom prst="rect">
            <a:avLst/>
          </a:prstGeom>
          <a:noFill/>
          <a:ln/>
        </p:spPr>
        <p:txBody>
          <a:bodyPr wrap="square" lIns="0" tIns="0" rIns="0" bIns="0" rtlCol="0" anchor="t">
            <a:spAutoFit/>
          </a:bodyPr>
          <a:lstStyle/>
          <a:p>
            <a:pPr marL="0" indent="0" algn="l">
              <a:buNone/>
              <a:defRPr/>
            </a:pPr>
            <a:r>
              <a:rPr lang="en-US" sz="1700" b="1">
                <a:solidFill>
                  <a:srgbClr val="2E3542"/>
                </a:solidFill>
                <a:latin typeface="Arial"/>
                <a:ea typeface="Arial"/>
                <a:cs typeface="Arial"/>
              </a:rPr>
              <a:t>Experts</a:t>
            </a:r>
            <a:endParaRPr lang="en-US" sz="1700"/>
          </a:p>
        </p:txBody>
      </p:sp>
      <p:pic>
        <p:nvPicPr>
          <p:cNvPr id="1664587689" name="Image 1" descr="preencoded.png"/>
          <p:cNvPicPr>
            <a:picLocks noChangeAspect="1"/>
          </p:cNvPicPr>
          <p:nvPr/>
        </p:nvPicPr>
        <p:blipFill rotWithShape="1">
          <a:blip r:embed="rId4"/>
          <a:stretch/>
        </p:blipFill>
        <p:spPr bwMode="auto">
          <a:xfrm>
            <a:off x="3035808" y="2093976"/>
            <a:ext cx="219456" cy="219456"/>
          </a:xfrm>
          <a:prstGeom prst="rect">
            <a:avLst/>
          </a:prstGeom>
        </p:spPr>
      </p:pic>
      <p:sp>
        <p:nvSpPr>
          <p:cNvPr id="237668699" name="Shape 7"/>
          <p:cNvSpPr/>
          <p:nvPr/>
        </p:nvSpPr>
        <p:spPr bwMode="auto">
          <a:xfrm>
            <a:off x="3438144" y="1856232"/>
            <a:ext cx="2139696" cy="704088"/>
          </a:xfrm>
          <a:prstGeom prst="rect">
            <a:avLst/>
          </a:prstGeom>
          <a:solidFill>
            <a:srgbClr val="F1F3F6"/>
          </a:solidFill>
          <a:ln w="6350">
            <a:solidFill>
              <a:srgbClr val="F1F3F6"/>
            </a:solidFill>
            <a:prstDash val="solid"/>
          </a:ln>
        </p:spPr>
      </p:sp>
      <p:pic>
        <p:nvPicPr>
          <p:cNvPr id="2070011521" name="Image 2" descr="preencoded.png"/>
          <p:cNvPicPr>
            <a:picLocks noChangeAspect="1"/>
          </p:cNvPicPr>
          <p:nvPr/>
        </p:nvPicPr>
        <p:blipFill rotWithShape="1">
          <a:blip r:embed="rId5"/>
          <a:stretch/>
        </p:blipFill>
        <p:spPr bwMode="auto">
          <a:xfrm>
            <a:off x="3639312" y="2066544"/>
            <a:ext cx="283464" cy="283464"/>
          </a:xfrm>
          <a:prstGeom prst="rect">
            <a:avLst/>
          </a:prstGeom>
        </p:spPr>
      </p:pic>
      <p:sp>
        <p:nvSpPr>
          <p:cNvPr id="1518710424" name="Text 8"/>
          <p:cNvSpPr/>
          <p:nvPr/>
        </p:nvSpPr>
        <p:spPr bwMode="auto">
          <a:xfrm>
            <a:off x="4096512" y="2084832"/>
            <a:ext cx="1298448" cy="274320"/>
          </a:xfrm>
          <a:prstGeom prst="rect">
            <a:avLst/>
          </a:prstGeom>
          <a:noFill/>
          <a:ln/>
        </p:spPr>
        <p:txBody>
          <a:bodyPr wrap="square" lIns="0" tIns="0" rIns="0" bIns="0" rtlCol="0" anchor="t">
            <a:spAutoFit/>
          </a:bodyPr>
          <a:lstStyle/>
          <a:p>
            <a:pPr marL="0" indent="0" algn="l">
              <a:buNone/>
              <a:defRPr/>
            </a:pPr>
            <a:r>
              <a:rPr lang="en-US" sz="1600">
                <a:solidFill>
                  <a:srgbClr val="2E3542"/>
                </a:solidFill>
                <a:latin typeface="Arial"/>
                <a:ea typeface="Arial"/>
                <a:cs typeface="Arial"/>
              </a:rPr>
              <a:t>Gold labels</a:t>
            </a:r>
            <a:endParaRPr lang="en-US" sz="1600"/>
          </a:p>
        </p:txBody>
      </p:sp>
      <p:pic>
        <p:nvPicPr>
          <p:cNvPr id="777297728" name="Image 3" descr="preencoded.png"/>
          <p:cNvPicPr>
            <a:picLocks noChangeAspect="1"/>
          </p:cNvPicPr>
          <p:nvPr/>
        </p:nvPicPr>
        <p:blipFill rotWithShape="1">
          <a:blip r:embed="rId6"/>
          <a:stretch/>
        </p:blipFill>
        <p:spPr bwMode="auto">
          <a:xfrm>
            <a:off x="5742432" y="2093976"/>
            <a:ext cx="219456" cy="219456"/>
          </a:xfrm>
          <a:prstGeom prst="rect">
            <a:avLst/>
          </a:prstGeom>
        </p:spPr>
      </p:pic>
      <p:sp>
        <p:nvSpPr>
          <p:cNvPr id="184104810" name="Shape 9"/>
          <p:cNvSpPr/>
          <p:nvPr/>
        </p:nvSpPr>
        <p:spPr bwMode="auto">
          <a:xfrm>
            <a:off x="6172200" y="1856232"/>
            <a:ext cx="2240280" cy="704088"/>
          </a:xfrm>
          <a:prstGeom prst="rect">
            <a:avLst/>
          </a:prstGeom>
          <a:solidFill>
            <a:srgbClr val="0F82EC">
              <a:alpha val="6000"/>
            </a:srgbClr>
          </a:solidFill>
          <a:ln w="10160">
            <a:solidFill>
              <a:srgbClr val="0F82EC">
                <a:alpha val="35000"/>
              </a:srgbClr>
            </a:solidFill>
            <a:prstDash val="solid"/>
          </a:ln>
        </p:spPr>
      </p:sp>
      <p:sp>
        <p:nvSpPr>
          <p:cNvPr id="402168298" name="Text 10"/>
          <p:cNvSpPr/>
          <p:nvPr/>
        </p:nvSpPr>
        <p:spPr bwMode="auto">
          <a:xfrm>
            <a:off x="6355080" y="2066544"/>
            <a:ext cx="1874520" cy="301752"/>
          </a:xfrm>
          <a:prstGeom prst="rect">
            <a:avLst/>
          </a:prstGeom>
          <a:noFill/>
          <a:ln/>
        </p:spPr>
        <p:txBody>
          <a:bodyPr wrap="square" lIns="0" tIns="0" rIns="0" bIns="0" rtlCol="0" anchor="t">
            <a:spAutoFit/>
          </a:bodyPr>
          <a:lstStyle/>
          <a:p>
            <a:pPr marL="0" indent="0" algn="ctr">
              <a:buNone/>
              <a:defRPr/>
            </a:pPr>
            <a:r>
              <a:rPr lang="en-US" sz="1800" b="1">
                <a:solidFill>
                  <a:srgbClr val="0F82EC"/>
                </a:solidFill>
                <a:latin typeface="Arial"/>
                <a:ea typeface="Arial"/>
                <a:cs typeface="Arial"/>
              </a:rPr>
              <a:t>Expert F1</a:t>
            </a:r>
            <a:endParaRPr lang="en-US" sz="1800"/>
          </a:p>
        </p:txBody>
      </p:sp>
      <p:sp>
        <p:nvSpPr>
          <p:cNvPr id="1749946555" name="Shape 11"/>
          <p:cNvSpPr/>
          <p:nvPr/>
        </p:nvSpPr>
        <p:spPr bwMode="auto">
          <a:xfrm>
            <a:off x="731520" y="2834640"/>
            <a:ext cx="2148840" cy="704088"/>
          </a:xfrm>
          <a:prstGeom prst="rect">
            <a:avLst/>
          </a:prstGeom>
          <a:solidFill>
            <a:srgbClr val="F1F3F6"/>
          </a:solidFill>
          <a:ln w="6350">
            <a:solidFill>
              <a:srgbClr val="F1F3F6"/>
            </a:solidFill>
            <a:prstDash val="solid"/>
          </a:ln>
        </p:spPr>
      </p:sp>
      <p:pic>
        <p:nvPicPr>
          <p:cNvPr id="1144310864" name="Image 4" descr="preencoded.png"/>
          <p:cNvPicPr>
            <a:picLocks noChangeAspect="1"/>
          </p:cNvPicPr>
          <p:nvPr/>
        </p:nvPicPr>
        <p:blipFill rotWithShape="1">
          <a:blip r:embed="rId7"/>
          <a:stretch/>
        </p:blipFill>
        <p:spPr bwMode="auto">
          <a:xfrm>
            <a:off x="932688" y="3035808"/>
            <a:ext cx="310896" cy="310896"/>
          </a:xfrm>
          <a:prstGeom prst="rect">
            <a:avLst/>
          </a:prstGeom>
        </p:spPr>
      </p:pic>
      <p:sp>
        <p:nvSpPr>
          <p:cNvPr id="1633071281" name="Text 12"/>
          <p:cNvSpPr/>
          <p:nvPr/>
        </p:nvSpPr>
        <p:spPr bwMode="auto">
          <a:xfrm>
            <a:off x="1426464" y="3044952"/>
            <a:ext cx="1234440" cy="292608"/>
          </a:xfrm>
          <a:prstGeom prst="rect">
            <a:avLst/>
          </a:prstGeom>
          <a:noFill/>
          <a:ln/>
        </p:spPr>
        <p:txBody>
          <a:bodyPr wrap="square" lIns="0" tIns="0" rIns="0" bIns="0" rtlCol="0" anchor="t">
            <a:spAutoFit/>
          </a:bodyPr>
          <a:lstStyle/>
          <a:p>
            <a:pPr marL="0" indent="0" algn="l">
              <a:buNone/>
              <a:defRPr/>
            </a:pPr>
            <a:r>
              <a:rPr lang="en-US" sz="1700" b="1">
                <a:solidFill>
                  <a:srgbClr val="2E3542"/>
                </a:solidFill>
                <a:latin typeface="Arial"/>
                <a:ea typeface="Arial"/>
                <a:cs typeface="Arial"/>
              </a:rPr>
              <a:t>LLM</a:t>
            </a:r>
            <a:endParaRPr lang="en-US" sz="1700"/>
          </a:p>
        </p:txBody>
      </p:sp>
      <p:pic>
        <p:nvPicPr>
          <p:cNvPr id="570208014" name="Image 5" descr="preencoded.png"/>
          <p:cNvPicPr>
            <a:picLocks noChangeAspect="1"/>
          </p:cNvPicPr>
          <p:nvPr/>
        </p:nvPicPr>
        <p:blipFill rotWithShape="1">
          <a:blip r:embed="rId8"/>
          <a:stretch/>
        </p:blipFill>
        <p:spPr bwMode="auto">
          <a:xfrm>
            <a:off x="3035808" y="3072384"/>
            <a:ext cx="219456" cy="219456"/>
          </a:xfrm>
          <a:prstGeom prst="rect">
            <a:avLst/>
          </a:prstGeom>
        </p:spPr>
      </p:pic>
      <p:sp>
        <p:nvSpPr>
          <p:cNvPr id="1232616533" name="Shape 13"/>
          <p:cNvSpPr/>
          <p:nvPr/>
        </p:nvSpPr>
        <p:spPr bwMode="auto">
          <a:xfrm>
            <a:off x="3438144" y="2834640"/>
            <a:ext cx="2139696" cy="704088"/>
          </a:xfrm>
          <a:prstGeom prst="rect">
            <a:avLst/>
          </a:prstGeom>
          <a:solidFill>
            <a:srgbClr val="F1F3F6"/>
          </a:solidFill>
          <a:ln w="6350">
            <a:solidFill>
              <a:srgbClr val="F1F3F6"/>
            </a:solidFill>
            <a:prstDash val="solid"/>
          </a:ln>
        </p:spPr>
      </p:sp>
      <p:pic>
        <p:nvPicPr>
          <p:cNvPr id="1679527027" name="Image 6" descr="preencoded.png"/>
          <p:cNvPicPr>
            <a:picLocks noChangeAspect="1"/>
          </p:cNvPicPr>
          <p:nvPr/>
        </p:nvPicPr>
        <p:blipFill rotWithShape="1">
          <a:blip r:embed="rId9"/>
          <a:stretch/>
        </p:blipFill>
        <p:spPr bwMode="auto">
          <a:xfrm>
            <a:off x="3639312" y="3044952"/>
            <a:ext cx="283464" cy="283464"/>
          </a:xfrm>
          <a:prstGeom prst="rect">
            <a:avLst/>
          </a:prstGeom>
        </p:spPr>
      </p:pic>
      <p:sp>
        <p:nvSpPr>
          <p:cNvPr id="38507273" name="Text 14"/>
          <p:cNvSpPr/>
          <p:nvPr/>
        </p:nvSpPr>
        <p:spPr bwMode="auto">
          <a:xfrm>
            <a:off x="4096512" y="3063240"/>
            <a:ext cx="1298448" cy="274320"/>
          </a:xfrm>
          <a:prstGeom prst="rect">
            <a:avLst/>
          </a:prstGeom>
          <a:noFill/>
          <a:ln/>
        </p:spPr>
        <p:txBody>
          <a:bodyPr wrap="square" lIns="0" tIns="0" rIns="0" bIns="0" rtlCol="0" anchor="t">
            <a:spAutoFit/>
          </a:bodyPr>
          <a:lstStyle/>
          <a:p>
            <a:pPr marL="0" indent="0" algn="l">
              <a:buNone/>
              <a:defRPr/>
            </a:pPr>
            <a:r>
              <a:rPr lang="en-US" sz="1600">
                <a:solidFill>
                  <a:srgbClr val="2E3542"/>
                </a:solidFill>
                <a:latin typeface="Arial"/>
                <a:ea typeface="Arial"/>
                <a:cs typeface="Arial"/>
              </a:rPr>
              <a:t>Gold labels</a:t>
            </a:r>
            <a:endParaRPr lang="en-US" sz="1600"/>
          </a:p>
        </p:txBody>
      </p:sp>
      <p:pic>
        <p:nvPicPr>
          <p:cNvPr id="57019321" name="Image 7" descr="preencoded.png"/>
          <p:cNvPicPr>
            <a:picLocks noChangeAspect="1"/>
          </p:cNvPicPr>
          <p:nvPr/>
        </p:nvPicPr>
        <p:blipFill rotWithShape="1">
          <a:blip r:embed="rId10"/>
          <a:stretch/>
        </p:blipFill>
        <p:spPr bwMode="auto">
          <a:xfrm>
            <a:off x="5742432" y="3072384"/>
            <a:ext cx="219456" cy="219456"/>
          </a:xfrm>
          <a:prstGeom prst="rect">
            <a:avLst/>
          </a:prstGeom>
        </p:spPr>
      </p:pic>
      <p:sp>
        <p:nvSpPr>
          <p:cNvPr id="460872449" name="Shape 15"/>
          <p:cNvSpPr/>
          <p:nvPr/>
        </p:nvSpPr>
        <p:spPr bwMode="auto">
          <a:xfrm>
            <a:off x="6172200" y="2834640"/>
            <a:ext cx="2240280" cy="704088"/>
          </a:xfrm>
          <a:prstGeom prst="rect">
            <a:avLst/>
          </a:prstGeom>
          <a:solidFill>
            <a:srgbClr val="0F82EC">
              <a:alpha val="6000"/>
            </a:srgbClr>
          </a:solidFill>
          <a:ln w="10160">
            <a:solidFill>
              <a:srgbClr val="0F82EC">
                <a:alpha val="35000"/>
              </a:srgbClr>
            </a:solidFill>
            <a:prstDash val="solid"/>
          </a:ln>
        </p:spPr>
      </p:sp>
      <p:sp>
        <p:nvSpPr>
          <p:cNvPr id="1243384020" name="Text 16"/>
          <p:cNvSpPr/>
          <p:nvPr/>
        </p:nvSpPr>
        <p:spPr bwMode="auto">
          <a:xfrm>
            <a:off x="6355080" y="3044952"/>
            <a:ext cx="1874520" cy="301752"/>
          </a:xfrm>
          <a:prstGeom prst="rect">
            <a:avLst/>
          </a:prstGeom>
          <a:noFill/>
          <a:ln/>
        </p:spPr>
        <p:txBody>
          <a:bodyPr wrap="square" lIns="0" tIns="0" rIns="0" bIns="0" rtlCol="0" anchor="t">
            <a:spAutoFit/>
          </a:bodyPr>
          <a:lstStyle/>
          <a:p>
            <a:pPr marL="0" indent="0" algn="ctr">
              <a:buNone/>
              <a:defRPr/>
            </a:pPr>
            <a:r>
              <a:rPr lang="en-US" sz="1800" b="1">
                <a:solidFill>
                  <a:srgbClr val="0F82EC"/>
                </a:solidFill>
                <a:latin typeface="Arial"/>
                <a:ea typeface="Arial"/>
                <a:cs typeface="Arial"/>
              </a:rPr>
              <a:t>LLM F1</a:t>
            </a:r>
            <a:endParaRPr lang="en-US" sz="1800"/>
          </a:p>
        </p:txBody>
      </p:sp>
      <p:sp>
        <p:nvSpPr>
          <p:cNvPr id="1185989732" name="Shape 17"/>
          <p:cNvSpPr/>
          <p:nvPr/>
        </p:nvSpPr>
        <p:spPr bwMode="auto">
          <a:xfrm>
            <a:off x="731520" y="3931920"/>
            <a:ext cx="7680960" cy="521208"/>
          </a:xfrm>
          <a:prstGeom prst="rect">
            <a:avLst/>
          </a:prstGeom>
          <a:solidFill>
            <a:srgbClr val="F1F3F6"/>
          </a:solidFill>
          <a:ln w="6350">
            <a:solidFill>
              <a:srgbClr val="F1F3F6"/>
            </a:solidFill>
            <a:prstDash val="solid"/>
          </a:ln>
        </p:spPr>
      </p:sp>
      <p:sp>
        <p:nvSpPr>
          <p:cNvPr id="762098237" name="Text 18"/>
          <p:cNvSpPr/>
          <p:nvPr/>
        </p:nvSpPr>
        <p:spPr bwMode="auto">
          <a:xfrm>
            <a:off x="914400" y="4087368"/>
            <a:ext cx="7315200" cy="237744"/>
          </a:xfrm>
          <a:prstGeom prst="rect">
            <a:avLst/>
          </a:prstGeom>
          <a:noFill/>
          <a:ln/>
        </p:spPr>
        <p:txBody>
          <a:bodyPr wrap="square" lIns="0" tIns="0" rIns="0" bIns="0" rtlCol="0" anchor="t">
            <a:spAutoFit/>
          </a:bodyPr>
          <a:lstStyle/>
          <a:p>
            <a:pPr marL="0" indent="0" algn="ctr">
              <a:buNone/>
              <a:defRPr/>
            </a:pPr>
            <a:r>
              <a:rPr lang="en-US" sz="1400">
                <a:solidFill>
                  <a:srgbClr val="2E3542"/>
                </a:solidFill>
                <a:latin typeface="Arial"/>
                <a:ea typeface="Arial"/>
                <a:cs typeface="Arial"/>
              </a:rPr>
              <a:t>Same texts  |  Same gold labels  |  Same scoring rules</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FFFFF"/>
        </a:solidFill>
      </p:bgPr>
    </p:bg>
    <p:spTree>
      <p:nvGrpSpPr>
        <p:cNvPr id="1" name=""/>
        <p:cNvGrpSpPr/>
        <p:nvPr/>
      </p:nvGrpSpPr>
      <p:grpSpPr bwMode="auto">
        <a:xfrm>
          <a:off x="0" y="0"/>
          <a:ext cx="0" cy="0"/>
          <a:chOff x="0" y="0"/>
          <a:chExt cx="0" cy="0"/>
        </a:xfrm>
      </p:grpSpPr>
      <p:sp>
        <p:nvSpPr>
          <p:cNvPr id="2144328603" name="Text 0"/>
          <p:cNvSpPr/>
          <p:nvPr/>
        </p:nvSpPr>
        <p:spPr bwMode="auto">
          <a:xfrm>
            <a:off x="731520" y="320040"/>
            <a:ext cx="6400800" cy="274320"/>
          </a:xfrm>
          <a:prstGeom prst="rect">
            <a:avLst/>
          </a:prstGeom>
          <a:noFill/>
          <a:ln/>
        </p:spPr>
        <p:txBody>
          <a:bodyPr wrap="square" lIns="0" tIns="0" rIns="0" bIns="0" rtlCol="0" anchor="t">
            <a:spAutoFit/>
          </a:bodyPr>
          <a:lstStyle/>
          <a:p>
            <a:pPr marL="0" indent="0" algn="l">
              <a:buNone/>
              <a:defRPr/>
            </a:pPr>
            <a:r>
              <a:rPr lang="en-US" sz="900" spc="400">
                <a:solidFill>
                  <a:srgbClr val="8D94A1"/>
                </a:solidFill>
                <a:latin typeface="Arial"/>
                <a:ea typeface="Arial"/>
                <a:cs typeface="Arial"/>
              </a:rPr>
              <a:t>01  HUMAN BENCHMARK</a:t>
            </a:r>
            <a:endParaRPr lang="en-US" sz="900"/>
          </a:p>
        </p:txBody>
      </p:sp>
      <p:sp>
        <p:nvSpPr>
          <p:cNvPr id="1118068171" name="Text 1"/>
          <p:cNvSpPr/>
          <p:nvPr/>
        </p:nvSpPr>
        <p:spPr bwMode="auto">
          <a:xfrm>
            <a:off x="731520" y="685800"/>
            <a:ext cx="7680960" cy="457200"/>
          </a:xfrm>
          <a:prstGeom prst="rect">
            <a:avLst/>
          </a:prstGeom>
          <a:noFill/>
          <a:ln/>
        </p:spPr>
        <p:txBody>
          <a:bodyPr wrap="square" lIns="0" tIns="0" rIns="0" bIns="0" rtlCol="0" anchor="t">
            <a:spAutoFit/>
          </a:bodyPr>
          <a:lstStyle/>
          <a:p>
            <a:pPr marL="0" indent="0" algn="l">
              <a:buNone/>
              <a:defRPr/>
            </a:pPr>
            <a:r>
              <a:rPr lang="en-US" sz="2400" b="1" spc="-40">
                <a:solidFill>
                  <a:srgbClr val="2E3542"/>
                </a:solidFill>
                <a:latin typeface="Arial"/>
                <a:ea typeface="Arial"/>
                <a:cs typeface="Arial"/>
              </a:rPr>
              <a:t>How to obtain the expert benchmark</a:t>
            </a:r>
            <a:endParaRPr lang="en-US" sz="2400"/>
          </a:p>
        </p:txBody>
      </p:sp>
      <p:sp>
        <p:nvSpPr>
          <p:cNvPr id="203494056" name="Text 2"/>
          <p:cNvSpPr/>
          <p:nvPr/>
        </p:nvSpPr>
        <p:spPr bwMode="auto">
          <a:xfrm>
            <a:off x="731520" y="4645152"/>
            <a:ext cx="7360920" cy="274320"/>
          </a:xfrm>
          <a:prstGeom prst="rect">
            <a:avLst/>
          </a:prstGeom>
          <a:noFill/>
          <a:ln/>
        </p:spPr>
        <p:txBody>
          <a:bodyPr wrap="square" lIns="0" tIns="0" rIns="0" bIns="0" rtlCol="0" anchor="ctr">
            <a:spAutoFit/>
          </a:bodyPr>
          <a:lstStyle/>
          <a:p>
            <a:pPr marL="0" indent="0" algn="l">
              <a:buNone/>
              <a:defRPr/>
            </a:pPr>
            <a:r>
              <a:rPr lang="en-US" sz="850">
                <a:solidFill>
                  <a:srgbClr val="8D94A1"/>
                </a:solidFill>
                <a:latin typeface="Arial"/>
                <a:ea typeface="Arial"/>
                <a:cs typeface="Arial"/>
              </a:rPr>
              <a:t>NCBI Disease | Expert annotation benchmark</a:t>
            </a:r>
            <a:endParaRPr lang="en-US" sz="850"/>
          </a:p>
        </p:txBody>
      </p:sp>
      <p:sp>
        <p:nvSpPr>
          <p:cNvPr id="231305581" name="Text 3"/>
          <p:cNvSpPr/>
          <p:nvPr/>
        </p:nvSpPr>
        <p:spPr bwMode="auto">
          <a:xfrm>
            <a:off x="8412480" y="4645152"/>
            <a:ext cx="457200" cy="274320"/>
          </a:xfrm>
          <a:prstGeom prst="rect">
            <a:avLst/>
          </a:prstGeom>
          <a:noFill/>
          <a:ln/>
        </p:spPr>
        <p:txBody>
          <a:bodyPr wrap="square" lIns="0" tIns="0" rIns="0" bIns="0" rtlCol="0" anchor="ctr">
            <a:spAutoFit/>
          </a:bodyPr>
          <a:lstStyle/>
          <a:p>
            <a:pPr marL="0" indent="0" algn="r">
              <a:buNone/>
              <a:defRPr/>
            </a:pPr>
            <a:r>
              <a:rPr lang="en-US" sz="900">
                <a:solidFill>
                  <a:srgbClr val="8D94A1"/>
                </a:solidFill>
                <a:latin typeface="Arial"/>
                <a:ea typeface="Arial"/>
                <a:cs typeface="Arial"/>
              </a:rPr>
              <a:t>06</a:t>
            </a:r>
            <a:endParaRPr lang="en-US" sz="900"/>
          </a:p>
        </p:txBody>
      </p:sp>
      <p:sp>
        <p:nvSpPr>
          <p:cNvPr id="81600390" name="Text 4"/>
          <p:cNvSpPr/>
          <p:nvPr/>
        </p:nvSpPr>
        <p:spPr bwMode="auto">
          <a:xfrm>
            <a:off x="731520" y="1280160"/>
            <a:ext cx="7680960" cy="393192"/>
          </a:xfrm>
          <a:prstGeom prst="rect">
            <a:avLst/>
          </a:prstGeom>
          <a:noFill/>
          <a:ln/>
        </p:spPr>
        <p:txBody>
          <a:bodyPr wrap="square" lIns="0" tIns="0" rIns="0" bIns="0" rtlCol="0" anchor="t">
            <a:spAutoFit/>
          </a:bodyPr>
          <a:lstStyle/>
          <a:p>
            <a:pPr marL="0" indent="0" algn="l">
              <a:buNone/>
              <a:defRPr/>
            </a:pPr>
            <a:r>
              <a:rPr lang="en-US" sz="1600">
                <a:solidFill>
                  <a:srgbClr val="2E3542"/>
                </a:solidFill>
                <a:latin typeface="Arial"/>
                <a:ea typeface="Arial"/>
                <a:cs typeface="Arial"/>
              </a:rPr>
              <a:t>Needed: evaluation texts, expert labels, and the matching gold labels.</a:t>
            </a:r>
            <a:endParaRPr lang="en-US" sz="1600"/>
          </a:p>
        </p:txBody>
      </p:sp>
      <p:sp>
        <p:nvSpPr>
          <p:cNvPr id="2137305316" name="Shape 5"/>
          <p:cNvSpPr/>
          <p:nvPr/>
        </p:nvSpPr>
        <p:spPr bwMode="auto">
          <a:xfrm>
            <a:off x="1014984" y="1956816"/>
            <a:ext cx="0" cy="1938528"/>
          </a:xfrm>
          <a:prstGeom prst="line">
            <a:avLst/>
          </a:prstGeom>
          <a:noFill/>
          <a:ln w="25400">
            <a:solidFill>
              <a:srgbClr val="EDEFF3"/>
            </a:solidFill>
            <a:prstDash val="solid"/>
          </a:ln>
        </p:spPr>
      </p:sp>
      <p:sp>
        <p:nvSpPr>
          <p:cNvPr id="2031695834" name="Shape 6"/>
          <p:cNvSpPr/>
          <p:nvPr/>
        </p:nvSpPr>
        <p:spPr bwMode="auto">
          <a:xfrm>
            <a:off x="795528" y="1847088"/>
            <a:ext cx="438912" cy="438912"/>
          </a:xfrm>
          <a:prstGeom prst="ellipse">
            <a:avLst/>
          </a:prstGeom>
          <a:solidFill>
            <a:srgbClr val="F1F3F6"/>
          </a:solidFill>
          <a:ln w="12700">
            <a:solidFill>
              <a:srgbClr val="EDEFF3"/>
            </a:solidFill>
            <a:prstDash val="solid"/>
          </a:ln>
        </p:spPr>
      </p:sp>
      <p:sp>
        <p:nvSpPr>
          <p:cNvPr id="471428657" name="Text 7"/>
          <p:cNvSpPr/>
          <p:nvPr/>
        </p:nvSpPr>
        <p:spPr bwMode="auto">
          <a:xfrm>
            <a:off x="795528" y="1933955"/>
            <a:ext cx="438912" cy="237744"/>
          </a:xfrm>
          <a:prstGeom prst="rect">
            <a:avLst/>
          </a:prstGeom>
          <a:noFill/>
          <a:ln/>
        </p:spPr>
        <p:txBody>
          <a:bodyPr wrap="square" lIns="0" tIns="0" rIns="0" bIns="0" rtlCol="0" anchor="t">
            <a:spAutoFit/>
          </a:bodyPr>
          <a:lstStyle/>
          <a:p>
            <a:pPr marL="0" indent="0" algn="ctr">
              <a:buNone/>
              <a:defRPr/>
            </a:pPr>
            <a:r>
              <a:rPr lang="en-US" sz="1600" b="1">
                <a:solidFill>
                  <a:srgbClr val="0F82EC"/>
                </a:solidFill>
                <a:latin typeface="Arial"/>
                <a:ea typeface="Arial"/>
                <a:cs typeface="Arial"/>
              </a:rPr>
              <a:t>1</a:t>
            </a:r>
            <a:endParaRPr lang="en-US" sz="1600"/>
          </a:p>
        </p:txBody>
      </p:sp>
      <p:sp>
        <p:nvSpPr>
          <p:cNvPr id="81090246" name="Text 8"/>
          <p:cNvSpPr/>
          <p:nvPr/>
        </p:nvSpPr>
        <p:spPr bwMode="auto">
          <a:xfrm>
            <a:off x="1554480" y="1837944"/>
            <a:ext cx="6858000" cy="301752"/>
          </a:xfrm>
          <a:prstGeom prst="rect">
            <a:avLst/>
          </a:prstGeom>
          <a:noFill/>
          <a:ln/>
        </p:spPr>
        <p:txBody>
          <a:bodyPr wrap="square" lIns="0" tIns="0" rIns="0" bIns="0" rtlCol="0" anchor="t">
            <a:spAutoFit/>
          </a:bodyPr>
          <a:lstStyle/>
          <a:p>
            <a:pPr marL="0" indent="0" algn="l">
              <a:buNone/>
              <a:defRPr/>
            </a:pPr>
            <a:r>
              <a:rPr lang="en-US" sz="1700" b="1">
                <a:solidFill>
                  <a:srgbClr val="2E3542"/>
                </a:solidFill>
                <a:latin typeface="Arial"/>
                <a:ea typeface="Arial"/>
                <a:cs typeface="Arial"/>
              </a:rPr>
              <a:t>Collect expert annotations</a:t>
            </a:r>
            <a:endParaRPr lang="en-US" sz="1700"/>
          </a:p>
        </p:txBody>
      </p:sp>
      <p:sp>
        <p:nvSpPr>
          <p:cNvPr id="1643249090" name="Text 9"/>
          <p:cNvSpPr/>
          <p:nvPr/>
        </p:nvSpPr>
        <p:spPr bwMode="auto">
          <a:xfrm>
            <a:off x="1554480" y="2203704"/>
            <a:ext cx="6858000" cy="347472"/>
          </a:xfrm>
          <a:prstGeom prst="rect">
            <a:avLst/>
          </a:prstGeom>
          <a:noFill/>
          <a:ln/>
        </p:spPr>
        <p:txBody>
          <a:bodyPr wrap="square" lIns="0" tIns="0" rIns="0" bIns="0" rtlCol="0" anchor="t">
            <a:spAutoFit/>
          </a:bodyPr>
          <a:lstStyle/>
          <a:p>
            <a:pPr marL="0" indent="0" algn="l">
              <a:buNone/>
              <a:defRPr/>
            </a:pPr>
            <a:r>
              <a:rPr lang="en-US" sz="1400">
                <a:solidFill>
                  <a:srgbClr val="2E3542"/>
                </a:solidFill>
                <a:latin typeface="Arial"/>
                <a:ea typeface="Arial"/>
                <a:cs typeface="Arial"/>
              </a:rPr>
              <a:t>Ask experts to label NCBI Disease evaluation texts.</a:t>
            </a:r>
            <a:endParaRPr lang="en-US" sz="1400"/>
          </a:p>
        </p:txBody>
      </p:sp>
      <p:sp>
        <p:nvSpPr>
          <p:cNvPr id="2118716010" name="Shape 10"/>
          <p:cNvSpPr/>
          <p:nvPr/>
        </p:nvSpPr>
        <p:spPr bwMode="auto">
          <a:xfrm>
            <a:off x="795528" y="2770632"/>
            <a:ext cx="438912" cy="438912"/>
          </a:xfrm>
          <a:prstGeom prst="ellipse">
            <a:avLst/>
          </a:prstGeom>
          <a:solidFill>
            <a:srgbClr val="F1F3F6"/>
          </a:solidFill>
          <a:ln w="12700">
            <a:solidFill>
              <a:srgbClr val="EDEFF3"/>
            </a:solidFill>
            <a:prstDash val="solid"/>
          </a:ln>
        </p:spPr>
      </p:sp>
      <p:sp>
        <p:nvSpPr>
          <p:cNvPr id="2042414556" name="Text 11"/>
          <p:cNvSpPr/>
          <p:nvPr/>
        </p:nvSpPr>
        <p:spPr bwMode="auto">
          <a:xfrm>
            <a:off x="795528" y="2857500"/>
            <a:ext cx="438912" cy="237744"/>
          </a:xfrm>
          <a:prstGeom prst="rect">
            <a:avLst/>
          </a:prstGeom>
          <a:noFill/>
          <a:ln/>
        </p:spPr>
        <p:txBody>
          <a:bodyPr wrap="square" lIns="0" tIns="0" rIns="0" bIns="0" rtlCol="0" anchor="t">
            <a:spAutoFit/>
          </a:bodyPr>
          <a:lstStyle/>
          <a:p>
            <a:pPr marL="0" indent="0" algn="ctr">
              <a:buNone/>
              <a:defRPr/>
            </a:pPr>
            <a:r>
              <a:rPr lang="en-US" sz="1600" b="1">
                <a:solidFill>
                  <a:srgbClr val="0F82EC"/>
                </a:solidFill>
                <a:latin typeface="Arial"/>
                <a:ea typeface="Arial"/>
                <a:cs typeface="Arial"/>
              </a:rPr>
              <a:t>2</a:t>
            </a:r>
            <a:endParaRPr lang="en-US" sz="1600"/>
          </a:p>
        </p:txBody>
      </p:sp>
      <p:sp>
        <p:nvSpPr>
          <p:cNvPr id="321277873" name="Text 12"/>
          <p:cNvSpPr/>
          <p:nvPr/>
        </p:nvSpPr>
        <p:spPr bwMode="auto">
          <a:xfrm>
            <a:off x="1554480" y="2761488"/>
            <a:ext cx="6858000" cy="301752"/>
          </a:xfrm>
          <a:prstGeom prst="rect">
            <a:avLst/>
          </a:prstGeom>
          <a:noFill/>
          <a:ln/>
        </p:spPr>
        <p:txBody>
          <a:bodyPr wrap="square" lIns="0" tIns="0" rIns="0" bIns="0" rtlCol="0" anchor="t">
            <a:spAutoFit/>
          </a:bodyPr>
          <a:lstStyle/>
          <a:p>
            <a:pPr marL="0" indent="0" algn="l">
              <a:buNone/>
              <a:defRPr/>
            </a:pPr>
            <a:r>
              <a:rPr lang="en-US" sz="1700" b="1">
                <a:solidFill>
                  <a:srgbClr val="2E3542"/>
                </a:solidFill>
                <a:latin typeface="Arial"/>
                <a:ea typeface="Arial"/>
                <a:cs typeface="Arial"/>
              </a:rPr>
              <a:t>Apply the same scoring rule</a:t>
            </a:r>
            <a:endParaRPr lang="en-US" sz="1700"/>
          </a:p>
        </p:txBody>
      </p:sp>
      <p:sp>
        <p:nvSpPr>
          <p:cNvPr id="1119437909" name="Text 13"/>
          <p:cNvSpPr/>
          <p:nvPr/>
        </p:nvSpPr>
        <p:spPr bwMode="auto">
          <a:xfrm>
            <a:off x="1554480" y="3127248"/>
            <a:ext cx="6858000" cy="347472"/>
          </a:xfrm>
          <a:prstGeom prst="rect">
            <a:avLst/>
          </a:prstGeom>
          <a:noFill/>
          <a:ln/>
        </p:spPr>
        <p:txBody>
          <a:bodyPr wrap="square" lIns="0" tIns="0" rIns="0" bIns="0" rtlCol="0" anchor="t">
            <a:spAutoFit/>
          </a:bodyPr>
          <a:lstStyle/>
          <a:p>
            <a:pPr marL="0" indent="0" algn="l">
              <a:buNone/>
              <a:defRPr/>
            </a:pPr>
            <a:r>
              <a:rPr lang="en-US" sz="1400">
                <a:solidFill>
                  <a:srgbClr val="2E3542"/>
                </a:solidFill>
                <a:latin typeface="Arial"/>
                <a:ea typeface="Arial"/>
                <a:cs typeface="Arial"/>
              </a:rPr>
              <a:t>Match the text span and entity type to the same gold labels.</a:t>
            </a:r>
            <a:endParaRPr lang="en-US" sz="1400"/>
          </a:p>
        </p:txBody>
      </p:sp>
      <p:sp>
        <p:nvSpPr>
          <p:cNvPr id="781873173" name="Shape 14"/>
          <p:cNvSpPr/>
          <p:nvPr/>
        </p:nvSpPr>
        <p:spPr bwMode="auto">
          <a:xfrm>
            <a:off x="795528" y="3694176"/>
            <a:ext cx="438912" cy="438912"/>
          </a:xfrm>
          <a:prstGeom prst="ellipse">
            <a:avLst/>
          </a:prstGeom>
          <a:solidFill>
            <a:srgbClr val="F1F3F6"/>
          </a:solidFill>
          <a:ln w="12700">
            <a:solidFill>
              <a:srgbClr val="EDEFF3"/>
            </a:solidFill>
            <a:prstDash val="solid"/>
          </a:ln>
        </p:spPr>
      </p:sp>
      <p:sp>
        <p:nvSpPr>
          <p:cNvPr id="1275369992" name="Text 15"/>
          <p:cNvSpPr/>
          <p:nvPr/>
        </p:nvSpPr>
        <p:spPr bwMode="auto">
          <a:xfrm>
            <a:off x="795528" y="3781044"/>
            <a:ext cx="438912" cy="237744"/>
          </a:xfrm>
          <a:prstGeom prst="rect">
            <a:avLst/>
          </a:prstGeom>
          <a:noFill/>
          <a:ln/>
        </p:spPr>
        <p:txBody>
          <a:bodyPr wrap="square" lIns="0" tIns="0" rIns="0" bIns="0" rtlCol="0" anchor="t">
            <a:spAutoFit/>
          </a:bodyPr>
          <a:lstStyle/>
          <a:p>
            <a:pPr marL="0" indent="0" algn="ctr">
              <a:buNone/>
              <a:defRPr/>
            </a:pPr>
            <a:r>
              <a:rPr lang="en-US" sz="1600" b="1">
                <a:solidFill>
                  <a:srgbClr val="0F82EC"/>
                </a:solidFill>
                <a:latin typeface="Arial"/>
                <a:ea typeface="Arial"/>
                <a:cs typeface="Arial"/>
              </a:rPr>
              <a:t>3</a:t>
            </a:r>
            <a:endParaRPr lang="en-US" sz="1600"/>
          </a:p>
        </p:txBody>
      </p:sp>
      <p:sp>
        <p:nvSpPr>
          <p:cNvPr id="484636324" name="Text 16"/>
          <p:cNvSpPr/>
          <p:nvPr/>
        </p:nvSpPr>
        <p:spPr bwMode="auto">
          <a:xfrm>
            <a:off x="1554480" y="3685032"/>
            <a:ext cx="6858000" cy="301752"/>
          </a:xfrm>
          <a:prstGeom prst="rect">
            <a:avLst/>
          </a:prstGeom>
          <a:noFill/>
          <a:ln/>
        </p:spPr>
        <p:txBody>
          <a:bodyPr wrap="square" lIns="0" tIns="0" rIns="0" bIns="0" rtlCol="0" anchor="t">
            <a:spAutoFit/>
          </a:bodyPr>
          <a:lstStyle/>
          <a:p>
            <a:pPr marL="0" indent="0" algn="l">
              <a:buNone/>
              <a:defRPr/>
            </a:pPr>
            <a:r>
              <a:rPr lang="en-US" sz="1700" b="1">
                <a:solidFill>
                  <a:srgbClr val="2E3542"/>
                </a:solidFill>
                <a:latin typeface="Arial"/>
                <a:ea typeface="Arial"/>
                <a:cs typeface="Arial"/>
              </a:rPr>
              <a:t>Compare on the same texts</a:t>
            </a:r>
            <a:endParaRPr lang="en-US" sz="1700"/>
          </a:p>
        </p:txBody>
      </p:sp>
      <p:sp>
        <p:nvSpPr>
          <p:cNvPr id="954689903" name="Text 17"/>
          <p:cNvSpPr/>
          <p:nvPr/>
        </p:nvSpPr>
        <p:spPr bwMode="auto">
          <a:xfrm>
            <a:off x="1554480" y="4050792"/>
            <a:ext cx="6858000" cy="347472"/>
          </a:xfrm>
          <a:prstGeom prst="rect">
            <a:avLst/>
          </a:prstGeom>
          <a:noFill/>
          <a:ln/>
        </p:spPr>
        <p:txBody>
          <a:bodyPr wrap="square" lIns="0" tIns="0" rIns="0" bIns="0" rtlCol="0" anchor="t">
            <a:spAutoFit/>
          </a:bodyPr>
          <a:lstStyle/>
          <a:p>
            <a:pPr marL="0" indent="0" algn="l">
              <a:buNone/>
              <a:defRPr/>
            </a:pPr>
            <a:r>
              <a:rPr lang="en-US" sz="1400">
                <a:solidFill>
                  <a:srgbClr val="2E3542"/>
                </a:solidFill>
                <a:latin typeface="Arial"/>
                <a:ea typeface="Arial"/>
                <a:cs typeface="Arial"/>
              </a:rPr>
              <a:t>Report expert F1 and LLM F1 for that set of texts.</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FFFFFF"/>
        </a:solidFill>
      </p:bgPr>
    </p:bg>
    <p:spTree>
      <p:nvGrpSpPr>
        <p:cNvPr id="1" name=""/>
        <p:cNvGrpSpPr/>
        <p:nvPr/>
      </p:nvGrpSpPr>
      <p:grpSpPr bwMode="auto">
        <a:xfrm>
          <a:off x="0" y="0"/>
          <a:ext cx="0" cy="0"/>
          <a:chOff x="0" y="0"/>
          <a:chExt cx="0" cy="0"/>
        </a:xfrm>
      </p:grpSpPr>
      <p:sp>
        <p:nvSpPr>
          <p:cNvPr id="465732884" name="Text 0"/>
          <p:cNvSpPr/>
          <p:nvPr/>
        </p:nvSpPr>
        <p:spPr bwMode="auto">
          <a:xfrm>
            <a:off x="731520" y="320040"/>
            <a:ext cx="6400800" cy="274320"/>
          </a:xfrm>
          <a:prstGeom prst="rect">
            <a:avLst/>
          </a:prstGeom>
          <a:noFill/>
          <a:ln/>
        </p:spPr>
        <p:txBody>
          <a:bodyPr wrap="square" lIns="0" tIns="0" rIns="0" bIns="0" rtlCol="0" anchor="t">
            <a:spAutoFit/>
          </a:bodyPr>
          <a:lstStyle/>
          <a:p>
            <a:pPr marL="0" indent="0" algn="l">
              <a:buNone/>
              <a:defRPr/>
            </a:pPr>
            <a:r>
              <a:rPr lang="en-US" sz="900" spc="400">
                <a:solidFill>
                  <a:srgbClr val="8D94A1"/>
                </a:solidFill>
                <a:latin typeface="Arial"/>
                <a:ea typeface="Arial"/>
                <a:cs typeface="Arial"/>
              </a:rPr>
              <a:t>01  HUMAN BENCHMARK</a:t>
            </a:r>
            <a:endParaRPr lang="en-US" sz="900"/>
          </a:p>
        </p:txBody>
      </p:sp>
      <p:sp>
        <p:nvSpPr>
          <p:cNvPr id="292878561" name="Text 1"/>
          <p:cNvSpPr/>
          <p:nvPr/>
        </p:nvSpPr>
        <p:spPr bwMode="auto">
          <a:xfrm>
            <a:off x="731520" y="685800"/>
            <a:ext cx="7680960" cy="457200"/>
          </a:xfrm>
          <a:prstGeom prst="rect">
            <a:avLst/>
          </a:prstGeom>
          <a:noFill/>
          <a:ln/>
        </p:spPr>
        <p:txBody>
          <a:bodyPr wrap="square" lIns="0" tIns="0" rIns="0" bIns="0" rtlCol="0" anchor="t">
            <a:spAutoFit/>
          </a:bodyPr>
          <a:lstStyle/>
          <a:p>
            <a:pPr marL="0" indent="0" algn="l">
              <a:buNone/>
              <a:defRPr/>
            </a:pPr>
            <a:r>
              <a:rPr lang="en-US" sz="2400" b="1" spc="-40">
                <a:solidFill>
                  <a:srgbClr val="2E3542"/>
                </a:solidFill>
                <a:latin typeface="Arial"/>
                <a:ea typeface="Arial"/>
                <a:cs typeface="Arial"/>
              </a:rPr>
              <a:t>Research goal and next step</a:t>
            </a:r>
            <a:endParaRPr lang="en-US" sz="2400"/>
          </a:p>
        </p:txBody>
      </p:sp>
      <p:sp>
        <p:nvSpPr>
          <p:cNvPr id="1795867167" name="Text 2"/>
          <p:cNvSpPr/>
          <p:nvPr/>
        </p:nvSpPr>
        <p:spPr bwMode="auto">
          <a:xfrm>
            <a:off x="731520" y="4645152"/>
            <a:ext cx="7360920" cy="274320"/>
          </a:xfrm>
          <a:prstGeom prst="rect">
            <a:avLst/>
          </a:prstGeom>
          <a:noFill/>
          <a:ln/>
        </p:spPr>
        <p:txBody>
          <a:bodyPr wrap="square" lIns="0" tIns="0" rIns="0" bIns="0" rtlCol="0" anchor="ctr">
            <a:spAutoFit/>
          </a:bodyPr>
          <a:lstStyle/>
          <a:p>
            <a:pPr marL="0" indent="0" algn="l">
              <a:buNone/>
              <a:defRPr/>
            </a:pPr>
            <a:r>
              <a:rPr lang="en-US" sz="850">
                <a:solidFill>
                  <a:srgbClr val="8D94A1"/>
                </a:solidFill>
                <a:latin typeface="Arial"/>
                <a:ea typeface="Arial"/>
                <a:cs typeface="Arial"/>
              </a:rPr>
              <a:t>NCBI Disease | Expert annotation benchmark</a:t>
            </a:r>
            <a:endParaRPr lang="en-US" sz="850"/>
          </a:p>
        </p:txBody>
      </p:sp>
      <p:sp>
        <p:nvSpPr>
          <p:cNvPr id="1885018534" name="Text 3"/>
          <p:cNvSpPr/>
          <p:nvPr/>
        </p:nvSpPr>
        <p:spPr bwMode="auto">
          <a:xfrm>
            <a:off x="8412480" y="4645152"/>
            <a:ext cx="457200" cy="274320"/>
          </a:xfrm>
          <a:prstGeom prst="rect">
            <a:avLst/>
          </a:prstGeom>
          <a:noFill/>
          <a:ln/>
        </p:spPr>
        <p:txBody>
          <a:bodyPr wrap="square" lIns="0" tIns="0" rIns="0" bIns="0" rtlCol="0" anchor="ctr">
            <a:spAutoFit/>
          </a:bodyPr>
          <a:lstStyle/>
          <a:p>
            <a:pPr marL="0" indent="0" algn="r">
              <a:buNone/>
              <a:defRPr/>
            </a:pPr>
            <a:r>
              <a:rPr lang="en-US" sz="900">
                <a:solidFill>
                  <a:srgbClr val="8D94A1"/>
                </a:solidFill>
                <a:latin typeface="Arial"/>
                <a:ea typeface="Arial"/>
                <a:cs typeface="Arial"/>
              </a:rPr>
              <a:t>07</a:t>
            </a:r>
            <a:endParaRPr lang="en-US" sz="900"/>
          </a:p>
        </p:txBody>
      </p:sp>
      <p:sp>
        <p:nvSpPr>
          <p:cNvPr id="916367942" name="Text 4"/>
          <p:cNvSpPr/>
          <p:nvPr/>
        </p:nvSpPr>
        <p:spPr bwMode="auto">
          <a:xfrm>
            <a:off x="731520" y="1307592"/>
            <a:ext cx="7680960" cy="841248"/>
          </a:xfrm>
          <a:prstGeom prst="rect">
            <a:avLst/>
          </a:prstGeom>
          <a:noFill/>
          <a:ln/>
        </p:spPr>
        <p:txBody>
          <a:bodyPr wrap="square" lIns="0" tIns="0" rIns="0" bIns="0" rtlCol="0" anchor="t">
            <a:spAutoFit/>
          </a:bodyPr>
          <a:lstStyle/>
          <a:p>
            <a:pPr marL="0" indent="0" algn="l">
              <a:lnSpc>
                <a:spcPts val="2700"/>
              </a:lnSpc>
              <a:buNone/>
              <a:defRPr/>
            </a:pPr>
            <a:r>
              <a:rPr lang="en-US" sz="1800">
                <a:solidFill>
                  <a:srgbClr val="2E3542"/>
                </a:solidFill>
                <a:latin typeface="Arial"/>
                <a:ea typeface="Arial"/>
                <a:cs typeface="Arial"/>
              </a:rPr>
              <a:t>Improve guidelines to approach SOTA and explore whether LLMs can replace manual annotation or reach expert quality with human input.</a:t>
            </a:r>
            <a:endParaRPr lang="en-US" sz="1800"/>
          </a:p>
        </p:txBody>
      </p:sp>
      <p:sp>
        <p:nvSpPr>
          <p:cNvPr id="309523778" name="Shape 5"/>
          <p:cNvSpPr/>
          <p:nvPr/>
        </p:nvSpPr>
        <p:spPr bwMode="auto">
          <a:xfrm>
            <a:off x="731520" y="2423160"/>
            <a:ext cx="3675888" cy="1124712"/>
          </a:xfrm>
          <a:prstGeom prst="rect">
            <a:avLst/>
          </a:prstGeom>
          <a:solidFill>
            <a:srgbClr val="F1F3F6"/>
          </a:solidFill>
          <a:ln w="6350">
            <a:solidFill>
              <a:srgbClr val="F1F3F6"/>
            </a:solidFill>
            <a:prstDash val="solid"/>
          </a:ln>
        </p:spPr>
      </p:sp>
      <p:pic>
        <p:nvPicPr>
          <p:cNvPr id="1797497104" name="Image 0" descr="preencoded.png"/>
          <p:cNvPicPr>
            <a:picLocks noChangeAspect="1"/>
          </p:cNvPicPr>
          <p:nvPr/>
        </p:nvPicPr>
        <p:blipFill rotWithShape="1">
          <a:blip r:embed="rId3"/>
          <a:stretch/>
        </p:blipFill>
        <p:spPr bwMode="auto">
          <a:xfrm>
            <a:off x="932688" y="2633472"/>
            <a:ext cx="301752" cy="301752"/>
          </a:xfrm>
          <a:prstGeom prst="rect">
            <a:avLst/>
          </a:prstGeom>
        </p:spPr>
      </p:pic>
      <p:sp>
        <p:nvSpPr>
          <p:cNvPr id="619616025" name="Text 6"/>
          <p:cNvSpPr/>
          <p:nvPr/>
        </p:nvSpPr>
        <p:spPr bwMode="auto">
          <a:xfrm>
            <a:off x="1417320" y="2615184"/>
            <a:ext cx="2734056" cy="283464"/>
          </a:xfrm>
          <a:prstGeom prst="rect">
            <a:avLst/>
          </a:prstGeom>
          <a:noFill/>
          <a:ln/>
        </p:spPr>
        <p:txBody>
          <a:bodyPr wrap="square" lIns="0" tIns="0" rIns="0" bIns="0" rtlCol="0" anchor="t">
            <a:spAutoFit/>
          </a:bodyPr>
          <a:lstStyle/>
          <a:p>
            <a:pPr marL="0" indent="0" algn="l">
              <a:buNone/>
              <a:defRPr/>
            </a:pPr>
            <a:r>
              <a:rPr lang="en-US" sz="1600" b="1">
                <a:solidFill>
                  <a:srgbClr val="2E3542"/>
                </a:solidFill>
                <a:latin typeface="Arial"/>
                <a:ea typeface="Arial"/>
                <a:cs typeface="Arial"/>
              </a:rPr>
              <a:t>SOTA reference</a:t>
            </a:r>
            <a:endParaRPr lang="en-US" sz="1600"/>
          </a:p>
        </p:txBody>
      </p:sp>
      <p:sp>
        <p:nvSpPr>
          <p:cNvPr id="1640196520" name="Text 7"/>
          <p:cNvSpPr/>
          <p:nvPr/>
        </p:nvSpPr>
        <p:spPr bwMode="auto">
          <a:xfrm>
            <a:off x="932688" y="2999232"/>
            <a:ext cx="3236976" cy="237744"/>
          </a:xfrm>
          <a:prstGeom prst="rect">
            <a:avLst/>
          </a:prstGeom>
          <a:noFill/>
          <a:ln/>
        </p:spPr>
        <p:txBody>
          <a:bodyPr wrap="square" lIns="0" tIns="0" rIns="0" bIns="0" rtlCol="0" anchor="t">
            <a:spAutoFit/>
          </a:bodyPr>
          <a:lstStyle/>
          <a:p>
            <a:pPr marL="0" indent="0" algn="l">
              <a:buNone/>
              <a:defRPr/>
            </a:pPr>
            <a:r>
              <a:rPr lang="en-US" sz="1400">
                <a:solidFill>
                  <a:srgbClr val="2E3542"/>
                </a:solidFill>
                <a:latin typeface="Arial"/>
                <a:ea typeface="Arial"/>
                <a:cs typeface="Arial"/>
              </a:rPr>
              <a:t>BioBERT on NCBI Disease</a:t>
            </a:r>
            <a:endParaRPr lang="en-US" sz="1400"/>
          </a:p>
        </p:txBody>
      </p:sp>
      <p:sp>
        <p:nvSpPr>
          <p:cNvPr id="358843136" name="Text 8"/>
          <p:cNvSpPr/>
          <p:nvPr/>
        </p:nvSpPr>
        <p:spPr bwMode="auto">
          <a:xfrm>
            <a:off x="932688" y="3282696"/>
            <a:ext cx="3236976" cy="246888"/>
          </a:xfrm>
          <a:prstGeom prst="rect">
            <a:avLst/>
          </a:prstGeom>
          <a:noFill/>
          <a:ln/>
        </p:spPr>
        <p:txBody>
          <a:bodyPr wrap="square" lIns="0" tIns="0" rIns="0" bIns="0" rtlCol="0" anchor="t">
            <a:spAutoFit/>
          </a:bodyPr>
          <a:lstStyle/>
          <a:p>
            <a:pPr marL="0" indent="0" algn="l">
              <a:buNone/>
              <a:defRPr/>
            </a:pPr>
            <a:r>
              <a:rPr lang="en-US" sz="1700" b="1">
                <a:solidFill>
                  <a:srgbClr val="0F82EC"/>
                </a:solidFill>
                <a:latin typeface="Arial"/>
                <a:ea typeface="Arial"/>
                <a:cs typeface="Arial"/>
              </a:rPr>
              <a:t>F1 = 0.86</a:t>
            </a:r>
            <a:endParaRPr lang="en-US" sz="1700"/>
          </a:p>
        </p:txBody>
      </p:sp>
      <p:sp>
        <p:nvSpPr>
          <p:cNvPr id="418137674" name="Shape 9"/>
          <p:cNvSpPr/>
          <p:nvPr/>
        </p:nvSpPr>
        <p:spPr bwMode="auto">
          <a:xfrm>
            <a:off x="4617720" y="2423160"/>
            <a:ext cx="3794760" cy="1124712"/>
          </a:xfrm>
          <a:prstGeom prst="rect">
            <a:avLst/>
          </a:prstGeom>
          <a:solidFill>
            <a:srgbClr val="F1F3F6"/>
          </a:solidFill>
          <a:ln w="6350">
            <a:solidFill>
              <a:srgbClr val="F1F3F6"/>
            </a:solidFill>
            <a:prstDash val="solid"/>
          </a:ln>
        </p:spPr>
      </p:sp>
      <p:pic>
        <p:nvPicPr>
          <p:cNvPr id="1865912583" name="Image 1" descr="preencoded.png"/>
          <p:cNvPicPr>
            <a:picLocks noChangeAspect="1"/>
          </p:cNvPicPr>
          <p:nvPr/>
        </p:nvPicPr>
        <p:blipFill rotWithShape="1">
          <a:blip r:embed="rId4"/>
          <a:stretch/>
        </p:blipFill>
        <p:spPr bwMode="auto">
          <a:xfrm>
            <a:off x="4818888" y="2633472"/>
            <a:ext cx="301752" cy="301752"/>
          </a:xfrm>
          <a:prstGeom prst="rect">
            <a:avLst/>
          </a:prstGeom>
        </p:spPr>
      </p:pic>
      <p:sp>
        <p:nvSpPr>
          <p:cNvPr id="851605847" name="Text 10"/>
          <p:cNvSpPr/>
          <p:nvPr/>
        </p:nvSpPr>
        <p:spPr bwMode="auto">
          <a:xfrm>
            <a:off x="5303520" y="2615184"/>
            <a:ext cx="2852928" cy="283464"/>
          </a:xfrm>
          <a:prstGeom prst="rect">
            <a:avLst/>
          </a:prstGeom>
          <a:noFill/>
          <a:ln/>
        </p:spPr>
        <p:txBody>
          <a:bodyPr wrap="square" lIns="0" tIns="0" rIns="0" bIns="0" rtlCol="0" anchor="t">
            <a:spAutoFit/>
          </a:bodyPr>
          <a:lstStyle/>
          <a:p>
            <a:pPr marL="0" indent="0" algn="l">
              <a:buNone/>
              <a:defRPr/>
            </a:pPr>
            <a:r>
              <a:rPr lang="en-US" sz="1600" b="1">
                <a:solidFill>
                  <a:srgbClr val="2E3542"/>
                </a:solidFill>
                <a:latin typeface="Arial"/>
                <a:ea typeface="Arial"/>
                <a:cs typeface="Arial"/>
              </a:rPr>
              <a:t>Human benchmark</a:t>
            </a:r>
            <a:endParaRPr lang="en-US" sz="1600"/>
          </a:p>
        </p:txBody>
      </p:sp>
      <p:sp>
        <p:nvSpPr>
          <p:cNvPr id="223143759" name="Text 11"/>
          <p:cNvSpPr/>
          <p:nvPr/>
        </p:nvSpPr>
        <p:spPr bwMode="auto">
          <a:xfrm>
            <a:off x="4818888" y="2999232"/>
            <a:ext cx="3355848" cy="246888"/>
          </a:xfrm>
          <a:prstGeom prst="rect">
            <a:avLst/>
          </a:prstGeom>
          <a:noFill/>
          <a:ln/>
        </p:spPr>
        <p:txBody>
          <a:bodyPr wrap="square" lIns="0" tIns="0" rIns="0" bIns="0" rtlCol="0" anchor="t">
            <a:spAutoFit/>
          </a:bodyPr>
          <a:lstStyle/>
          <a:p>
            <a:pPr marL="0" indent="0" algn="l">
              <a:buNone/>
              <a:defRPr/>
            </a:pPr>
            <a:r>
              <a:rPr lang="en-US" sz="1400">
                <a:solidFill>
                  <a:srgbClr val="2E3542"/>
                </a:solidFill>
                <a:latin typeface="Arial"/>
                <a:ea typeface="Arial"/>
                <a:cs typeface="Arial"/>
              </a:rPr>
              <a:t>Expert F1 against the same gold</a:t>
            </a:r>
            <a:endParaRPr lang="en-US" sz="1400"/>
          </a:p>
        </p:txBody>
      </p:sp>
      <p:sp>
        <p:nvSpPr>
          <p:cNvPr id="661529282" name="Text 12"/>
          <p:cNvSpPr/>
          <p:nvPr/>
        </p:nvSpPr>
        <p:spPr bwMode="auto">
          <a:xfrm>
            <a:off x="4818888" y="3282696"/>
            <a:ext cx="3355848" cy="246888"/>
          </a:xfrm>
          <a:prstGeom prst="rect">
            <a:avLst/>
          </a:prstGeom>
          <a:noFill/>
          <a:ln/>
        </p:spPr>
        <p:txBody>
          <a:bodyPr wrap="square" lIns="0" tIns="0" rIns="0" bIns="0" rtlCol="0" anchor="t">
            <a:spAutoFit/>
          </a:bodyPr>
          <a:lstStyle/>
          <a:p>
            <a:pPr marL="0" indent="0" algn="l">
              <a:buNone/>
              <a:defRPr/>
            </a:pPr>
            <a:r>
              <a:rPr lang="en-US" sz="1400" b="1">
                <a:solidFill>
                  <a:srgbClr val="0F82EC"/>
                </a:solidFill>
                <a:latin typeface="Arial"/>
                <a:ea typeface="Arial"/>
                <a:cs typeface="Arial"/>
              </a:rPr>
              <a:t>Still needs to be measured</a:t>
            </a:r>
            <a:endParaRPr lang="en-US" sz="1400"/>
          </a:p>
        </p:txBody>
      </p:sp>
      <p:sp>
        <p:nvSpPr>
          <p:cNvPr id="1848335431" name="Shape 13"/>
          <p:cNvSpPr/>
          <p:nvPr/>
        </p:nvSpPr>
        <p:spPr bwMode="auto">
          <a:xfrm>
            <a:off x="731520" y="3877056"/>
            <a:ext cx="7680960" cy="576072"/>
          </a:xfrm>
          <a:prstGeom prst="rect">
            <a:avLst/>
          </a:prstGeom>
          <a:solidFill>
            <a:srgbClr val="0F82EC">
              <a:alpha val="6000"/>
            </a:srgbClr>
          </a:solidFill>
          <a:ln w="12700">
            <a:solidFill>
              <a:srgbClr val="0F82EC">
                <a:alpha val="0"/>
              </a:srgbClr>
            </a:solidFill>
            <a:prstDash val="solid"/>
          </a:ln>
        </p:spPr>
      </p:sp>
      <p:pic>
        <p:nvPicPr>
          <p:cNvPr id="1275683615" name="Image 2" descr="preencoded.png"/>
          <p:cNvPicPr>
            <a:picLocks noChangeAspect="1"/>
          </p:cNvPicPr>
          <p:nvPr/>
        </p:nvPicPr>
        <p:blipFill rotWithShape="1">
          <a:blip r:embed="rId5"/>
          <a:stretch/>
        </p:blipFill>
        <p:spPr bwMode="auto">
          <a:xfrm>
            <a:off x="932688" y="4041648"/>
            <a:ext cx="246888" cy="246888"/>
          </a:xfrm>
          <a:prstGeom prst="rect">
            <a:avLst/>
          </a:prstGeom>
        </p:spPr>
      </p:pic>
      <p:sp>
        <p:nvSpPr>
          <p:cNvPr id="1504077941" name="Text 14"/>
          <p:cNvSpPr/>
          <p:nvPr/>
        </p:nvSpPr>
        <p:spPr bwMode="auto">
          <a:xfrm>
            <a:off x="1371600" y="4032504"/>
            <a:ext cx="6819119" cy="221339"/>
          </a:xfrm>
          <a:prstGeom prst="rect">
            <a:avLst/>
          </a:prstGeom>
          <a:noFill/>
          <a:ln/>
        </p:spPr>
        <p:txBody>
          <a:bodyPr wrap="square" lIns="0" tIns="0" rIns="0" bIns="0" rtlCol="0" anchor="t">
            <a:spAutoFit/>
          </a:bodyPr>
          <a:lstStyle/>
          <a:p>
            <a:pPr marL="0" indent="0" algn="l">
              <a:buNone/>
              <a:defRPr/>
            </a:pPr>
            <a:r>
              <a:rPr lang="en-US" sz="1450" b="1">
                <a:solidFill>
                  <a:srgbClr val="2E3542"/>
                </a:solidFill>
                <a:latin typeface="Arial"/>
                <a:ea typeface="Arial"/>
                <a:cs typeface="Arial"/>
              </a:rPr>
              <a:t>Next step: </a:t>
            </a:r>
            <a:r>
              <a:rPr lang="zh-CN" sz="1450" b="1">
                <a:solidFill>
                  <a:srgbClr val="2E3542"/>
                </a:solidFill>
                <a:latin typeface="Arial"/>
                <a:ea typeface="Arial"/>
                <a:cs typeface="Arial"/>
              </a:rPr>
              <a:t>Approach SOTA</a:t>
            </a:r>
            <a:r>
              <a:rPr lang="en-US" sz="1450" b="1">
                <a:solidFill>
                  <a:srgbClr val="2E3542"/>
                </a:solidFill>
                <a:latin typeface="Arial"/>
                <a:ea typeface="Arial"/>
                <a:cs typeface="Arial"/>
              </a:rPr>
              <a:t>.</a:t>
            </a:r>
            <a:endParaRPr lang="en-US" sz="14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FFFFFF"/>
        </a:solidFill>
      </p:bgPr>
    </p:bg>
    <p:spTree>
      <p:nvGrpSpPr>
        <p:cNvPr id="1" name=""/>
        <p:cNvGrpSpPr/>
        <p:nvPr/>
      </p:nvGrpSpPr>
      <p:grpSpPr bwMode="auto">
        <a:xfrm>
          <a:off x="0" y="0"/>
          <a:ext cx="0" cy="0"/>
          <a:chOff x="0" y="0"/>
          <a:chExt cx="0" cy="0"/>
        </a:xfrm>
      </p:grpSpPr>
      <p:sp>
        <p:nvSpPr>
          <p:cNvPr id="852225301" name="Text 0"/>
          <p:cNvSpPr/>
          <p:nvPr/>
        </p:nvSpPr>
        <p:spPr bwMode="auto">
          <a:xfrm>
            <a:off x="731520" y="320040"/>
            <a:ext cx="7680960" cy="228600"/>
          </a:xfrm>
          <a:prstGeom prst="rect">
            <a:avLst/>
          </a:prstGeom>
          <a:noFill/>
          <a:ln/>
        </p:spPr>
        <p:txBody>
          <a:bodyPr wrap="square" lIns="0" tIns="0" rIns="0" bIns="0" rtlCol="0" anchor="ctr"/>
          <a:lstStyle/>
          <a:p>
            <a:pPr marL="0" indent="0" algn="l">
              <a:buNone/>
              <a:defRPr/>
            </a:pPr>
            <a:r>
              <a:rPr lang="en-US" sz="900" spc="299">
                <a:solidFill>
                  <a:srgbClr val="8D94A1"/>
                </a:solidFill>
                <a:latin typeface="Arial"/>
                <a:ea typeface="Arial"/>
                <a:cs typeface="Arial"/>
              </a:rPr>
              <a:t>HUMAN ANNOTATION</a:t>
            </a:r>
            <a:endParaRPr lang="en-US" sz="900"/>
          </a:p>
        </p:txBody>
      </p:sp>
      <p:sp>
        <p:nvSpPr>
          <p:cNvPr id="15690255" name="Text 1"/>
          <p:cNvSpPr/>
          <p:nvPr/>
        </p:nvSpPr>
        <p:spPr bwMode="auto">
          <a:xfrm>
            <a:off x="731520" y="685800"/>
            <a:ext cx="7680960" cy="457200"/>
          </a:xfrm>
          <a:prstGeom prst="rect">
            <a:avLst/>
          </a:prstGeom>
          <a:noFill/>
          <a:ln/>
        </p:spPr>
        <p:txBody>
          <a:bodyPr wrap="square" lIns="0" tIns="0" rIns="0" bIns="0" rtlCol="0" anchor="ctr"/>
          <a:lstStyle/>
          <a:p>
            <a:pPr marL="0" indent="0" algn="l">
              <a:buNone/>
              <a:defRPr/>
            </a:pPr>
            <a:r>
              <a:rPr lang="en-US" sz="2400" b="1" spc="-38">
                <a:solidFill>
                  <a:srgbClr val="2E3542"/>
                </a:solidFill>
                <a:latin typeface="Arial"/>
                <a:ea typeface="Arial"/>
                <a:cs typeface="Arial"/>
              </a:rPr>
              <a:t>Appendix</a:t>
            </a:r>
            <a:endParaRPr lang="en-US" sz="2400"/>
          </a:p>
        </p:txBody>
      </p:sp>
      <p:sp>
        <p:nvSpPr>
          <p:cNvPr id="1675599855" name="Text 2"/>
          <p:cNvSpPr/>
          <p:nvPr/>
        </p:nvSpPr>
        <p:spPr bwMode="auto">
          <a:xfrm>
            <a:off x="731520" y="1243583"/>
            <a:ext cx="7680960" cy="292608"/>
          </a:xfrm>
          <a:prstGeom prst="rect">
            <a:avLst/>
          </a:prstGeom>
          <a:noFill/>
          <a:ln/>
        </p:spPr>
        <p:txBody>
          <a:bodyPr wrap="square" lIns="0" tIns="0" rIns="0" bIns="0" rtlCol="0" anchor="ctr">
            <a:spAutoFit/>
          </a:bodyPr>
          <a:lstStyle/>
          <a:p>
            <a:pPr marL="0" indent="0" algn="l">
              <a:buNone/>
              <a:defRPr/>
            </a:pPr>
            <a:r>
              <a:rPr lang="en-US" sz="1500">
                <a:solidFill>
                  <a:srgbClr val="2E3542"/>
                </a:solidFill>
                <a:latin typeface="Arial"/>
                <a:ea typeface="Arial"/>
                <a:cs typeface="Arial"/>
              </a:rPr>
              <a:t>Published human agreement results for the three datasets</a:t>
            </a:r>
            <a:endParaRPr lang="en-US" sz="1500"/>
          </a:p>
        </p:txBody>
      </p:sp>
      <p:graphicFrame>
        <p:nvGraphicFramePr>
          <p:cNvPr id="2145792451" name="Table 0"/>
          <p:cNvGraphicFramePr>
            <a:graphicFrameLocks xmlns:a="http://schemas.openxmlformats.org/drawingml/2006/main"/>
          </p:cNvGraphicFramePr>
          <p:nvPr/>
        </p:nvGraphicFramePr>
        <p:xfrm rot="0">
          <a:off x="731520" y="1773936"/>
          <a:ext cx="7680960" cy="1755648"/>
        </p:xfrm>
        <a:graphic>
          <a:graphicData uri="http://schemas.openxmlformats.org/drawingml/2006/table">
            <a:tbl>
              <a:tblPr firstRow="0" firstCol="0" lastRow="0" lastCol="0" bandRow="0" bandCol="0"/>
              <a:tblGrid>
                <a:gridCol w="1874520"/>
                <a:gridCol w="5806440"/>
              </a:tblGrid>
              <a:tr h="438912">
                <a:tc>
                  <a:txBody>
                    <a:bodyPr/>
                    <a:p>
                      <a:pPr marL="0" indent="0" algn="l">
                        <a:buNone/>
                        <a:defRPr/>
                      </a:pPr>
                      <a:r>
                        <a:rPr lang="en-US" sz="1300" b="1">
                          <a:solidFill>
                            <a:srgbClr val="2E3542"/>
                          </a:solidFill>
                          <a:latin typeface="Arial"/>
                          <a:ea typeface="Arial"/>
                          <a:cs typeface="Arial"/>
                        </a:rPr>
                        <a:t>Dataset</a:t>
                      </a:r>
                      <a:endParaRPr lang="en-US" sz="1300">
                        <a:latin typeface="Arial"/>
                        <a:ea typeface="Arial"/>
                        <a:cs typeface="Arial"/>
                      </a:endParaRPr>
                    </a:p>
                  </a:txBody>
                  <a:tcPr marL="126999" marR="126999" marT="76199" marB="76199" anchor="ctr">
                    <a:lnL w="8889" algn="ctr">
                      <a:solidFill>
                        <a:srgbClr val="EDEFF3"/>
                      </a:solidFill>
                    </a:lnL>
                    <a:lnR w="8889" algn="ctr">
                      <a:solidFill>
                        <a:srgbClr val="EDEFF3"/>
                      </a:solidFill>
                    </a:lnR>
                    <a:lnT w="8889" algn="ctr">
                      <a:solidFill>
                        <a:srgbClr val="EDEFF3"/>
                      </a:solidFill>
                    </a:lnT>
                    <a:lnB w="8889" algn="ctr">
                      <a:solidFill>
                        <a:srgbClr val="EDEFF3"/>
                      </a:solidFill>
                    </a:lnB>
                    <a:solidFill>
                      <a:srgbClr val="F1F3F6"/>
                    </a:solidFill>
                  </a:tcPr>
                </a:tc>
                <a:tc>
                  <a:txBody>
                    <a:bodyPr/>
                    <a:p>
                      <a:pPr marL="0" indent="0" algn="l">
                        <a:buNone/>
                        <a:defRPr/>
                      </a:pPr>
                      <a:r>
                        <a:rPr lang="en-US" sz="1300" b="1">
                          <a:solidFill>
                            <a:srgbClr val="2E3542"/>
                          </a:solidFill>
                          <a:latin typeface="Arial"/>
                          <a:ea typeface="Arial"/>
                          <a:cs typeface="Arial"/>
                        </a:rPr>
                        <a:t>Reported agreement between human annotators</a:t>
                      </a:r>
                      <a:endParaRPr lang="en-US" sz="1300">
                        <a:latin typeface="Arial"/>
                        <a:ea typeface="Arial"/>
                        <a:cs typeface="Arial"/>
                      </a:endParaRPr>
                    </a:p>
                  </a:txBody>
                  <a:tcPr marL="126999" marR="126999" marT="76199" marB="76199" anchor="ctr">
                    <a:lnL w="8889" algn="ctr">
                      <a:solidFill>
                        <a:srgbClr val="EDEFF3"/>
                      </a:solidFill>
                    </a:lnL>
                    <a:lnR w="8889" algn="ctr">
                      <a:solidFill>
                        <a:srgbClr val="EDEFF3"/>
                      </a:solidFill>
                    </a:lnR>
                    <a:lnT w="8889" algn="ctr">
                      <a:solidFill>
                        <a:srgbClr val="EDEFF3"/>
                      </a:solidFill>
                    </a:lnT>
                    <a:lnB w="8889" algn="ctr">
                      <a:solidFill>
                        <a:srgbClr val="EDEFF3"/>
                      </a:solidFill>
                    </a:lnB>
                    <a:solidFill>
                      <a:srgbClr val="F1F3F6"/>
                    </a:solidFill>
                  </a:tcPr>
                </a:tc>
              </a:tr>
              <a:tr h="438912">
                <a:tc>
                  <a:txBody>
                    <a:bodyPr/>
                    <a:p>
                      <a:pPr marL="0" indent="0" algn="l">
                        <a:buNone/>
                        <a:defRPr/>
                      </a:pPr>
                      <a:r>
                        <a:rPr lang="en-US" sz="1400" b="1">
                          <a:solidFill>
                            <a:srgbClr val="2E3542"/>
                          </a:solidFill>
                          <a:latin typeface="Arial"/>
                          <a:ea typeface="Arial"/>
                          <a:cs typeface="Arial"/>
                        </a:rPr>
                        <a:t>NCBI Disease</a:t>
                      </a:r>
                      <a:endParaRPr lang="en-US" sz="1400">
                        <a:latin typeface="Arial"/>
                        <a:ea typeface="Arial"/>
                        <a:cs typeface="Arial"/>
                      </a:endParaRPr>
                    </a:p>
                  </a:txBody>
                  <a:tcPr marL="126999" marR="126999" marT="76199" marB="76199" anchor="ctr">
                    <a:lnL w="8889" algn="ctr">
                      <a:solidFill>
                        <a:srgbClr val="EDEFF3"/>
                      </a:solidFill>
                    </a:lnL>
                    <a:lnR w="8889" algn="ctr">
                      <a:solidFill>
                        <a:srgbClr val="EDEFF3"/>
                      </a:solidFill>
                    </a:lnR>
                    <a:lnT w="8889" algn="ctr">
                      <a:solidFill>
                        <a:srgbClr val="EDEFF3"/>
                      </a:solidFill>
                    </a:lnT>
                    <a:lnB w="8889" algn="ctr">
                      <a:solidFill>
                        <a:srgbClr val="EDEFF3"/>
                      </a:solidFill>
                    </a:lnB>
                    <a:solidFill>
                      <a:srgbClr val="FFFFFF"/>
                    </a:solidFill>
                  </a:tcPr>
                </a:tc>
                <a:tc>
                  <a:txBody>
                    <a:bodyPr/>
                    <a:p>
                      <a:pPr marL="0" indent="0" algn="l">
                        <a:buNone/>
                        <a:defRPr/>
                      </a:pPr>
                      <a:r>
                        <a:rPr lang="en-US" sz="1400">
                          <a:solidFill>
                            <a:srgbClr val="2E3542"/>
                          </a:solidFill>
                          <a:latin typeface="Arial"/>
                          <a:ea typeface="Arial"/>
                          <a:cs typeface="Arial"/>
                        </a:rPr>
                        <a:t>About 87.5%</a:t>
                      </a:r>
                      <a:endParaRPr lang="en-US" sz="1400">
                        <a:latin typeface="Arial"/>
                        <a:ea typeface="Arial"/>
                        <a:cs typeface="Arial"/>
                      </a:endParaRPr>
                    </a:p>
                  </a:txBody>
                  <a:tcPr marL="126999" marR="126999" marT="76199" marB="76199" anchor="ctr">
                    <a:lnL w="8889" algn="ctr">
                      <a:solidFill>
                        <a:srgbClr val="EDEFF3"/>
                      </a:solidFill>
                    </a:lnL>
                    <a:lnR w="8889" algn="ctr">
                      <a:solidFill>
                        <a:srgbClr val="EDEFF3"/>
                      </a:solidFill>
                    </a:lnR>
                    <a:lnT w="8889" algn="ctr">
                      <a:solidFill>
                        <a:srgbClr val="EDEFF3"/>
                      </a:solidFill>
                    </a:lnT>
                    <a:lnB w="8889" algn="ctr">
                      <a:solidFill>
                        <a:srgbClr val="EDEFF3"/>
                      </a:solidFill>
                    </a:lnB>
                    <a:solidFill>
                      <a:srgbClr val="FFFFFF"/>
                    </a:solidFill>
                  </a:tcPr>
                </a:tc>
              </a:tr>
              <a:tr h="438912">
                <a:tc>
                  <a:txBody>
                    <a:bodyPr/>
                    <a:p>
                      <a:pPr marL="0" indent="0" algn="l">
                        <a:buNone/>
                        <a:defRPr/>
                      </a:pPr>
                      <a:r>
                        <a:rPr lang="en-US" sz="1400" b="1">
                          <a:solidFill>
                            <a:srgbClr val="2E3542"/>
                          </a:solidFill>
                          <a:latin typeface="Arial"/>
                          <a:ea typeface="Arial"/>
                          <a:cs typeface="Arial"/>
                        </a:rPr>
                        <a:t>BC5CDR</a:t>
                      </a:r>
                      <a:endParaRPr lang="en-US" sz="1400">
                        <a:latin typeface="Arial"/>
                        <a:ea typeface="Arial"/>
                        <a:cs typeface="Arial"/>
                      </a:endParaRPr>
                    </a:p>
                  </a:txBody>
                  <a:tcPr marL="126999" marR="126999" marT="76199" marB="76199" anchor="ctr">
                    <a:lnL w="8889" algn="ctr">
                      <a:solidFill>
                        <a:srgbClr val="EDEFF3"/>
                      </a:solidFill>
                    </a:lnL>
                    <a:lnR w="8889" algn="ctr">
                      <a:solidFill>
                        <a:srgbClr val="EDEFF3"/>
                      </a:solidFill>
                    </a:lnR>
                    <a:lnT w="8889" algn="ctr">
                      <a:solidFill>
                        <a:srgbClr val="EDEFF3"/>
                      </a:solidFill>
                    </a:lnT>
                    <a:lnB w="8889" algn="ctr">
                      <a:solidFill>
                        <a:srgbClr val="EDEFF3"/>
                      </a:solidFill>
                    </a:lnB>
                    <a:solidFill>
                      <a:srgbClr val="FFFFFF"/>
                    </a:solidFill>
                  </a:tcPr>
                </a:tc>
                <a:tc>
                  <a:txBody>
                    <a:bodyPr/>
                    <a:p>
                      <a:pPr marL="0" indent="0" algn="l">
                        <a:buNone/>
                        <a:defRPr/>
                      </a:pPr>
                      <a:r>
                        <a:rPr lang="en-US" sz="1400">
                          <a:solidFill>
                            <a:srgbClr val="2E3542"/>
                          </a:solidFill>
                          <a:latin typeface="Arial"/>
                          <a:ea typeface="Arial"/>
                          <a:cs typeface="Arial"/>
                        </a:rPr>
                        <a:t>Disease: 87.49%; chemical: 96.05% (Jaccard)</a:t>
                      </a:r>
                      <a:endParaRPr lang="en-US" sz="1400">
                        <a:latin typeface="Arial"/>
                        <a:ea typeface="Arial"/>
                        <a:cs typeface="Arial"/>
                      </a:endParaRPr>
                    </a:p>
                  </a:txBody>
                  <a:tcPr marL="126999" marR="126999" marT="76199" marB="76199" anchor="ctr">
                    <a:lnL w="8889" algn="ctr">
                      <a:solidFill>
                        <a:srgbClr val="EDEFF3"/>
                      </a:solidFill>
                    </a:lnL>
                    <a:lnR w="8889" algn="ctr">
                      <a:solidFill>
                        <a:srgbClr val="EDEFF3"/>
                      </a:solidFill>
                    </a:lnR>
                    <a:lnT w="8889" algn="ctr">
                      <a:solidFill>
                        <a:srgbClr val="EDEFF3"/>
                      </a:solidFill>
                    </a:lnT>
                    <a:lnB w="8889" algn="ctr">
                      <a:solidFill>
                        <a:srgbClr val="EDEFF3"/>
                      </a:solidFill>
                    </a:lnB>
                    <a:solidFill>
                      <a:srgbClr val="FFFFFF"/>
                    </a:solidFill>
                  </a:tcPr>
                </a:tc>
              </a:tr>
              <a:tr h="438912">
                <a:tc>
                  <a:txBody>
                    <a:bodyPr/>
                    <a:p>
                      <a:pPr marL="0" indent="0" algn="l">
                        <a:buNone/>
                        <a:defRPr/>
                      </a:pPr>
                      <a:r>
                        <a:rPr lang="en-US" sz="1400" b="1">
                          <a:solidFill>
                            <a:srgbClr val="2E3542"/>
                          </a:solidFill>
                          <a:latin typeface="Arial"/>
                          <a:ea typeface="Arial"/>
                          <a:cs typeface="Arial"/>
                        </a:rPr>
                        <a:t>BioRED</a:t>
                      </a:r>
                      <a:endParaRPr lang="en-US" sz="1400">
                        <a:latin typeface="Arial"/>
                        <a:ea typeface="Arial"/>
                        <a:cs typeface="Arial"/>
                      </a:endParaRPr>
                    </a:p>
                  </a:txBody>
                  <a:tcPr marL="126999" marR="126999" marT="76199" marB="76199" anchor="ctr">
                    <a:lnL w="8889" algn="ctr">
                      <a:solidFill>
                        <a:srgbClr val="EDEFF3"/>
                      </a:solidFill>
                    </a:lnL>
                    <a:lnR w="8889" algn="ctr">
                      <a:solidFill>
                        <a:srgbClr val="EDEFF3"/>
                      </a:solidFill>
                    </a:lnR>
                    <a:lnT w="8889" algn="ctr">
                      <a:solidFill>
                        <a:srgbClr val="EDEFF3"/>
                      </a:solidFill>
                    </a:lnT>
                    <a:lnB w="8889" algn="ctr">
                      <a:solidFill>
                        <a:srgbClr val="EDEFF3"/>
                      </a:solidFill>
                    </a:lnB>
                    <a:solidFill>
                      <a:srgbClr val="FFFFFF"/>
                    </a:solidFill>
                  </a:tcPr>
                </a:tc>
                <a:tc>
                  <a:txBody>
                    <a:bodyPr/>
                    <a:p>
                      <a:pPr marL="0" indent="0" algn="l">
                        <a:buNone/>
                        <a:defRPr/>
                      </a:pPr>
                      <a:r>
                        <a:rPr lang="en-US" sz="1400">
                          <a:solidFill>
                            <a:srgbClr val="2E3542"/>
                          </a:solidFill>
                          <a:latin typeface="Arial"/>
                          <a:ea typeface="Arial"/>
                          <a:cs typeface="Arial"/>
                        </a:rPr>
                        <a:t>All entities: 97.01%</a:t>
                      </a:r>
                      <a:endParaRPr lang="en-US" sz="1400">
                        <a:latin typeface="Arial"/>
                        <a:ea typeface="Arial"/>
                        <a:cs typeface="Arial"/>
                      </a:endParaRPr>
                    </a:p>
                  </a:txBody>
                  <a:tcPr marL="126999" marR="126999" marT="76199" marB="76199" anchor="ctr">
                    <a:lnL w="8889" algn="ctr">
                      <a:solidFill>
                        <a:srgbClr val="EDEFF3"/>
                      </a:solidFill>
                    </a:lnL>
                    <a:lnR w="8889" algn="ctr">
                      <a:solidFill>
                        <a:srgbClr val="EDEFF3"/>
                      </a:solidFill>
                    </a:lnR>
                    <a:lnT w="8889" algn="ctr">
                      <a:solidFill>
                        <a:srgbClr val="EDEFF3"/>
                      </a:solidFill>
                    </a:lnT>
                    <a:lnB w="8889" algn="ctr">
                      <a:solidFill>
                        <a:srgbClr val="EDEFF3"/>
                      </a:solidFill>
                    </a:lnB>
                    <a:solidFill>
                      <a:srgbClr val="FFFFFF"/>
                    </a:solidFill>
                  </a:tcPr>
                </a:tc>
              </a:tr>
            </a:tbl>
          </a:graphicData>
        </a:graphic>
      </p:graphicFrame>
      <p:sp>
        <p:nvSpPr>
          <p:cNvPr id="451067425" name="Shape 3"/>
          <p:cNvSpPr/>
          <p:nvPr/>
        </p:nvSpPr>
        <p:spPr bwMode="auto">
          <a:xfrm>
            <a:off x="731520" y="3730752"/>
            <a:ext cx="7680960" cy="704088"/>
          </a:xfrm>
          <a:prstGeom prst="rect">
            <a:avLst/>
          </a:prstGeom>
          <a:solidFill>
            <a:srgbClr val="F1F3F6"/>
          </a:solidFill>
          <a:ln w="12700">
            <a:solidFill>
              <a:srgbClr val="F1F3F6"/>
            </a:solidFill>
            <a:prstDash val="solid"/>
          </a:ln>
        </p:spPr>
      </p:sp>
      <p:sp>
        <p:nvSpPr>
          <p:cNvPr id="1742429618" name="Text 4"/>
          <p:cNvSpPr/>
          <p:nvPr/>
        </p:nvSpPr>
        <p:spPr bwMode="auto">
          <a:xfrm>
            <a:off x="886968" y="3822192"/>
            <a:ext cx="7370064" cy="210312"/>
          </a:xfrm>
          <a:prstGeom prst="rect">
            <a:avLst/>
          </a:prstGeom>
          <a:noFill/>
          <a:ln/>
        </p:spPr>
        <p:txBody>
          <a:bodyPr wrap="square" lIns="0" tIns="0" rIns="0" bIns="0" rtlCol="0" anchor="ctr">
            <a:spAutoFit/>
          </a:bodyPr>
          <a:lstStyle/>
          <a:p>
            <a:pPr marL="0" indent="0" algn="l">
              <a:buNone/>
              <a:defRPr/>
            </a:pPr>
            <a:r>
              <a:rPr lang="en-US" sz="1400" b="1">
                <a:solidFill>
                  <a:srgbClr val="2E3542"/>
                </a:solidFill>
                <a:latin typeface="Arial"/>
                <a:ea typeface="Arial"/>
                <a:cs typeface="Arial"/>
              </a:rPr>
              <a:t>Still needed: expert F1 against gold</a:t>
            </a:r>
            <a:endParaRPr lang="en-US" sz="1400"/>
          </a:p>
        </p:txBody>
      </p:sp>
      <p:sp>
        <p:nvSpPr>
          <p:cNvPr id="142457779" name="Text 5"/>
          <p:cNvSpPr/>
          <p:nvPr/>
        </p:nvSpPr>
        <p:spPr bwMode="auto">
          <a:xfrm>
            <a:off x="886968" y="4096512"/>
            <a:ext cx="7370064" cy="228600"/>
          </a:xfrm>
          <a:prstGeom prst="rect">
            <a:avLst/>
          </a:prstGeom>
          <a:noFill/>
          <a:ln/>
        </p:spPr>
        <p:txBody>
          <a:bodyPr wrap="square" lIns="0" tIns="0" rIns="0" bIns="0" rtlCol="0" anchor="ctr">
            <a:spAutoFit/>
          </a:bodyPr>
          <a:lstStyle/>
          <a:p>
            <a:pPr marL="0" indent="0" algn="l">
              <a:buNone/>
              <a:defRPr/>
            </a:pPr>
            <a:r>
              <a:rPr lang="en-US" sz="1250">
                <a:solidFill>
                  <a:srgbClr val="2E3542"/>
                </a:solidFill>
                <a:latin typeface="Arial"/>
                <a:ea typeface="Arial"/>
                <a:cs typeface="Arial"/>
              </a:rPr>
              <a:t>These scores alone do not show expert F1 using the model's test texts and scoring rules.</a:t>
            </a:r>
            <a:endParaRPr lang="en-US" sz="1250"/>
          </a:p>
        </p:txBody>
      </p:sp>
      <p:sp>
        <p:nvSpPr>
          <p:cNvPr id="1546718989" name="Text 6"/>
          <p:cNvSpPr/>
          <p:nvPr/>
        </p:nvSpPr>
        <p:spPr bwMode="auto">
          <a:xfrm>
            <a:off x="731520" y="4663440"/>
            <a:ext cx="7680960" cy="265176"/>
          </a:xfrm>
          <a:prstGeom prst="rect">
            <a:avLst/>
          </a:prstGeom>
          <a:noFill/>
          <a:ln/>
        </p:spPr>
        <p:txBody>
          <a:bodyPr wrap="square" lIns="0" tIns="0" rIns="0" bIns="0" rtlCol="0" anchor="ctr">
            <a:spAutoFit/>
          </a:bodyPr>
          <a:lstStyle/>
          <a:p>
            <a:pPr marL="0" indent="0" algn="l">
              <a:buNone/>
              <a:defRPr/>
            </a:pPr>
            <a:r>
              <a:rPr lang="en-US" sz="850">
                <a:solidFill>
                  <a:srgbClr val="8D94A1"/>
                </a:solidFill>
                <a:latin typeface="Arial"/>
                <a:ea typeface="Arial"/>
                <a:cs typeface="Arial"/>
              </a:rPr>
              <a:t>Reported values: supplied manuscript, Appendix, p. 10. Sources cited: Leaman et al. (2013), Li et al. (2016), Luo et al. (2022).</a:t>
            </a:r>
            <a:endParaRPr lang="en-US" sz="8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onlyoffice/9.4.1.15</Application>
  <PresentationFormat>On-screen Show (4:3)</PresentationFormat>
  <Paragraphs>0</Paragraphs>
  <Slides>8</Slides>
  <Notes>8</Notes>
  <HiddenSlides>0</HiddenSlides>
  <MMClips>2</MMClips>
  <ScaleCrop>0</ScaleCrop>
  <HeadingPairs>
    <vt:vector size="4" baseType="variant">
      <vt:variant>
        <vt:lpstr>Theme</vt:lpstr>
      </vt:variant>
      <vt:variant>
        <vt:i4>1</vt:i4>
      </vt:variant>
      <vt:variant>
        <vt:lpstr>Slide Titles</vt:lpstr>
      </vt:variant>
      <vt:variant>
        <vt:i4>8</vt:i4>
      </vt:variant>
    </vt:vector>
  </HeadingPairs>
  <TitlesOfParts>
    <vt:vector size="9" baseType="lpstr">
      <vt:lpstr>Theme 1</vt:lpstr>
      <vt:lpstr>Slide 1</vt:lpstr>
      <vt:lpstr>Slide 2</vt:lpstr>
      <vt:lpstr>Slide 3</vt:lpstr>
      <vt:lpstr>Slide 4</vt:lpstr>
      <vt:lpstr>Slide 5</vt:lpstr>
      <vt:lpstr>Slide 6</vt:lpstr>
      <vt:lpstr>Slide 7</vt:lpstr>
      <vt:lpstr>Slide 8</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Setting an Expert Annotation Benchmark</dc:title>
  <dc:subject>Expert annotation benchmarks for LLM annotation on NCBI Disease</dc:subject>
  <dc:creator>Research Presentation</dc:creator>
  <cp:lastModifiedBy>Anonymous</cp:lastModifiedBy>
  <cp:revision>4</cp:revision>
  <dcterms:created xsi:type="dcterms:W3CDTF">2026-09-23T03:48:41Z</dcterms:created>
  <dcterms:modified xsi:type="dcterms:W3CDTF">2026-09-24T05:29:25Z</dcterms:modified>
</cp:coreProperties>
</file>