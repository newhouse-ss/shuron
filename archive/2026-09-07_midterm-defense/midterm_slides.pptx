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307">
          <p15:clr>
            <a:srgbClr val="A4A3A4"/>
          </p15:clr>
        </p15:guide>
        <p15:guide id="2" pos="3830">
          <p15:clr>
            <a:srgbClr val="A4A3A4"/>
          </p15:clr>
        </p15:guide>
      </p15:sldGuideLst>
    </p:ext>
    <p:ext uri="GoogleSlidesCustomDataVersion2">
      <go:slidesCustomData xmlns:go="http://customooxmlschemas.google.com/" r:id="rId17" roundtripDataSignature="AMtx7mhjZBtMoIQisPRuWtqsZ/JdAlrf7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6E574C5-2434-4C9F-9637-BACDB5620CFB}">
  <a:tblStyle styleId="{76E574C5-2434-4C9F-9637-BACDB5620CF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307" orient="horz"/>
        <p:guide pos="383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customschemas.google.com/relationships/presentationmetadata" Target="meta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3"/>
          <p:cNvSpPr txBox="1"/>
          <p:nvPr>
            <p:ph type="ctrTitle"/>
          </p:nvPr>
        </p:nvSpPr>
        <p:spPr>
          <a:xfrm>
            <a:off x="1198800" y="914400"/>
            <a:ext cx="9799200" cy="25704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3"/>
          <p:cNvSpPr txBox="1"/>
          <p:nvPr>
            <p:ph idx="1" type="subTitle"/>
          </p:nvPr>
        </p:nvSpPr>
        <p:spPr>
          <a:xfrm>
            <a:off x="1198800" y="3560400"/>
            <a:ext cx="9799200" cy="14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>
            <a:lvl1pPr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 sz="2400"/>
            </a:lvl1pPr>
            <a:lvl2pPr lvl="1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13"/>
          <p:cNvSpPr txBox="1"/>
          <p:nvPr>
            <p:ph idx="10" type="dt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1" type="ftr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2" type="sldNum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4"/>
          <p:cNvSpPr txBox="1"/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" type="body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>
            <a:lvl1pPr indent="-3429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0" type="dt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1" type="ftr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2" type="sldNum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/>
          <p:nvPr>
            <p:ph type="title"/>
          </p:nvPr>
        </p:nvSpPr>
        <p:spPr>
          <a:xfrm>
            <a:off x="1990800" y="3848400"/>
            <a:ext cx="7768800" cy="7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Arial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" type="body"/>
          </p:nvPr>
        </p:nvSpPr>
        <p:spPr>
          <a:xfrm>
            <a:off x="1990800" y="4615200"/>
            <a:ext cx="7768800" cy="8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>
            <a:lvl1pPr indent="-2286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5"/>
          <p:cNvSpPr txBox="1"/>
          <p:nvPr>
            <p:ph idx="10" type="dt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1" type="ftr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2" type="sldNum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6"/>
          <p:cNvSpPr txBox="1"/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1" type="body"/>
          </p:nvPr>
        </p:nvSpPr>
        <p:spPr>
          <a:xfrm>
            <a:off x="608400" y="1501200"/>
            <a:ext cx="5176800" cy="47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>
            <a:lvl1pPr indent="-3429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6"/>
          <p:cNvSpPr txBox="1"/>
          <p:nvPr>
            <p:ph idx="2" type="body"/>
          </p:nvPr>
        </p:nvSpPr>
        <p:spPr>
          <a:xfrm>
            <a:off x="6411600" y="1501200"/>
            <a:ext cx="5176800" cy="47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>
            <a:lvl1pPr indent="-3429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0" type="dt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1" type="ftr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12" type="sldNum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 txBox="1"/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" type="body"/>
          </p:nvPr>
        </p:nvSpPr>
        <p:spPr>
          <a:xfrm>
            <a:off x="608400" y="1429200"/>
            <a:ext cx="53424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101600" spcFirstLastPara="1" rIns="76200" wrap="square" tIns="381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7"/>
          <p:cNvSpPr txBox="1"/>
          <p:nvPr>
            <p:ph idx="2" type="body"/>
          </p:nvPr>
        </p:nvSpPr>
        <p:spPr>
          <a:xfrm>
            <a:off x="608400" y="1854000"/>
            <a:ext cx="5342400" cy="43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82550" wrap="square" tIns="0">
            <a:normAutofit/>
          </a:bodyPr>
          <a:lstStyle>
            <a:lvl1pPr indent="-3429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idx="3" type="body"/>
          </p:nvPr>
        </p:nvSpPr>
        <p:spPr>
          <a:xfrm>
            <a:off x="6235750" y="1421729"/>
            <a:ext cx="53424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101600" spcFirstLastPara="1" rIns="76200" wrap="square" tIns="381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7"/>
          <p:cNvSpPr txBox="1"/>
          <p:nvPr>
            <p:ph idx="4" type="body"/>
          </p:nvPr>
        </p:nvSpPr>
        <p:spPr>
          <a:xfrm>
            <a:off x="6235750" y="1854000"/>
            <a:ext cx="5342400" cy="43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82550" wrap="square" tIns="0">
            <a:normAutofit/>
          </a:bodyPr>
          <a:lstStyle>
            <a:lvl1pPr indent="-3429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0" type="dt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1" type="ftr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2" type="sldNum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/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0" type="dt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1" type="ftr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8"/>
          <p:cNvSpPr txBox="1"/>
          <p:nvPr>
            <p:ph idx="12" type="sldNum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9"/>
          <p:cNvSpPr txBox="1"/>
          <p:nvPr>
            <p:ph idx="10" type="dt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11" type="ftr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9"/>
          <p:cNvSpPr txBox="1"/>
          <p:nvPr>
            <p:ph idx="12" type="sldNum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0"/>
          <p:cNvSpPr/>
          <p:nvPr>
            <p:ph idx="2" type="pic"/>
          </p:nvPr>
        </p:nvSpPr>
        <p:spPr>
          <a:xfrm>
            <a:off x="608400" y="1555200"/>
            <a:ext cx="5233077" cy="46080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20"/>
          <p:cNvSpPr txBox="1"/>
          <p:nvPr>
            <p:ph idx="1" type="body"/>
          </p:nvPr>
        </p:nvSpPr>
        <p:spPr>
          <a:xfrm>
            <a:off x="6350400" y="1555200"/>
            <a:ext cx="5227200" cy="46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>
            <a:lvl1pPr indent="-2286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20"/>
          <p:cNvSpPr txBox="1"/>
          <p:nvPr>
            <p:ph idx="10" type="dt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1" type="ftr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0"/>
          <p:cNvSpPr txBox="1"/>
          <p:nvPr>
            <p:ph idx="12" type="sldNum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" name="Google Shape;65;p20"/>
          <p:cNvSpPr txBox="1"/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0150" spcFirstLastPara="1" rIns="90150" wrap="square" tIns="469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1"/>
          <p:cNvSpPr txBox="1"/>
          <p:nvPr>
            <p:ph type="title"/>
          </p:nvPr>
        </p:nvSpPr>
        <p:spPr>
          <a:xfrm rot="5400000">
            <a:off x="8242200" y="2907000"/>
            <a:ext cx="5029200" cy="10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1"/>
          <p:cNvSpPr txBox="1"/>
          <p:nvPr>
            <p:ph idx="1" type="body"/>
          </p:nvPr>
        </p:nvSpPr>
        <p:spPr>
          <a:xfrm rot="5400000">
            <a:off x="2984400" y="-1155600"/>
            <a:ext cx="5029200" cy="9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6800" spcFirstLastPara="1" rIns="46800" wrap="square" tIns="46800">
            <a:normAutofit/>
          </a:bodyPr>
          <a:lstStyle>
            <a:lvl1pPr indent="-3429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1pPr>
            <a:lvl2pPr indent="-3302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600"/>
              <a:buChar char="●"/>
              <a:defRPr/>
            </a:lvl2pPr>
            <a:lvl3pPr indent="-3302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600"/>
              <a:buChar char="●"/>
              <a:defRPr/>
            </a:lvl3pPr>
            <a:lvl4pPr indent="-3175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4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21"/>
          <p:cNvSpPr txBox="1"/>
          <p:nvPr>
            <p:ph idx="10" type="dt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1" type="ftr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2" type="sldNum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/>
          <p:nvPr>
            <p:ph idx="10" type="dt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2"/>
          <p:cNvSpPr txBox="1"/>
          <p:nvPr>
            <p:ph idx="11" type="ftr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2"/>
          <p:cNvSpPr txBox="1"/>
          <p:nvPr>
            <p:ph idx="12" type="sldNum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>
            <a:off x="608400" y="774000"/>
            <a:ext cx="10972800" cy="54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>
            <a:lvl1pPr indent="-3429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st Slide">
  <p:cSld name="Last Slide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3"/>
          <p:cNvSpPr txBox="1"/>
          <p:nvPr>
            <p:ph idx="10" type="dt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1" type="ftr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3"/>
          <p:cNvSpPr txBox="1"/>
          <p:nvPr>
            <p:ph idx="12" type="sldNum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" name="Google Shape;81;p23"/>
          <p:cNvSpPr txBox="1"/>
          <p:nvPr>
            <p:ph type="title"/>
          </p:nvPr>
        </p:nvSpPr>
        <p:spPr>
          <a:xfrm>
            <a:off x="1198800" y="2484000"/>
            <a:ext cx="9799200" cy="10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3"/>
          <p:cNvSpPr txBox="1"/>
          <p:nvPr>
            <p:ph idx="1" type="body"/>
          </p:nvPr>
        </p:nvSpPr>
        <p:spPr>
          <a:xfrm>
            <a:off x="1198800" y="3560400"/>
            <a:ext cx="97992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 sz="2400"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0150" spcFirstLastPara="1" rIns="90150" wrap="square" tIns="4697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>
            <a:lvl1pPr indent="-3429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●"/>
              <a:defRPr b="0" i="0" sz="16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●"/>
              <a:defRPr b="0" i="0" sz="16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822960" y="2286000"/>
            <a:ext cx="105156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Optimizing Annotation Guideline Refinements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for LLM-Based Annotation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822960" y="436118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Arial"/>
              <a:buNone/>
            </a:pPr>
            <a:r>
              <a:rPr b="0" i="0" lang="en-US" sz="2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Hengyu Zhou</a:t>
            </a:r>
            <a:endParaRPr b="0" i="0" sz="2400" u="none" cap="none" strike="noStrike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907415" y="39954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600"/>
              <a:buFont typeface="Arial"/>
              <a:buNone/>
            </a:pPr>
            <a:r>
              <a:rPr b="0" i="0" lang="en-US" sz="24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[Supervisor: Prof. Susumu Goto]</a:t>
            </a:r>
            <a:endParaRPr b="0" i="0" sz="2400" u="none" cap="none" strike="noStrike">
              <a:solidFill>
                <a:srgbClr val="6B6B6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/>
        </p:nvSpPr>
        <p:spPr>
          <a:xfrm>
            <a:off x="548640" y="4572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400"/>
              <a:buFont typeface="Arial"/>
              <a:buNone/>
            </a:pPr>
            <a:r>
              <a:rPr b="1" i="0" lang="en-US" sz="16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1 · INTRODUCTION</a:t>
            </a:r>
            <a:endParaRPr b="1" i="0" sz="1600" u="none" cap="none" strike="noStrike">
              <a:solidFill>
                <a:srgbClr val="6B6B6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000"/>
              <a:buFont typeface="Arial"/>
              <a:buNone/>
            </a:pPr>
            <a:r>
              <a:rPr b="1" i="0" lang="en-US" sz="3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Why we need LLM for biomedical annotation?</a:t>
            </a:r>
            <a:endParaRPr b="1" i="0" sz="3200" u="none" cap="none" strike="noStrike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548640" y="1737360"/>
            <a:ext cx="1106424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180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Traditional ML annotation(i.e. BioBERT): supervised fine-tuning is needed to learn dataset conventions (i.e. a kind of instructions for annotation) to adapt to the annotation objective.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180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NCBI Disease: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593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gold-annotated documents required.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180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LLM has another path: learn dataset conventions through dataset’s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in-context guidelines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180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bypasses the need to produce large-scale gold data first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180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But is the guidelines alone enough to capture every convention?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180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The answer is no, many conventions live only in the gold-labeled data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/>
          <p:nvPr/>
        </p:nvSpPr>
        <p:spPr>
          <a:xfrm>
            <a:off x="548640" y="4572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400"/>
              <a:buFont typeface="Arial"/>
              <a:buNone/>
            </a:pPr>
            <a:r>
              <a:rPr b="1" i="0" lang="en-US" sz="16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1 · INTRODUCTION</a:t>
            </a:r>
            <a:endParaRPr b="1" i="0" sz="1600" u="none" cap="none" strike="noStrike">
              <a:solidFill>
                <a:srgbClr val="6B6B6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000"/>
              <a:buFont typeface="Arial"/>
              <a:buNone/>
            </a:pPr>
            <a:r>
              <a:rPr b="1" i="0" lang="en-US" sz="3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Prior work: iterative guideline refinement</a:t>
            </a:r>
            <a:endParaRPr b="1" i="0" sz="3200" u="none" cap="none" strike="noStrike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ramework_figure" id="105" name="Google Shape;10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26815" y="1430655"/>
            <a:ext cx="8291830" cy="4683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3"/>
          <p:cNvSpPr txBox="1"/>
          <p:nvPr/>
        </p:nvSpPr>
        <p:spPr>
          <a:xfrm>
            <a:off x="370205" y="1600200"/>
            <a:ext cx="3795395" cy="4478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iteratively extract conventions from gold data, then enrich the guidelines.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LLM annotates with guidelines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check discrepancies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with gold annotation.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discrepancy cause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inferred.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guideline refined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255905" y="4556760"/>
            <a:ext cx="288290" cy="14160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2D54A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255905" y="5296535"/>
            <a:ext cx="288290" cy="14160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2D54A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260350" y="5936615"/>
            <a:ext cx="288290" cy="14160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2D54A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1493520" y="6445885"/>
            <a:ext cx="11064240" cy="3067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Kim, K. W., et al. (2026) Proceedings of the 64th Annual Meeting of the Association for Computational Linguistics, pp. 37951–37964.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/>
          <p:nvPr/>
        </p:nvSpPr>
        <p:spPr>
          <a:xfrm>
            <a:off x="548640" y="2220595"/>
            <a:ext cx="10210165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guideline: 0.46      initial guideline: 0.73      refined guideline: 0.76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3192145" y="2374265"/>
            <a:ext cx="288290" cy="14160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2D54A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6519545" y="2391410"/>
            <a:ext cx="288290" cy="14160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2D54A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2835910" y="2592070"/>
            <a:ext cx="3204210" cy="256540"/>
          </a:xfrm>
          <a:custGeom>
            <a:rect b="b" l="l" r="r" t="t"/>
            <a:pathLst>
              <a:path extrusionOk="0" h="256546" w="2748280">
                <a:moveTo>
                  <a:pt x="0" y="0"/>
                </a:moveTo>
                <a:cubicBezTo>
                  <a:pt x="245745" y="56515"/>
                  <a:pt x="815975" y="255270"/>
                  <a:pt x="1365885" y="256540"/>
                </a:cubicBezTo>
                <a:cubicBezTo>
                  <a:pt x="1915795" y="257810"/>
                  <a:pt x="2499360" y="60960"/>
                  <a:pt x="2748280" y="5715"/>
                </a:cubicBezTo>
              </a:path>
            </a:pathLst>
          </a:custGeom>
          <a:noFill/>
          <a:ln cap="flat" cmpd="sng" w="12700">
            <a:solidFill>
              <a:srgbClr val="2D54A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6140450" y="2592070"/>
            <a:ext cx="3355975" cy="287655"/>
          </a:xfrm>
          <a:custGeom>
            <a:rect b="b" l="l" r="r" t="t"/>
            <a:pathLst>
              <a:path extrusionOk="0" h="256546" w="2748280">
                <a:moveTo>
                  <a:pt x="0" y="0"/>
                </a:moveTo>
                <a:cubicBezTo>
                  <a:pt x="245745" y="56515"/>
                  <a:pt x="815975" y="255270"/>
                  <a:pt x="1365885" y="256540"/>
                </a:cubicBezTo>
                <a:cubicBezTo>
                  <a:pt x="1915795" y="257810"/>
                  <a:pt x="2499360" y="60960"/>
                  <a:pt x="2748280" y="5715"/>
                </a:cubicBezTo>
              </a:path>
            </a:pathLst>
          </a:custGeom>
          <a:noFill/>
          <a:ln cap="flat" cmpd="sng" w="12700">
            <a:solidFill>
              <a:srgbClr val="2D54A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3916680" y="2848610"/>
            <a:ext cx="1042035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+0.27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7297420" y="2938780"/>
            <a:ext cx="1042035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+0.03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548640" y="4572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400"/>
              <a:buFont typeface="Arial"/>
              <a:buNone/>
            </a:pPr>
            <a:r>
              <a:rPr b="1" i="0" lang="en-US" sz="16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2 · OBSERVATIONS</a:t>
            </a:r>
            <a:endParaRPr b="1" i="0" sz="1600" u="none" cap="none" strike="noStrike">
              <a:solidFill>
                <a:srgbClr val="6B6B6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000"/>
              <a:buFont typeface="Arial"/>
              <a:buNone/>
            </a:pPr>
            <a:r>
              <a:rPr b="1" lang="en-US" sz="32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Why does refinement contribute so little?</a:t>
            </a:r>
            <a:endParaRPr b="1" sz="320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617855" y="3482340"/>
            <a:ext cx="11447145" cy="3844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examined the implementation stage by stage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Found 6 points limiting the gain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Grouped into three axes: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Extraction: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the LLM making full use of the data in the dev set?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Generalization: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Does the LLM performance gain on dev set generalize to validation? 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Reliability: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stable is one annotation?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selected 1 point from each axis to explore.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548640" y="1555750"/>
            <a:ext cx="8943340" cy="497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F1 improvement of guideline refinement is not sufficient.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 txBox="1"/>
          <p:nvPr/>
        </p:nvSpPr>
        <p:spPr>
          <a:xfrm>
            <a:off x="548640" y="4572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400"/>
              <a:buFont typeface="Arial"/>
              <a:buNone/>
            </a:pPr>
            <a:r>
              <a:rPr b="1" i="0" lang="en-US" sz="16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3.1 · METHODOLOGY &amp; CURRENT RESULTS</a:t>
            </a:r>
            <a:endParaRPr b="1" i="0" sz="1600" u="none" cap="none" strike="noStrike">
              <a:solidFill>
                <a:srgbClr val="6B6B6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 txBox="1"/>
          <p:nvPr/>
        </p:nvSpPr>
        <p:spPr>
          <a:xfrm>
            <a:off x="548640" y="988060"/>
            <a:ext cx="11196955" cy="565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Extraction: 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the LLM making full use of the data in the dev set?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2001520" y="3410585"/>
            <a:ext cx="8895715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2. Confusion matrices over top-1 refinement rounds. The diagonal represents boundary errors.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5"/>
          <p:cNvSpPr txBox="1"/>
          <p:nvPr/>
        </p:nvSpPr>
        <p:spPr>
          <a:xfrm>
            <a:off x="548640" y="3719830"/>
            <a:ext cx="11063605" cy="25279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Terms Explanation: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SpecificDisease (S): one named disease. "ovarian cancer"</a:t>
            </a:r>
            <a:endParaRPr/>
          </a:p>
          <a:p>
            <a:pPr indent="-342900" lvl="1" marL="8001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DiseaseClass (D): a whole family of diseases. "cancer"</a:t>
            </a:r>
            <a:endParaRPr/>
          </a:p>
          <a:p>
            <a:pPr indent="-342900" lvl="1" marL="8001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Modifier (M): disease name modifying another noun. "ovarian cancer cell lines"</a:t>
            </a:r>
            <a:endParaRPr/>
          </a:p>
          <a:p>
            <a:pPr indent="-342900" lvl="1" marL="8001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CompositeMention (C): one span, several diseases. "breast or ovarian cancer"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real confusion (S → D): The text "we have observed mutations involving codon 50 in 11 of 37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pancreatic tumors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." Here, pancreatic tumors is annotated as SpecificDisease in gold, but LLM annotates it as DiseaseClass. This is one case of the S → D discrepancies in round 0.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screpancy_matrices_top1" id="134" name="Google Shape;13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2585" y="1553210"/>
            <a:ext cx="8896350" cy="185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 txBox="1"/>
          <p:nvPr/>
        </p:nvSpPr>
        <p:spPr>
          <a:xfrm>
            <a:off x="548640" y="3800475"/>
            <a:ext cx="11123930" cy="2416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Problem: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Only the largest discrepancy cluster is moderated per round, so each repair causes errors elsewhere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(Side Effects)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Round 1 fixes 'gold SpecificDisease → DiseaseClass' (6 → 2), but adds new 'missed DiseaseClass' and 'SpecificDisease boundary' errors; Round 2 halves those, but pushes the original target back up to 3.</a:t>
            </a:r>
            <a:endParaRPr sz="18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to solve it: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Target several groups within one round instead of one at a time, checking each round against more than one error cluster, then integrate them into the guideline with conflict check.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6"/>
          <p:cNvSpPr txBox="1"/>
          <p:nvPr/>
        </p:nvSpPr>
        <p:spPr>
          <a:xfrm>
            <a:off x="548640" y="4572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400"/>
              <a:buFont typeface="Arial"/>
              <a:buNone/>
            </a:pPr>
            <a:r>
              <a:rPr b="1" i="0" lang="en-US" sz="16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3.1 · METHODOLOGY &amp; CURRENT RESULTS</a:t>
            </a:r>
            <a:endParaRPr b="1" i="0" sz="1600" u="none" cap="none" strike="noStrike">
              <a:solidFill>
                <a:srgbClr val="6B6B6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6"/>
          <p:cNvSpPr txBox="1"/>
          <p:nvPr/>
        </p:nvSpPr>
        <p:spPr>
          <a:xfrm>
            <a:off x="548640" y="988060"/>
            <a:ext cx="11196955" cy="565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Extraction: 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the LLM making full use of the data in the dev set?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screpancy_matrices_top1" id="142" name="Google Shape;14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2585" y="1553210"/>
            <a:ext cx="8896350" cy="1857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6"/>
          <p:cNvSpPr txBox="1"/>
          <p:nvPr/>
        </p:nvSpPr>
        <p:spPr>
          <a:xfrm>
            <a:off x="1844675" y="3410585"/>
            <a:ext cx="8502015" cy="337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2. Confusion matrices over top-1 refinement rounds. The diagonal represents boundary errors.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"/>
          <p:cNvSpPr txBox="1"/>
          <p:nvPr/>
        </p:nvSpPr>
        <p:spPr>
          <a:xfrm>
            <a:off x="548640" y="4572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400"/>
              <a:buFont typeface="Arial"/>
              <a:buNone/>
            </a:pPr>
            <a:r>
              <a:rPr b="1" i="0" lang="en-US" sz="16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3.1 · METHODOLOGY &amp; CURRENT RESULTS</a:t>
            </a:r>
            <a:endParaRPr b="1" i="0" sz="1600" u="none" cap="none" strike="noStrike">
              <a:solidFill>
                <a:srgbClr val="6B6B6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7"/>
          <p:cNvSpPr txBox="1"/>
          <p:nvPr/>
        </p:nvSpPr>
        <p:spPr>
          <a:xfrm>
            <a:off x="548640" y="988060"/>
            <a:ext cx="11196955" cy="565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Extraction: 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the LLM making full use of the data in the dev set?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7"/>
          <p:cNvSpPr txBox="1"/>
          <p:nvPr/>
        </p:nvSpPr>
        <p:spPr>
          <a:xfrm>
            <a:off x="2150745" y="3468370"/>
            <a:ext cx="86429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3. Confusion matrices over top-4 refinement rounds. The diagonal represents boundary errors.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discrepancy_matrices_top4" id="151" name="Google Shape;15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3335" y="1610995"/>
            <a:ext cx="6686550" cy="1857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7"/>
          <p:cNvSpPr txBox="1"/>
          <p:nvPr/>
        </p:nvSpPr>
        <p:spPr>
          <a:xfrm>
            <a:off x="548640" y="3857625"/>
            <a:ext cx="11064875" cy="2676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Current improvements: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test targeting the 4 largest discrepancy clusters per round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(top-4)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instead of just 1.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4 clusters targeted are S→D, S→O, S→S, and D→O, highlighted in blue above.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doesn't prevent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Side Effects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by round 1, S→D itself grows from 4 to 6, highlighted in green, even though it was one of the targeted clusters.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it converges in fewer rounds and solves more discrepancies: 2 rounds vs. 4 for the baseline; total discrepancies 18 → 9 vs. 18 → 11 for baseline.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 txBox="1"/>
          <p:nvPr/>
        </p:nvSpPr>
        <p:spPr>
          <a:xfrm>
            <a:off x="548640" y="4572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400"/>
              <a:buFont typeface="Arial"/>
              <a:buNone/>
            </a:pPr>
            <a:r>
              <a:rPr b="1" i="0" lang="en-US" sz="16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3.2 · METHODOLOGY &amp; CURRENT RESULTS</a:t>
            </a:r>
            <a:endParaRPr b="1" i="0" sz="1600" u="none" cap="none" strike="noStrike">
              <a:solidFill>
                <a:srgbClr val="6B6B6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8"/>
          <p:cNvSpPr txBox="1"/>
          <p:nvPr/>
        </p:nvSpPr>
        <p:spPr>
          <a:xfrm>
            <a:off x="548640" y="822960"/>
            <a:ext cx="11209655" cy="10388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Generalization: 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Does the LLM performance gain on dev set generalize to val set?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8"/>
          <p:cNvSpPr txBox="1"/>
          <p:nvPr/>
        </p:nvSpPr>
        <p:spPr>
          <a:xfrm>
            <a:off x="548640" y="1931035"/>
            <a:ext cx="11063605" cy="16141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Problem: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Verified examples, meant only to prevent regression, are copied verbatim into the guideline instead (hard coding)</a:t>
            </a:r>
            <a:endParaRPr/>
          </a:p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38 of 52 new lines in round 1 trace directly back to the five verified example documents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to solve it: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Tested two interventions: remove the verified examples; or keep them but require every rule to be stated in abstract terms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0" name="Google Shape;160;p8"/>
          <p:cNvGraphicFramePr/>
          <p:nvPr/>
        </p:nvGraphicFramePr>
        <p:xfrm>
          <a:off x="1009650" y="37566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{76E574C5-2434-4C9F-9637-BACDB5620CFB}</a:tableStyleId>
              </a:tblPr>
              <a:tblGrid>
                <a:gridCol w="3434725"/>
                <a:gridCol w="2315200"/>
                <a:gridCol w="1637025"/>
                <a:gridCol w="1186175"/>
                <a:gridCol w="1206500"/>
              </a:tblGrid>
              <a:tr h="271150">
                <a:tc>
                  <a:txBody>
                    <a:bodyPr/>
                    <a:lstStyle/>
                    <a:p>
                      <a:pPr indent="0" lvl="0" marL="8763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Condition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763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Development F1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763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Threshold reached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763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Validation F1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763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Copied Share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2750">
                <a:tc>
                  <a:txBody>
                    <a:bodyPr/>
                    <a:lstStyle/>
                    <a:p>
                      <a:pPr indent="0" lvl="0" marL="8763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 Verified examples supplied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763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0.797 ± 0.015 → 0.909 ± 0.015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763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763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0.779→0.789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763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38/52 = 73%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2100">
                <a:tc>
                  <a:txBody>
                    <a:bodyPr/>
                    <a:lstStyle/>
                    <a:p>
                      <a:pPr indent="0" lvl="0" marL="8763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 Verified examples removed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763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0.797 ± 0.015 → 0.837 ± 0.015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763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763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0.779→0.771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763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0/32 = 0%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2750">
                <a:tc>
                  <a:txBody>
                    <a:bodyPr/>
                    <a:lstStyle/>
                    <a:p>
                      <a:pPr indent="0" lvl="0" marL="8763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 Verified examples supplied, forbidding copying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763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0.823 ± 0.015 → 0.833 ± 0.015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763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763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0.779→0.784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763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0/25 = 0%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1" name="Google Shape;161;p8"/>
          <p:cNvSpPr txBox="1"/>
          <p:nvPr/>
        </p:nvSpPr>
        <p:spPr>
          <a:xfrm>
            <a:off x="591185" y="5318760"/>
            <a:ext cx="11021695" cy="1309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Current improvements: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Both 2 and 3 stop the hard coding, but neither reaches the F1 ≥ 0.9 threshold. Hard coding and reaching threshold share the same cause, the verified examples. Remove them, and hard coding goes away, but so does the ability to reach threshold. What's needed is a method that reaches threshold reliably without hard coding.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/>
          <p:cNvSpPr txBox="1"/>
          <p:nvPr/>
        </p:nvSpPr>
        <p:spPr>
          <a:xfrm>
            <a:off x="548640" y="4572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400"/>
              <a:buFont typeface="Arial"/>
              <a:buNone/>
            </a:pPr>
            <a:r>
              <a:rPr b="1" i="0" lang="en-US" sz="16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3.3 · METHODOLOGY &amp; CURRENT RESULTS</a:t>
            </a:r>
            <a:endParaRPr b="1" i="0" sz="1600" u="none" cap="none" strike="noStrike">
              <a:solidFill>
                <a:srgbClr val="6B6B6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9"/>
          <p:cNvSpPr txBox="1"/>
          <p:nvPr/>
        </p:nvSpPr>
        <p:spPr>
          <a:xfrm>
            <a:off x="548640" y="1704340"/>
            <a:ext cx="10998835" cy="46621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Problem: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Annotating the same documents twice does not give the same result.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20 repeated annotations of the same 10 documents range from F1 0.739 to 0.859 — noise larger than the refinement gain itself (+0.01). And the Standard Deviation of these results is 0.0150.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to solve it: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Average the noise down by enlarging the development set.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Current improvements: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Annotation Standard Deviation falls from 0.0150 (10 docs) to 0.0092 (30 docs); running the loop on a larger development set is under way.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9"/>
          <p:cNvSpPr txBox="1"/>
          <p:nvPr/>
        </p:nvSpPr>
        <p:spPr>
          <a:xfrm>
            <a:off x="548640" y="981075"/>
            <a:ext cx="8289290" cy="565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Reliability: </a:t>
            </a: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stable is one annotation?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"/>
          <p:cNvSpPr txBox="1"/>
          <p:nvPr/>
        </p:nvSpPr>
        <p:spPr>
          <a:xfrm>
            <a:off x="548640" y="4572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400"/>
              <a:buFont typeface="Arial"/>
              <a:buNone/>
            </a:pPr>
            <a:r>
              <a:rPr b="1" i="0" lang="en-US" sz="16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4 · </a:t>
            </a:r>
            <a:r>
              <a:rPr b="1" lang="en-US" sz="1600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DISCUSSION &amp; FUTURE WORK</a:t>
            </a:r>
            <a:endParaRPr b="1" i="0" sz="1600" u="none" cap="none" strike="noStrike">
              <a:solidFill>
                <a:srgbClr val="6B6B6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0"/>
          <p:cNvSpPr txBox="1"/>
          <p:nvPr/>
        </p:nvSpPr>
        <p:spPr>
          <a:xfrm>
            <a:off x="548640" y="1044575"/>
            <a:ext cx="11064240" cy="920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Summary: 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Across the three axes: </a:t>
            </a:r>
            <a:r>
              <a:rPr b="0" i="0" lang="en-US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Extraction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Top-4 converges in fewer rounds and fixes more discrepancies. </a:t>
            </a:r>
            <a:r>
              <a:rPr b="0" i="0" lang="en-US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Generalization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Removing Verified Examples stops the hard coding, but also stops the loop from reaching threshold. </a:t>
            </a:r>
            <a:r>
              <a:rPr b="0" i="0" lang="en-US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Reliability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Enlarging the dev set reduces the annotation noise.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Next: 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Optimize the methodology along the 3 axes above.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Goal: 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Close the gap between validation F1, currently around 0.79, and SOTA at 0.87, without giving up the low-supervision advantage (10 docs for refinement vs. 593 docs for fine-tuning).</a:t>
            </a:r>
            <a:endParaRPr b="0" i="0" sz="2000" u="none" cap="none" strike="noStrike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PS">
  <a:themeElements>
    <a:clrScheme name="WP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2026-09-02T08:03:00Z</dcterms:created>
  <dc:creator>DBCLSguest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4F7034DDC83644E69F5662174243A743_11</vt:lpwstr>
  </property>
</Properties>
</file>